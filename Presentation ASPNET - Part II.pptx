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6"/>
  </p:notesMasterIdLst>
  <p:handoutMasterIdLst>
    <p:handoutMasterId r:id="rId37"/>
  </p:handoutMasterIdLst>
  <p:sldIdLst>
    <p:sldId id="493" r:id="rId2"/>
    <p:sldId id="671" r:id="rId3"/>
    <p:sldId id="679" r:id="rId4"/>
    <p:sldId id="829" r:id="rId5"/>
    <p:sldId id="830" r:id="rId6"/>
    <p:sldId id="831" r:id="rId7"/>
    <p:sldId id="832" r:id="rId8"/>
    <p:sldId id="826" r:id="rId9"/>
    <p:sldId id="828" r:id="rId10"/>
    <p:sldId id="776" r:id="rId11"/>
    <p:sldId id="796" r:id="rId12"/>
    <p:sldId id="791" r:id="rId13"/>
    <p:sldId id="795" r:id="rId14"/>
    <p:sldId id="792" r:id="rId15"/>
    <p:sldId id="793" r:id="rId16"/>
    <p:sldId id="794" r:id="rId17"/>
    <p:sldId id="802" r:id="rId18"/>
    <p:sldId id="803" r:id="rId19"/>
    <p:sldId id="804" r:id="rId20"/>
    <p:sldId id="800" r:id="rId21"/>
    <p:sldId id="801" r:id="rId22"/>
    <p:sldId id="797" r:id="rId23"/>
    <p:sldId id="798" r:id="rId24"/>
    <p:sldId id="799" r:id="rId25"/>
    <p:sldId id="778" r:id="rId26"/>
    <p:sldId id="806" r:id="rId27"/>
    <p:sldId id="805" r:id="rId28"/>
    <p:sldId id="779" r:id="rId29"/>
    <p:sldId id="807" r:id="rId30"/>
    <p:sldId id="780" r:id="rId31"/>
    <p:sldId id="808" r:id="rId32"/>
    <p:sldId id="833" r:id="rId33"/>
    <p:sldId id="834" r:id="rId34"/>
    <p:sldId id="729" r:id="rId35"/>
  </p:sldIdLst>
  <p:sldSz cx="12192000" cy="6858000"/>
  <p:notesSz cx="9928225" cy="67976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C276318-ACF1-45C2-B1A5-EAE022325DE9}">
          <p14:sldIdLst>
            <p14:sldId id="493"/>
            <p14:sldId id="671"/>
            <p14:sldId id="679"/>
            <p14:sldId id="829"/>
            <p14:sldId id="830"/>
            <p14:sldId id="831"/>
            <p14:sldId id="832"/>
          </p14:sldIdLst>
        </p14:section>
        <p14:section name="Table of Contents" id="{54C0E607-BB45-499B-87B8-B7185009D149}">
          <p14:sldIdLst>
            <p14:sldId id="826"/>
            <p14:sldId id="828"/>
          </p14:sldIdLst>
        </p14:section>
        <p14:section name="Authentication" id="{090A1CF0-1C3E-48DA-84F6-CBC61F93FDC4}">
          <p14:sldIdLst>
            <p14:sldId id="776"/>
            <p14:sldId id="796"/>
            <p14:sldId id="791"/>
            <p14:sldId id="795"/>
            <p14:sldId id="792"/>
            <p14:sldId id="793"/>
            <p14:sldId id="794"/>
            <p14:sldId id="802"/>
            <p14:sldId id="803"/>
            <p14:sldId id="804"/>
            <p14:sldId id="800"/>
            <p14:sldId id="801"/>
          </p14:sldIdLst>
        </p14:section>
        <p14:section name="Authorization" id="{DACCCC93-1F8B-4D28-BA33-D0FB5CA83842}">
          <p14:sldIdLst>
            <p14:sldId id="797"/>
            <p14:sldId id="798"/>
            <p14:sldId id="799"/>
            <p14:sldId id="778"/>
            <p14:sldId id="806"/>
            <p14:sldId id="805"/>
            <p14:sldId id="779"/>
          </p14:sldIdLst>
        </p14:section>
        <p14:section name="Enforcing SSL " id="{480940C7-8D2B-4AA9-9534-EE7628D8B664}">
          <p14:sldIdLst>
            <p14:sldId id="807"/>
            <p14:sldId id="780"/>
            <p14:sldId id="808"/>
            <p14:sldId id="833"/>
            <p14:sldId id="834"/>
          </p14:sldIdLst>
        </p14:section>
        <p14:section name="Thank you" id="{3C1B9F4D-6B8D-4CB1-B63B-4F7C91E4B118}">
          <p14:sldIdLst>
            <p14:sldId id="72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6800"/>
    <a:srgbClr val="1BA1E2"/>
    <a:srgbClr val="60A917"/>
    <a:srgbClr val="F6F8FC"/>
    <a:srgbClr val="F3F6FB"/>
    <a:srgbClr val="F0F4FA"/>
    <a:srgbClr val="EBF1F9"/>
    <a:srgbClr val="EDF2F9"/>
    <a:srgbClr val="070E1F"/>
    <a:srgbClr val="0912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37" autoAdjust="0"/>
    <p:restoredTop sz="88809" autoAdjust="0"/>
  </p:normalViewPr>
  <p:slideViewPr>
    <p:cSldViewPr>
      <p:cViewPr varScale="1">
        <p:scale>
          <a:sx n="137" d="100"/>
          <a:sy n="137" d="100"/>
        </p:scale>
        <p:origin x="1320" y="13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101" d="100"/>
          <a:sy n="101" d="100"/>
        </p:scale>
        <p:origin x="3552"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4302231" cy="34106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623698" y="1"/>
            <a:ext cx="4302231" cy="341064"/>
          </a:xfrm>
          <a:prstGeom prst="rect">
            <a:avLst/>
          </a:prstGeom>
        </p:spPr>
        <p:txBody>
          <a:bodyPr vert="horz" lIns="91440" tIns="45720" rIns="91440" bIns="45720" rtlCol="0"/>
          <a:lstStyle>
            <a:lvl1pPr algn="r">
              <a:defRPr sz="1200"/>
            </a:lvl1pPr>
          </a:lstStyle>
          <a:p>
            <a:fld id="{CD54E0B9-A397-428E-BA01-CD7A34B572EB}" type="datetimeFigureOut">
              <a:rPr lang="en-US" smtClean="0"/>
              <a:t>2/21/2026</a:t>
            </a:fld>
            <a:endParaRPr lang="en-US"/>
          </a:p>
        </p:txBody>
      </p:sp>
      <p:sp>
        <p:nvSpPr>
          <p:cNvPr id="4" name="Footer Placeholder 3"/>
          <p:cNvSpPr>
            <a:spLocks noGrp="1"/>
          </p:cNvSpPr>
          <p:nvPr>
            <p:ph type="ftr" sz="quarter" idx="2"/>
          </p:nvPr>
        </p:nvSpPr>
        <p:spPr>
          <a:xfrm>
            <a:off x="1" y="6456611"/>
            <a:ext cx="4302231" cy="341064"/>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623698" y="6456611"/>
            <a:ext cx="4302231" cy="341064"/>
          </a:xfrm>
          <a:prstGeom prst="rect">
            <a:avLst/>
          </a:prstGeom>
        </p:spPr>
        <p:txBody>
          <a:bodyPr vert="horz" lIns="91440" tIns="45720" rIns="91440" bIns="45720" rtlCol="0" anchor="b"/>
          <a:lstStyle>
            <a:lvl1pPr algn="r">
              <a:defRPr sz="1200"/>
            </a:lvl1pPr>
          </a:lstStyle>
          <a:p>
            <a:fld id="{CDADDF8D-741E-4E60-BBBE-A5A94FFFA5D4}" type="slidenum">
              <a:rPr lang="en-US" smtClean="0"/>
              <a:t>‹#›</a:t>
            </a:fld>
            <a:endParaRPr lang="en-US"/>
          </a:p>
        </p:txBody>
      </p:sp>
    </p:spTree>
    <p:extLst>
      <p:ext uri="{BB962C8B-B14F-4D97-AF65-F5344CB8AC3E}">
        <p14:creationId xmlns:p14="http://schemas.microsoft.com/office/powerpoint/2010/main" val="32556944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302231" cy="33988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623698" y="0"/>
            <a:ext cx="4302231" cy="339883"/>
          </a:xfrm>
          <a:prstGeom prst="rect">
            <a:avLst/>
          </a:prstGeom>
        </p:spPr>
        <p:txBody>
          <a:bodyPr vert="horz" lIns="91440" tIns="45720" rIns="91440" bIns="45720" rtlCol="0"/>
          <a:lstStyle>
            <a:lvl1pPr algn="r">
              <a:defRPr sz="1200"/>
            </a:lvl1pPr>
          </a:lstStyle>
          <a:p>
            <a:fld id="{AA161301-18C9-4CA0-A0BF-791B6E0DDD4D}" type="datetimeFigureOut">
              <a:rPr lang="en-GB" smtClean="0"/>
              <a:t>21/02/2026</a:t>
            </a:fld>
            <a:endParaRPr lang="en-GB"/>
          </a:p>
        </p:txBody>
      </p:sp>
      <p:sp>
        <p:nvSpPr>
          <p:cNvPr id="4" name="Slide Image Placeholder 3"/>
          <p:cNvSpPr>
            <a:spLocks noGrp="1" noRot="1" noChangeAspect="1"/>
          </p:cNvSpPr>
          <p:nvPr>
            <p:ph type="sldImg" idx="2"/>
          </p:nvPr>
        </p:nvSpPr>
        <p:spPr>
          <a:xfrm>
            <a:off x="2700338" y="509588"/>
            <a:ext cx="4527550" cy="25479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92826" y="3228897"/>
            <a:ext cx="7942578" cy="305895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456614"/>
            <a:ext cx="4302231" cy="339883"/>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623698" y="6456614"/>
            <a:ext cx="4302231" cy="339883"/>
          </a:xfrm>
          <a:prstGeom prst="rect">
            <a:avLst/>
          </a:prstGeom>
        </p:spPr>
        <p:txBody>
          <a:bodyPr vert="horz" lIns="91440" tIns="45720" rIns="91440" bIns="45720" rtlCol="0" anchor="b"/>
          <a:lstStyle>
            <a:lvl1pPr algn="r">
              <a:defRPr sz="1200"/>
            </a:lvl1pPr>
          </a:lstStyle>
          <a:p>
            <a:fld id="{0BF20BA8-12AF-476D-99B2-894C09A4EE62}" type="slidenum">
              <a:rPr lang="en-GB" smtClean="0"/>
              <a:t>‹#›</a:t>
            </a:fld>
            <a:endParaRPr lang="en-GB"/>
          </a:p>
        </p:txBody>
      </p:sp>
    </p:spTree>
    <p:extLst>
      <p:ext uri="{BB962C8B-B14F-4D97-AF65-F5344CB8AC3E}">
        <p14:creationId xmlns:p14="http://schemas.microsoft.com/office/powerpoint/2010/main" val="8117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dirty="0"/>
              <a:t>https://www.apress.com/gp/book/9781484252833</a:t>
            </a:r>
          </a:p>
        </p:txBody>
      </p:sp>
      <p:sp>
        <p:nvSpPr>
          <p:cNvPr id="4" name="Slide Number Placeholder 3"/>
          <p:cNvSpPr>
            <a:spLocks noGrp="1"/>
          </p:cNvSpPr>
          <p:nvPr>
            <p:ph type="sldNum" sz="quarter" idx="5"/>
          </p:nvPr>
        </p:nvSpPr>
        <p:spPr/>
        <p:txBody>
          <a:bodyPr/>
          <a:lstStyle/>
          <a:p>
            <a:fld id="{0BF20BA8-12AF-476D-99B2-894C09A4EE62}" type="slidenum">
              <a:rPr lang="en-GB" smtClean="0"/>
              <a:t>4</a:t>
            </a:fld>
            <a:endParaRPr lang="en-GB"/>
          </a:p>
        </p:txBody>
      </p:sp>
    </p:spTree>
    <p:extLst>
      <p:ext uri="{BB962C8B-B14F-4D97-AF65-F5344CB8AC3E}">
        <p14:creationId xmlns:p14="http://schemas.microsoft.com/office/powerpoint/2010/main" val="84239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F20BA8-12AF-476D-99B2-894C09A4EE62}" type="slidenum">
              <a:rPr lang="en-GB" smtClean="0"/>
              <a:t>12</a:t>
            </a:fld>
            <a:endParaRPr lang="en-GB"/>
          </a:p>
        </p:txBody>
      </p:sp>
    </p:spTree>
    <p:extLst>
      <p:ext uri="{BB962C8B-B14F-4D97-AF65-F5344CB8AC3E}">
        <p14:creationId xmlns:p14="http://schemas.microsoft.com/office/powerpoint/2010/main" val="2822178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F20BA8-12AF-476D-99B2-894C09A4EE62}" type="slidenum">
              <a:rPr lang="en-GB" smtClean="0"/>
              <a:t>13</a:t>
            </a:fld>
            <a:endParaRPr lang="en-GB"/>
          </a:p>
        </p:txBody>
      </p:sp>
    </p:spTree>
    <p:extLst>
      <p:ext uri="{BB962C8B-B14F-4D97-AF65-F5344CB8AC3E}">
        <p14:creationId xmlns:p14="http://schemas.microsoft.com/office/powerpoint/2010/main" val="40312064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a:t>
            </a:r>
          </a:p>
          <a:p>
            <a:pPr marL="171450" indent="-171450">
              <a:buFont typeface="Arial" panose="020B0604020202020204" pitchFamily="34" charset="0"/>
              <a:buChar char="•"/>
            </a:pPr>
            <a:r>
              <a:rPr lang="en-US" dirty="0"/>
              <a:t>https://docs.microsoft.com/en-us/aspnet/core/security/authorization/introduction</a:t>
            </a:r>
          </a:p>
        </p:txBody>
      </p:sp>
      <p:sp>
        <p:nvSpPr>
          <p:cNvPr id="4" name="Slide Number Placeholder 3"/>
          <p:cNvSpPr>
            <a:spLocks noGrp="1"/>
          </p:cNvSpPr>
          <p:nvPr>
            <p:ph type="sldNum" sz="quarter" idx="10"/>
          </p:nvPr>
        </p:nvSpPr>
        <p:spPr/>
        <p:txBody>
          <a:bodyPr/>
          <a:lstStyle/>
          <a:p>
            <a:fld id="{0BF20BA8-12AF-476D-99B2-894C09A4EE62}" type="slidenum">
              <a:rPr lang="en-GB" smtClean="0"/>
              <a:t>23</a:t>
            </a:fld>
            <a:endParaRPr lang="en-GB"/>
          </a:p>
        </p:txBody>
      </p:sp>
    </p:spTree>
    <p:extLst>
      <p:ext uri="{BB962C8B-B14F-4D97-AF65-F5344CB8AC3E}">
        <p14:creationId xmlns:p14="http://schemas.microsoft.com/office/powerpoint/2010/main" val="31130637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a:t>
            </a:r>
          </a:p>
          <a:p>
            <a:pPr marL="171450" indent="-171450">
              <a:buFont typeface="Arial" panose="020B0604020202020204" pitchFamily="34" charset="0"/>
              <a:buChar char="•"/>
            </a:pPr>
            <a:r>
              <a:rPr lang="en-US" dirty="0"/>
              <a:t>https://docs.microsoft.com/en-us/aspnet/core/security/authorization/introduction</a:t>
            </a:r>
          </a:p>
        </p:txBody>
      </p:sp>
      <p:sp>
        <p:nvSpPr>
          <p:cNvPr id="4" name="Slide Number Placeholder 3"/>
          <p:cNvSpPr>
            <a:spLocks noGrp="1"/>
          </p:cNvSpPr>
          <p:nvPr>
            <p:ph type="sldNum" sz="quarter" idx="10"/>
          </p:nvPr>
        </p:nvSpPr>
        <p:spPr/>
        <p:txBody>
          <a:bodyPr/>
          <a:lstStyle/>
          <a:p>
            <a:fld id="{0BF20BA8-12AF-476D-99B2-894C09A4EE62}" type="slidenum">
              <a:rPr lang="en-GB" smtClean="0"/>
              <a:t>24</a:t>
            </a:fld>
            <a:endParaRPr lang="en-GB"/>
          </a:p>
        </p:txBody>
      </p:sp>
    </p:spTree>
    <p:extLst>
      <p:ext uri="{BB962C8B-B14F-4D97-AF65-F5344CB8AC3E}">
        <p14:creationId xmlns:p14="http://schemas.microsoft.com/office/powerpoint/2010/main" val="25556514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https://docs.microsoft.com/en-us/aspnet/core/security/enforcing-ssl</a:t>
            </a:r>
          </a:p>
        </p:txBody>
      </p:sp>
      <p:sp>
        <p:nvSpPr>
          <p:cNvPr id="4" name="Slide Number Placeholder 3"/>
          <p:cNvSpPr>
            <a:spLocks noGrp="1"/>
          </p:cNvSpPr>
          <p:nvPr>
            <p:ph type="sldNum" sz="quarter" idx="10"/>
          </p:nvPr>
        </p:nvSpPr>
        <p:spPr/>
        <p:txBody>
          <a:bodyPr/>
          <a:lstStyle/>
          <a:p>
            <a:fld id="{0BF20BA8-12AF-476D-99B2-894C09A4EE62}" type="slidenum">
              <a:rPr lang="en-GB" smtClean="0"/>
              <a:t>29</a:t>
            </a:fld>
            <a:endParaRPr lang="en-GB"/>
          </a:p>
        </p:txBody>
      </p:sp>
    </p:spTree>
    <p:extLst>
      <p:ext uri="{BB962C8B-B14F-4D97-AF65-F5344CB8AC3E}">
        <p14:creationId xmlns:p14="http://schemas.microsoft.com/office/powerpoint/2010/main" val="15441093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pattFill prst="lgGrid">
          <a:fgClr>
            <a:srgbClr val="F6F8FC"/>
          </a:fgClr>
          <a:bgClr>
            <a:schemeClr val="bg1"/>
          </a:bgClr>
        </a:pattFill>
        <a:effectLst/>
      </p:bgPr>
    </p:bg>
    <p:spTree>
      <p:nvGrpSpPr>
        <p:cNvPr id="1" name=""/>
        <p:cNvGrpSpPr/>
        <p:nvPr/>
      </p:nvGrpSpPr>
      <p:grpSpPr>
        <a:xfrm>
          <a:off x="0" y="0"/>
          <a:ext cx="0" cy="0"/>
          <a:chOff x="0" y="0"/>
          <a:chExt cx="0" cy="0"/>
        </a:xfrm>
      </p:grpSpPr>
      <p:sp>
        <p:nvSpPr>
          <p:cNvPr id="9" name="Title 8"/>
          <p:cNvSpPr>
            <a:spLocks noGrp="1"/>
          </p:cNvSpPr>
          <p:nvPr>
            <p:ph type="title"/>
          </p:nvPr>
        </p:nvSpPr>
        <p:spPr>
          <a:xfrm>
            <a:off x="658977" y="2259484"/>
            <a:ext cx="10972800" cy="1143000"/>
          </a:xfrm>
          <a:prstGeom prst="rect">
            <a:avLst/>
          </a:prstGeom>
        </p:spPr>
        <p:txBody>
          <a:bodyPr/>
          <a:lstStyle>
            <a:lvl1pPr algn="ctr">
              <a:defRPr sz="4400">
                <a:solidFill>
                  <a:schemeClr val="tx1">
                    <a:lumMod val="95000"/>
                    <a:lumOff val="5000"/>
                  </a:schemeClr>
                </a:solidFill>
                <a:latin typeface="Segoe UI Light" pitchFamily="34" charset="0"/>
              </a:defRPr>
            </a:lvl1pPr>
          </a:lstStyle>
          <a:p>
            <a:r>
              <a:rPr lang="en-US" dirty="0"/>
              <a:t>Click to edit Master title style</a:t>
            </a:r>
            <a:endParaRPr lang="en-GB" dirty="0"/>
          </a:p>
        </p:txBody>
      </p:sp>
      <p:sp>
        <p:nvSpPr>
          <p:cNvPr id="12" name="Text Placeholder 11"/>
          <p:cNvSpPr>
            <a:spLocks noGrp="1"/>
          </p:cNvSpPr>
          <p:nvPr>
            <p:ph type="body" sz="quarter" idx="10"/>
          </p:nvPr>
        </p:nvSpPr>
        <p:spPr>
          <a:xfrm>
            <a:off x="1392733" y="3716338"/>
            <a:ext cx="9505288" cy="720774"/>
          </a:xfrm>
          <a:prstGeom prst="rect">
            <a:avLst/>
          </a:prstGeom>
        </p:spPr>
        <p:txBody>
          <a:bodyPr/>
          <a:lstStyle>
            <a:lvl1pPr marL="0" indent="0" algn="ctr">
              <a:buNone/>
              <a:defRPr>
                <a:solidFill>
                  <a:schemeClr val="bg1">
                    <a:lumMod val="50000"/>
                  </a:schemeClr>
                </a:solidFill>
                <a:latin typeface="Segoe UI Light" pitchFamily="34" charset="0"/>
              </a:defRPr>
            </a:lvl1pPr>
          </a:lstStyle>
          <a:p>
            <a:pPr lvl="0"/>
            <a:r>
              <a:rPr lang="en-US" dirty="0"/>
              <a:t>Click to edit Master text styles</a:t>
            </a:r>
          </a:p>
        </p:txBody>
      </p:sp>
      <p:sp>
        <p:nvSpPr>
          <p:cNvPr id="18" name="Text Placeholder 17"/>
          <p:cNvSpPr>
            <a:spLocks noGrp="1"/>
          </p:cNvSpPr>
          <p:nvPr>
            <p:ph type="body" sz="quarter" idx="11" hasCustomPrompt="1"/>
          </p:nvPr>
        </p:nvSpPr>
        <p:spPr>
          <a:xfrm>
            <a:off x="8736154" y="6256872"/>
            <a:ext cx="3456463" cy="393009"/>
          </a:xfrm>
          <a:prstGeom prst="rect">
            <a:avLst/>
          </a:prstGeom>
        </p:spPr>
        <p:txBody>
          <a:bodyPr anchor="ctr"/>
          <a:lstStyle>
            <a:lvl1pPr marL="0" indent="0" algn="l">
              <a:buNone/>
              <a:defRPr sz="2200">
                <a:ln>
                  <a:noFill/>
                </a:ln>
                <a:solidFill>
                  <a:schemeClr val="bg1">
                    <a:lumMod val="50000"/>
                  </a:schemeClr>
                </a:solidFill>
                <a:latin typeface="Segoe UI Light" panose="020B0502040204020203" pitchFamily="34" charset="0"/>
                <a:cs typeface="Segoe UI Light" panose="020B0502040204020203" pitchFamily="34" charset="0"/>
              </a:defRPr>
            </a:lvl1pPr>
          </a:lstStyle>
          <a:p>
            <a:pPr lvl="0"/>
            <a:r>
              <a:rPr lang="en-US" dirty="0"/>
              <a:t>E-mail</a:t>
            </a:r>
          </a:p>
        </p:txBody>
      </p:sp>
      <p:pic>
        <p:nvPicPr>
          <p:cNvPr id="7" name="Picture 6"/>
          <p:cNvPicPr>
            <a:picLocks noChangeAspect="1"/>
          </p:cNvPicPr>
          <p:nvPr userDrawn="1"/>
        </p:nvPicPr>
        <p:blipFill>
          <a:blip r:embed="rId2"/>
          <a:stretch>
            <a:fillRect/>
          </a:stretch>
        </p:blipFill>
        <p:spPr>
          <a:xfrm>
            <a:off x="8016153" y="6093376"/>
            <a:ext cx="720000" cy="720000"/>
          </a:xfrm>
          <a:prstGeom prst="rect">
            <a:avLst/>
          </a:prstGeom>
        </p:spPr>
      </p:pic>
    </p:spTree>
    <p:extLst>
      <p:ext uri="{BB962C8B-B14F-4D97-AF65-F5344CB8AC3E}">
        <p14:creationId xmlns:p14="http://schemas.microsoft.com/office/powerpoint/2010/main" val="732602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xEl>
                                              <p:pRg st="0" end="0"/>
                                            </p:txEl>
                                          </p:spTgt>
                                        </p:tgtEl>
                                        <p:attrNameLst>
                                          <p:attrName>style.visibility</p:attrName>
                                        </p:attrNameLst>
                                      </p:cBhvr>
                                      <p:to>
                                        <p:strVal val="visible"/>
                                      </p:to>
                                    </p:set>
                                    <p:animEffect transition="in" filter="fade">
                                      <p:cBhvr>
                                        <p:cTn id="10"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tmplLst>
          <p:tmpl lvl="1">
            <p:tnLst>
              <p:par>
                <p:cTn presetID="10" presetClass="entr" presetSubtype="0" fill="hold" nodeType="with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fade">
                      <p:cBhvr>
                        <p:cTn dur="500"/>
                        <p:tgtEl>
                          <p:spTgt spid="18"/>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9" name="Title 8"/>
          <p:cNvSpPr>
            <a:spLocks noGrp="1"/>
          </p:cNvSpPr>
          <p:nvPr>
            <p:ph type="title"/>
          </p:nvPr>
        </p:nvSpPr>
        <p:spPr>
          <a:xfrm>
            <a:off x="658977" y="2259484"/>
            <a:ext cx="10972800" cy="1143000"/>
          </a:xfrm>
          <a:prstGeom prst="rect">
            <a:avLst/>
          </a:prstGeom>
        </p:spPr>
        <p:txBody>
          <a:bodyPr/>
          <a:lstStyle>
            <a:lvl1pPr algn="ctr">
              <a:defRPr sz="4400">
                <a:solidFill>
                  <a:schemeClr val="tx1"/>
                </a:solidFill>
                <a:latin typeface="Segoe UI Light" pitchFamily="34" charset="0"/>
              </a:defRPr>
            </a:lvl1pPr>
          </a:lstStyle>
          <a:p>
            <a:r>
              <a:rPr lang="en-US" dirty="0"/>
              <a:t>Click to edit Master title style</a:t>
            </a:r>
            <a:endParaRPr lang="en-GB" dirty="0"/>
          </a:p>
        </p:txBody>
      </p:sp>
      <p:sp>
        <p:nvSpPr>
          <p:cNvPr id="12" name="Text Placeholder 11"/>
          <p:cNvSpPr>
            <a:spLocks noGrp="1"/>
          </p:cNvSpPr>
          <p:nvPr>
            <p:ph type="body" sz="quarter" idx="10"/>
          </p:nvPr>
        </p:nvSpPr>
        <p:spPr>
          <a:xfrm>
            <a:off x="1392733" y="3716338"/>
            <a:ext cx="9505288" cy="720774"/>
          </a:xfrm>
          <a:prstGeom prst="rect">
            <a:avLst/>
          </a:prstGeom>
        </p:spPr>
        <p:txBody>
          <a:bodyPr/>
          <a:lstStyle>
            <a:lvl1pPr marL="0" indent="0" algn="ctr">
              <a:buNone/>
              <a:defRPr>
                <a:solidFill>
                  <a:schemeClr val="bg1">
                    <a:lumMod val="50000"/>
                  </a:schemeClr>
                </a:solidFill>
                <a:latin typeface="Segoe UI Light" pitchFamily="34" charset="0"/>
              </a:defRPr>
            </a:lvl1pPr>
          </a:lstStyle>
          <a:p>
            <a:pPr lvl="0"/>
            <a:r>
              <a:rPr lang="en-US" dirty="0"/>
              <a:t>Click to edit Master text styles</a:t>
            </a:r>
          </a:p>
        </p:txBody>
      </p:sp>
    </p:spTree>
    <p:extLst>
      <p:ext uri="{BB962C8B-B14F-4D97-AF65-F5344CB8AC3E}">
        <p14:creationId xmlns:p14="http://schemas.microsoft.com/office/powerpoint/2010/main" val="2151589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900"/>
                                        <p:tgtEl>
                                          <p:spTgt spid="9"/>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12">
                                            <p:txEl>
                                              <p:pRg st="0" end="0"/>
                                            </p:txEl>
                                          </p:spTgt>
                                        </p:tgtEl>
                                        <p:attrNameLst>
                                          <p:attrName>style.visibility</p:attrName>
                                        </p:attrNameLst>
                                      </p:cBhvr>
                                      <p:to>
                                        <p:strVal val="visible"/>
                                      </p:to>
                                    </p:set>
                                    <p:animEffect transition="in" filter="fade">
                                      <p:cBhvr>
                                        <p:cTn id="10" dur="32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build="p">
        <p:tmplLst>
          <p:tmpl lvl="1">
            <p:tnLst>
              <p:par>
                <p:cTn presetID="10" presetClass="entr" presetSubtype="0" fill="hold" nodeType="withEffect">
                  <p:stCondLst>
                    <p:cond delay="1000"/>
                  </p:stCondLst>
                  <p:childTnLst>
                    <p:set>
                      <p:cBhvr>
                        <p:cTn dur="1" fill="hold">
                          <p:stCondLst>
                            <p:cond delay="0"/>
                          </p:stCondLst>
                        </p:cTn>
                        <p:tgtEl>
                          <p:spTgt spid="12"/>
                        </p:tgtEl>
                        <p:attrNameLst>
                          <p:attrName>style.visibility</p:attrName>
                        </p:attrNameLst>
                      </p:cBhvr>
                      <p:to>
                        <p:strVal val="visible"/>
                      </p:to>
                    </p:set>
                    <p:animEffect transition="in" filter="fade">
                      <p:cBhvr>
                        <p:cTn dur="3200"/>
                        <p:tgtEl>
                          <p:spTgt spid="12"/>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le">
    <p:bg>
      <p:bgPr>
        <a:solidFill>
          <a:srgbClr val="1BA1E2"/>
        </a:soli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58977" y="2857500"/>
            <a:ext cx="10972800" cy="1143000"/>
          </a:xfrm>
          <a:prstGeom prst="rect">
            <a:avLst/>
          </a:prstGeom>
        </p:spPr>
        <p:txBody>
          <a:bodyPr anchor="ctr"/>
          <a:lstStyle>
            <a:lvl1pPr algn="ctr">
              <a:defRPr sz="4400">
                <a:latin typeface="Segoe UI Light" pitchFamily="34" charset="0"/>
              </a:defRPr>
            </a:lvl1pPr>
          </a:lstStyle>
          <a:p>
            <a:r>
              <a:rPr lang="en-US" dirty="0"/>
              <a:t>Add section title</a:t>
            </a:r>
            <a:endParaRPr lang="en-GB" dirty="0"/>
          </a:p>
        </p:txBody>
      </p:sp>
    </p:spTree>
    <p:extLst>
      <p:ext uri="{BB962C8B-B14F-4D97-AF65-F5344CB8AC3E}">
        <p14:creationId xmlns:p14="http://schemas.microsoft.com/office/powerpoint/2010/main" val="3897719953"/>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9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67408" y="1340768"/>
            <a:ext cx="10828784" cy="4813995"/>
          </a:xfrm>
          <a:prstGeom prst="rect">
            <a:avLst/>
          </a:prstGeom>
        </p:spPr>
        <p:txBody>
          <a:bodyPr/>
          <a:lstStyle>
            <a:lvl1pPr marL="0" indent="0">
              <a:buClr>
                <a:schemeClr val="tx1"/>
              </a:buClr>
              <a:buFontTx/>
              <a:buNone/>
              <a:defRPr sz="2400">
                <a:solidFill>
                  <a:schemeClr val="tx1"/>
                </a:solidFill>
                <a:latin typeface="Segoe UI Light" pitchFamily="34" charset="0"/>
              </a:defRPr>
            </a:lvl1pPr>
            <a:lvl2pPr marL="254250" indent="0">
              <a:buClr>
                <a:schemeClr val="tx1"/>
              </a:buClr>
              <a:buFontTx/>
              <a:buNone/>
              <a:defRPr sz="2400">
                <a:solidFill>
                  <a:schemeClr val="tx1">
                    <a:lumMod val="65000"/>
                    <a:lumOff val="35000"/>
                  </a:schemeClr>
                </a:solidFill>
                <a:latin typeface="Segoe UI Light" pitchFamily="34" charset="0"/>
              </a:defRPr>
            </a:lvl2pPr>
            <a:lvl3pPr marL="491400" indent="0">
              <a:buClr>
                <a:schemeClr val="tx1"/>
              </a:buClr>
              <a:buFontTx/>
              <a:buNone/>
              <a:defRPr sz="2400">
                <a:solidFill>
                  <a:schemeClr val="bg1">
                    <a:lumMod val="50000"/>
                  </a:schemeClr>
                </a:solidFill>
                <a:latin typeface="Segoe UI Light" pitchFamily="34" charset="0"/>
              </a:defRPr>
            </a:lvl3pPr>
            <a:lvl4pPr marL="1371600" indent="0">
              <a:buNone/>
              <a:defRPr>
                <a:ln>
                  <a:noFill/>
                </a:ln>
                <a:solidFill>
                  <a:srgbClr val="FA6800"/>
                </a:solidFill>
              </a:defRPr>
            </a:lvl4pPr>
          </a:lstStyle>
          <a:p>
            <a:pPr lvl="0"/>
            <a:r>
              <a:rPr lang="en-US" dirty="0"/>
              <a:t>Click to edit Master text styles</a:t>
            </a:r>
          </a:p>
          <a:p>
            <a:pPr lvl="1"/>
            <a:r>
              <a:rPr lang="en-US" dirty="0"/>
              <a:t>Second level</a:t>
            </a:r>
          </a:p>
          <a:p>
            <a:pPr lvl="2"/>
            <a:r>
              <a:rPr lang="en-US" dirty="0"/>
              <a:t>Third level</a:t>
            </a:r>
          </a:p>
          <a:p>
            <a:pPr lvl="3"/>
            <a:r>
              <a:rPr lang="en-US" dirty="0"/>
              <a:t>Forth level</a:t>
            </a:r>
          </a:p>
          <a:p>
            <a:pPr lvl="3"/>
            <a:r>
              <a:rPr lang="en-US" i="0" dirty="0" err="1"/>
              <a:t>prin</a:t>
            </a:r>
            <a:r>
              <a:rPr lang="en-US" i="0" dirty="0"/>
              <a:t> </a:t>
            </a:r>
            <a:r>
              <a:rPr lang="en-US" i="0" dirty="0" err="1"/>
              <a:t>derivare</a:t>
            </a:r>
            <a:r>
              <a:rPr lang="en-US" i="0" dirty="0"/>
              <a:t> </a:t>
            </a:r>
            <a:r>
              <a:rPr lang="en-US" i="0" dirty="0">
                <a:solidFill>
                  <a:schemeClr val="hlink"/>
                </a:solidFill>
              </a:rPr>
              <a:t>NU se </a:t>
            </a:r>
            <a:r>
              <a:rPr lang="en-US" i="0" dirty="0" err="1">
                <a:solidFill>
                  <a:schemeClr val="hlink"/>
                </a:solidFill>
              </a:rPr>
              <a:t>elimina</a:t>
            </a:r>
            <a:r>
              <a:rPr lang="en-US" i="0" dirty="0"/>
              <a:t> </a:t>
            </a:r>
            <a:r>
              <a:rPr lang="en-US" i="0" dirty="0" err="1"/>
              <a:t>restrictiile</a:t>
            </a:r>
            <a:r>
              <a:rPr lang="en-US" i="0" dirty="0"/>
              <a:t> de </a:t>
            </a:r>
            <a:r>
              <a:rPr lang="en-US" i="0" dirty="0" err="1"/>
              <a:t>acces</a:t>
            </a:r>
            <a:r>
              <a:rPr lang="en-US" i="0" dirty="0"/>
              <a:t> din </a:t>
            </a:r>
            <a:r>
              <a:rPr lang="en-US" i="0" dirty="0" err="1"/>
              <a:t>clasa</a:t>
            </a:r>
            <a:r>
              <a:rPr lang="en-US" i="0" dirty="0"/>
              <a:t> de </a:t>
            </a:r>
            <a:r>
              <a:rPr lang="en-US" i="0" dirty="0" err="1"/>
              <a:t>baza</a:t>
            </a:r>
            <a:endParaRPr lang="en-US" dirty="0"/>
          </a:p>
        </p:txBody>
      </p:sp>
      <p:sp>
        <p:nvSpPr>
          <p:cNvPr id="6" name="Rectangle 5"/>
          <p:cNvSpPr/>
          <p:nvPr userDrawn="1"/>
        </p:nvSpPr>
        <p:spPr>
          <a:xfrm>
            <a:off x="0" y="260648"/>
            <a:ext cx="239349" cy="792088"/>
          </a:xfrm>
          <a:prstGeom prst="rect">
            <a:avLst/>
          </a:prstGeom>
          <a:solidFill>
            <a:srgbClr val="1BA1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Title 1"/>
          <p:cNvSpPr>
            <a:spLocks noGrp="1"/>
          </p:cNvSpPr>
          <p:nvPr>
            <p:ph type="title"/>
          </p:nvPr>
        </p:nvSpPr>
        <p:spPr>
          <a:xfrm>
            <a:off x="431371" y="260648"/>
            <a:ext cx="8640960" cy="778098"/>
          </a:xfrm>
          <a:prstGeom prst="rect">
            <a:avLst/>
          </a:prstGeom>
        </p:spPr>
        <p:txBody>
          <a:bodyPr anchor="ctr"/>
          <a:lstStyle>
            <a:lvl1pPr>
              <a:defRPr b="1">
                <a:solidFill>
                  <a:schemeClr val="tx1"/>
                </a:solidFill>
                <a:latin typeface="Segoe UI Light" pitchFamily="34" charset="0"/>
              </a:defRPr>
            </a:lvl1pPr>
          </a:lstStyle>
          <a:p>
            <a:r>
              <a:rPr lang="en-US" dirty="0"/>
              <a:t>Click to edit Master title style</a:t>
            </a:r>
            <a:endParaRPr lang="en-GB" dirty="0"/>
          </a:p>
        </p:txBody>
      </p:sp>
      <p:sp>
        <p:nvSpPr>
          <p:cNvPr id="5" name="TextBox 4"/>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Tree>
    <p:extLst>
      <p:ext uri="{BB962C8B-B14F-4D97-AF65-F5344CB8AC3E}">
        <p14:creationId xmlns:p14="http://schemas.microsoft.com/office/powerpoint/2010/main" val="1039485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700"/>
                                        <p:tgtEl>
                                          <p:spTgt spid="3">
                                            <p:txEl>
                                              <p:pRg st="0" end="0"/>
                                            </p:txEl>
                                          </p:spTgt>
                                        </p:tgtEl>
                                      </p:cBhvr>
                                    </p:animEffect>
                                  </p:childTnLst>
                                </p:cTn>
                              </p:par>
                              <p:par>
                                <p:cTn id="8" presetID="10" presetClass="entr" presetSubtype="0" fill="hold" grpId="0" nodeType="withEffect">
                                  <p:stCondLst>
                                    <p:cond delay="90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1700"/>
                                        <p:tgtEl>
                                          <p:spTgt spid="3">
                                            <p:txEl>
                                              <p:pRg st="1" end="1"/>
                                            </p:txEl>
                                          </p:spTgt>
                                        </p:tgtEl>
                                      </p:cBhvr>
                                    </p:animEffect>
                                  </p:childTnLst>
                                </p:cTn>
                              </p:par>
                              <p:par>
                                <p:cTn id="11" presetID="10" presetClass="entr" presetSubtype="0" fill="hold" grpId="0" nodeType="withEffect">
                                  <p:stCondLst>
                                    <p:cond delay="110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1600"/>
                                        <p:tgtEl>
                                          <p:spTgt spid="3">
                                            <p:txEl>
                                              <p:pRg st="2" end="2"/>
                                            </p:txEl>
                                          </p:spTgt>
                                        </p:tgtEl>
                                      </p:cBhvr>
                                    </p:animEffect>
                                  </p:childTnLst>
                                </p:cTn>
                              </p:par>
                              <p:par>
                                <p:cTn id="14" presetID="10" presetClass="entr" presetSubtype="0" fill="hold" grpId="0" nodeType="withEffect">
                                  <p:stCondLst>
                                    <p:cond delay="110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1600"/>
                                        <p:tgtEl>
                                          <p:spTgt spid="3">
                                            <p:txEl>
                                              <p:pRg st="3" end="3"/>
                                            </p:txEl>
                                          </p:spTgt>
                                        </p:tgtEl>
                                      </p:cBhvr>
                                    </p:animEffect>
                                  </p:childTnLst>
                                </p:cTn>
                              </p:par>
                              <p:par>
                                <p:cTn id="17" presetID="10" presetClass="entr" presetSubtype="0" fill="hold" grpId="0" nodeType="withEffect">
                                  <p:stCondLst>
                                    <p:cond delay="110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1600"/>
                                        <p:tgtEl>
                                          <p:spTgt spid="3">
                                            <p:txEl>
                                              <p:pRg st="4" end="4"/>
                                            </p:txEl>
                                          </p:spTgt>
                                        </p:tgtEl>
                                      </p:cBhvr>
                                    </p:animEffect>
                                  </p:childTnLst>
                                </p:cTn>
                              </p:par>
                              <p:par>
                                <p:cTn id="20" presetID="42" presetClass="path" presetSubtype="0" accel="50000" decel="50000" fill="hold" grpId="1" nodeType="withEffect">
                                  <p:stCondLst>
                                    <p:cond delay="500"/>
                                  </p:stCondLst>
                                  <p:childTnLst>
                                    <p:animMotion origin="layout" path="M -4.79167E-6 -3.33333E-6 L -0.02356 -3.33333E-6 " pathEditMode="relative" rAng="0" ptsTypes="AA">
                                      <p:cBhvr>
                                        <p:cTn id="21" dur="1200" fill="hold"/>
                                        <p:tgtEl>
                                          <p:spTgt spid="3">
                                            <p:txEl>
                                              <p:pRg st="0" end="0"/>
                                            </p:txEl>
                                          </p:spTgt>
                                        </p:tgtEl>
                                        <p:attrNameLst>
                                          <p:attrName>ppt_x</p:attrName>
                                          <p:attrName>ppt_y</p:attrName>
                                        </p:attrNameLst>
                                      </p:cBhvr>
                                      <p:rCtr x="-1185" y="0"/>
                                    </p:animMotion>
                                  </p:childTnLst>
                                </p:cTn>
                              </p:par>
                              <p:par>
                                <p:cTn id="22" presetID="42" presetClass="path" presetSubtype="0" accel="50000" decel="50000" fill="hold" grpId="1" nodeType="withEffect">
                                  <p:stCondLst>
                                    <p:cond delay="700"/>
                                  </p:stCondLst>
                                  <p:childTnLst>
                                    <p:animMotion origin="layout" path="M 0.02356 1.85185E-6 L 3.54167E-6 1.85185E-6 " pathEditMode="relative" rAng="0" ptsTypes="AA">
                                      <p:cBhvr>
                                        <p:cTn id="23" dur="1100" fill="hold"/>
                                        <p:tgtEl>
                                          <p:spTgt spid="3">
                                            <p:txEl>
                                              <p:pRg st="1" end="1"/>
                                            </p:txEl>
                                          </p:spTgt>
                                        </p:tgtEl>
                                        <p:attrNameLst>
                                          <p:attrName>ppt_x</p:attrName>
                                          <p:attrName>ppt_y</p:attrName>
                                        </p:attrNameLst>
                                      </p:cBhvr>
                                      <p:rCtr x="-1185" y="0"/>
                                    </p:animMotion>
                                  </p:childTnLst>
                                </p:cTn>
                              </p:par>
                              <p:par>
                                <p:cTn id="24" presetID="42" presetClass="path" presetSubtype="0" accel="50000" decel="50000" fill="hold" grpId="1" nodeType="withEffect">
                                  <p:stCondLst>
                                    <p:cond delay="1000"/>
                                  </p:stCondLst>
                                  <p:childTnLst>
                                    <p:animMotion origin="layout" path="M 0.04479 0.00856 L 0.02903 0.00856 " pathEditMode="relative" rAng="0" ptsTypes="AA">
                                      <p:cBhvr>
                                        <p:cTn id="25" dur="900" fill="hold"/>
                                        <p:tgtEl>
                                          <p:spTgt spid="3">
                                            <p:txEl>
                                              <p:pRg st="2" end="2"/>
                                            </p:txEl>
                                          </p:spTgt>
                                        </p:tgtEl>
                                        <p:attrNameLst>
                                          <p:attrName>ppt_x</p:attrName>
                                          <p:attrName>ppt_y</p:attrName>
                                        </p:attrNameLst>
                                      </p:cBhvr>
                                      <p:rCtr x="-794" y="0"/>
                                    </p:animMotion>
                                  </p:childTnLst>
                                </p:cTn>
                              </p:par>
                              <p:par>
                                <p:cTn id="26" presetID="42" presetClass="path" presetSubtype="0" accel="50000" decel="50000" fill="hold" grpId="1" nodeType="withEffect">
                                  <p:stCondLst>
                                    <p:cond delay="1000"/>
                                  </p:stCondLst>
                                  <p:childTnLst>
                                    <p:animMotion origin="layout" path="M 0.0448 0.00857 L 0.02904 0.00857 " pathEditMode="relative" rAng="0" ptsTypes="AA">
                                      <p:cBhvr>
                                        <p:cTn id="27" dur="900" fill="hold"/>
                                        <p:tgtEl>
                                          <p:spTgt spid="3">
                                            <p:txEl>
                                              <p:pRg st="3" end="3"/>
                                            </p:txEl>
                                          </p:spTgt>
                                        </p:tgtEl>
                                        <p:attrNameLst>
                                          <p:attrName>ppt_x</p:attrName>
                                          <p:attrName>ppt_y</p:attrName>
                                        </p:attrNameLst>
                                      </p:cBhvr>
                                      <p:rCtr x="-794" y="0"/>
                                    </p:animMotion>
                                  </p:childTnLst>
                                </p:cTn>
                              </p:par>
                              <p:par>
                                <p:cTn id="28" presetID="42" presetClass="path" presetSubtype="0" accel="50000" decel="50000" fill="hold" grpId="1" nodeType="withEffect">
                                  <p:stCondLst>
                                    <p:cond delay="1000"/>
                                  </p:stCondLst>
                                  <p:childTnLst>
                                    <p:animMotion origin="layout" path="M 0.04479 0.00856 L 0.02904 0.00856 " pathEditMode="relative" rAng="0" ptsTypes="AA">
                                      <p:cBhvr>
                                        <p:cTn id="29" dur="900" fill="hold"/>
                                        <p:tgtEl>
                                          <p:spTgt spid="3">
                                            <p:txEl>
                                              <p:pRg st="4" end="4"/>
                                            </p:txEl>
                                          </p:spTgt>
                                        </p:tgtEl>
                                        <p:attrNameLst>
                                          <p:attrName>ppt_x</p:attrName>
                                          <p:attrName>ppt_y</p:attrName>
                                        </p:attrNameLst>
                                      </p:cBhvr>
                                      <p:rCtr x="-7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0" presetClass="entr" presetSubtype="0" fill="hold" nodeType="withEffect">
                  <p:stCondLst>
                    <p:cond delay="600"/>
                  </p:stCondLst>
                  <p:childTnLst>
                    <p:set>
                      <p:cBhvr>
                        <p:cTn dur="1" fill="hold">
                          <p:stCondLst>
                            <p:cond delay="0"/>
                          </p:stCondLst>
                        </p:cTn>
                        <p:tgtEl>
                          <p:spTgt spid="3"/>
                        </p:tgtEl>
                        <p:attrNameLst>
                          <p:attrName>style.visibility</p:attrName>
                        </p:attrNameLst>
                      </p:cBhvr>
                      <p:to>
                        <p:strVal val="visible"/>
                      </p:to>
                    </p:set>
                    <p:animEffect transition="in" filter="fade">
                      <p:cBhvr>
                        <p:cTn dur="1700"/>
                        <p:tgtEl>
                          <p:spTgt spid="3"/>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3"/>
                        </p:tgtEl>
                        <p:attrNameLst>
                          <p:attrName>style.visibility</p:attrName>
                        </p:attrNameLst>
                      </p:cBhvr>
                      <p:to>
                        <p:strVal val="visible"/>
                      </p:to>
                    </p:set>
                    <p:animEffect transition="in" filter="fade">
                      <p:cBhvr>
                        <p:cTn dur="1700"/>
                        <p:tgtEl>
                          <p:spTgt spid="3"/>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3"/>
                        </p:tgtEl>
                        <p:attrNameLst>
                          <p:attrName>style.visibility</p:attrName>
                        </p:attrNameLst>
                      </p:cBhvr>
                      <p:to>
                        <p:strVal val="visible"/>
                      </p:to>
                    </p:set>
                    <p:animEffect transition="in" filter="fade">
                      <p:cBhvr>
                        <p:cTn dur="1600"/>
                        <p:tgtEl>
                          <p:spTgt spid="3"/>
                        </p:tgtEl>
                      </p:cBhvr>
                    </p:animEffect>
                  </p:childTnLst>
                </p:cTn>
              </p:par>
            </p:tnLst>
          </p:tmpl>
          <p:tmpl lvl="4">
            <p:tnLst>
              <p:par>
                <p:cTn presetID="10" presetClass="entr" presetSubtype="0" fill="hold" nodeType="withEffect">
                  <p:stCondLst>
                    <p:cond delay="1100"/>
                  </p:stCondLst>
                  <p:childTnLst>
                    <p:set>
                      <p:cBhvr>
                        <p:cTn dur="1" fill="hold">
                          <p:stCondLst>
                            <p:cond delay="0"/>
                          </p:stCondLst>
                        </p:cTn>
                        <p:tgtEl>
                          <p:spTgt spid="3"/>
                        </p:tgtEl>
                        <p:attrNameLst>
                          <p:attrName>style.visibility</p:attrName>
                        </p:attrNameLst>
                      </p:cBhvr>
                      <p:to>
                        <p:strVal val="visible"/>
                      </p:to>
                    </p:set>
                    <p:animEffect transition="in" filter="fade">
                      <p:cBhvr>
                        <p:cTn dur="1600"/>
                        <p:tgtEl>
                          <p:spTgt spid="3"/>
                        </p:tgtEl>
                      </p:cBhvr>
                    </p:animEffect>
                  </p:childTnLst>
                </p:cTn>
              </p:par>
            </p:tnLst>
          </p:tmpl>
        </p:tmplLst>
      </p:bldP>
      <p:bldP spid="3" grpId="1" uiExpand="1" build="p">
        <p:tmplLst>
          <p:tmpl lvl="1">
            <p:tnLst>
              <p:par>
                <p:cTn presetID="42" presetClass="path" presetSubtype="0" accel="50000" decel="50000" fill="hold" nodeType="withEffect">
                  <p:stCondLst>
                    <p:cond delay="500"/>
                  </p:stCondLst>
                  <p:childTnLst>
                    <p:animMotion origin="layout" path="M -4.79167E-6 -3.33333E-6 L -0.02356 -3.33333E-6 " pathEditMode="relative" rAng="0" ptsTypes="AA">
                      <p:cBhvr>
                        <p:cTn dur="1200" fill="hold"/>
                        <p:tgtEl>
                          <p:spTgt spid="3"/>
                        </p:tgtEl>
                        <p:attrNameLst>
                          <p:attrName>ppt_x</p:attrName>
                          <p:attrName>ppt_y</p:attrName>
                        </p:attrNameLst>
                      </p:cBhvr>
                      <p:rCtr x="-1185" y="0"/>
                    </p:animMotion>
                  </p:childTnLst>
                </p:cTn>
              </p:par>
            </p:tnLst>
          </p:tmpl>
          <p:tmpl lvl="2">
            <p:tnLst>
              <p:par>
                <p:cTn presetID="42" presetClass="path" presetSubtype="0" accel="50000" decel="50000" fill="hold" nodeType="withEffect">
                  <p:stCondLst>
                    <p:cond delay="700"/>
                  </p:stCondLst>
                  <p:childTnLst>
                    <p:animMotion origin="layout" path="M 0.02356 1.85185E-6 L 3.54167E-6 1.85185E-6 " pathEditMode="relative" rAng="0" ptsTypes="AA">
                      <p:cBhvr>
                        <p:cTn dur="1100" fill="hold"/>
                        <p:tgtEl>
                          <p:spTgt spid="3"/>
                        </p:tgtEl>
                        <p:attrNameLst>
                          <p:attrName>ppt_x</p:attrName>
                          <p:attrName>ppt_y</p:attrName>
                        </p:attrNameLst>
                      </p:cBhvr>
                      <p:rCtr x="-1185" y="0"/>
                    </p:animMotion>
                  </p:childTnLst>
                </p:cTn>
              </p:par>
            </p:tnLst>
          </p:tmpl>
          <p:tmpl lvl="3">
            <p:tnLst>
              <p:par>
                <p:cTn presetID="42" presetClass="path" presetSubtype="0" accel="50000" decel="50000" fill="hold" nodeType="withEffect">
                  <p:stCondLst>
                    <p:cond delay="1000"/>
                  </p:stCondLst>
                  <p:childTnLst>
                    <p:animMotion origin="layout" path="M 0.04479 0.00856 L 0.02903 0.00856 " pathEditMode="relative" rAng="0" ptsTypes="AA">
                      <p:cBhvr>
                        <p:cTn dur="900" fill="hold"/>
                        <p:tgtEl>
                          <p:spTgt spid="3"/>
                        </p:tgtEl>
                        <p:attrNameLst>
                          <p:attrName>ppt_x</p:attrName>
                          <p:attrName>ppt_y</p:attrName>
                        </p:attrNameLst>
                      </p:cBhvr>
                      <p:rCtr x="-794" y="0"/>
                    </p:animMotion>
                  </p:childTnLst>
                </p:cTn>
              </p:par>
            </p:tnLst>
          </p:tmpl>
          <p:tmpl lvl="4">
            <p:tnLst>
              <p:par>
                <p:cTn presetID="42" presetClass="path" presetSubtype="0" accel="50000" decel="50000" fill="hold" nodeType="withEffect">
                  <p:stCondLst>
                    <p:cond delay="1000"/>
                  </p:stCondLst>
                  <p:childTnLst>
                    <p:animMotion origin="layout" path="M 0.04479 0.00856 L 0.02904 0.00856 " pathEditMode="relative" rAng="0" ptsTypes="AA">
                      <p:cBhvr>
                        <p:cTn dur="900" fill="hold"/>
                        <p:tgtEl>
                          <p:spTgt spid="3"/>
                        </p:tgtEl>
                        <p:attrNameLst>
                          <p:attrName>ppt_x</p:attrName>
                          <p:attrName>ppt_y</p:attrName>
                        </p:attrNameLst>
                      </p:cBhvr>
                      <p:rCtr x="-794" y="0"/>
                    </p:animMotion>
                  </p:childTnLst>
                </p:cTn>
              </p:par>
            </p:tnLst>
          </p:tmpl>
          <p:tmpl lvl="7">
            <p:tnLst>
              <p:par>
                <p:cTn presetID="42" presetClass="path" presetSubtype="0" accel="50000" decel="50000" fill="hold" nodeType="withEffect">
                  <p:stCondLst>
                    <p:cond delay="1000"/>
                  </p:stCondLst>
                  <p:childTnLst>
                    <p:animMotion origin="layout" path="M 0.04479 0.00857 L 0.02903 0.00857 " pathEditMode="relative" rAng="0" ptsTypes="AA">
                      <p:cBhvr>
                        <p:cTn dur="900" fill="hold"/>
                        <p:tgtEl>
                          <p:spTgt spid="3"/>
                        </p:tgtEl>
                        <p:attrNameLst>
                          <p:attrName>ppt_x</p:attrName>
                          <p:attrName>ppt_y</p:attrName>
                        </p:attrNameLst>
                      </p:cBhvr>
                      <p:rCtr x="-794" y="0"/>
                    </p:animMotion>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6" name="Rectangle 5"/>
          <p:cNvSpPr/>
          <p:nvPr userDrawn="1"/>
        </p:nvSpPr>
        <p:spPr>
          <a:xfrm>
            <a:off x="0" y="260648"/>
            <a:ext cx="239349" cy="792088"/>
          </a:xfrm>
          <a:prstGeom prst="rect">
            <a:avLst/>
          </a:prstGeom>
          <a:solidFill>
            <a:srgbClr val="1BA1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Title 1"/>
          <p:cNvSpPr>
            <a:spLocks noGrp="1"/>
          </p:cNvSpPr>
          <p:nvPr>
            <p:ph type="title"/>
          </p:nvPr>
        </p:nvSpPr>
        <p:spPr>
          <a:xfrm>
            <a:off x="431370" y="260648"/>
            <a:ext cx="11160165" cy="288032"/>
          </a:xfrm>
          <a:prstGeom prst="rect">
            <a:avLst/>
          </a:prstGeom>
        </p:spPr>
        <p:txBody>
          <a:bodyPr anchor="ctr"/>
          <a:lstStyle>
            <a:lvl1pPr>
              <a:defRPr sz="2000" b="1">
                <a:solidFill>
                  <a:schemeClr val="tx1">
                    <a:lumMod val="50000"/>
                    <a:lumOff val="50000"/>
                  </a:schemeClr>
                </a:solidFill>
                <a:latin typeface="Segoe UI Light" pitchFamily="34" charset="0"/>
              </a:defRPr>
            </a:lvl1pPr>
          </a:lstStyle>
          <a:p>
            <a:r>
              <a:rPr lang="en-US" dirty="0"/>
              <a:t>Click to edit Master title style</a:t>
            </a:r>
            <a:endParaRPr lang="en-GB" dirty="0"/>
          </a:p>
        </p:txBody>
      </p:sp>
      <p:sp>
        <p:nvSpPr>
          <p:cNvPr id="8" name="Content Placeholder 2"/>
          <p:cNvSpPr>
            <a:spLocks noGrp="1"/>
          </p:cNvSpPr>
          <p:nvPr>
            <p:ph idx="1"/>
          </p:nvPr>
        </p:nvSpPr>
        <p:spPr>
          <a:xfrm>
            <a:off x="767408" y="1340768"/>
            <a:ext cx="10828784" cy="4813995"/>
          </a:xfrm>
          <a:prstGeom prst="rect">
            <a:avLst/>
          </a:prstGeom>
        </p:spPr>
        <p:txBody>
          <a:bodyPr/>
          <a:lstStyle>
            <a:lvl1pPr marL="0" indent="0">
              <a:buClr>
                <a:schemeClr val="tx1"/>
              </a:buClr>
              <a:buFontTx/>
              <a:buNone/>
              <a:defRPr sz="2400">
                <a:solidFill>
                  <a:schemeClr val="tx1"/>
                </a:solidFill>
                <a:latin typeface="Segoe UI Light" pitchFamily="34" charset="0"/>
              </a:defRPr>
            </a:lvl1pPr>
            <a:lvl2pPr marL="254250" indent="0">
              <a:buClr>
                <a:schemeClr val="tx1"/>
              </a:buClr>
              <a:buFontTx/>
              <a:buNone/>
              <a:defRPr sz="2400">
                <a:solidFill>
                  <a:schemeClr val="tx1">
                    <a:lumMod val="65000"/>
                    <a:lumOff val="35000"/>
                  </a:schemeClr>
                </a:solidFill>
                <a:latin typeface="Segoe UI Light" pitchFamily="34" charset="0"/>
              </a:defRPr>
            </a:lvl2pPr>
            <a:lvl3pPr marL="491400" indent="0">
              <a:buClr>
                <a:schemeClr val="tx1"/>
              </a:buClr>
              <a:buFontTx/>
              <a:buNone/>
              <a:defRPr sz="2400">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
        <p:nvSpPr>
          <p:cNvPr id="4" name="Text Placeholder 3"/>
          <p:cNvSpPr>
            <a:spLocks noGrp="1"/>
          </p:cNvSpPr>
          <p:nvPr>
            <p:ph type="body" sz="quarter" idx="10"/>
          </p:nvPr>
        </p:nvSpPr>
        <p:spPr>
          <a:xfrm>
            <a:off x="431370" y="597637"/>
            <a:ext cx="11160166" cy="432048"/>
          </a:xfrm>
          <a:prstGeom prst="rect">
            <a:avLst/>
          </a:prstGeom>
        </p:spPr>
        <p:txBody>
          <a:bodyPr/>
          <a:lstStyle>
            <a:lvl1pPr marL="0" indent="0">
              <a:buNone/>
              <a:defRPr sz="3200" b="1">
                <a:solidFill>
                  <a:schemeClr val="tx1"/>
                </a:solidFill>
                <a:latin typeface="Segoe UI Light" panose="020B0502040204020203" pitchFamily="34" charset="0"/>
                <a:ea typeface="Segoe UI Historic" panose="020B0502040204020203" pitchFamily="34" charset="0"/>
                <a:cs typeface="Segoe UI Light" panose="020B0502040204020203" pitchFamily="34" charset="0"/>
              </a:defRPr>
            </a:lvl1pPr>
          </a:lstStyle>
          <a:p>
            <a:pPr lvl="0"/>
            <a:endParaRPr lang="en-US" dirty="0"/>
          </a:p>
        </p:txBody>
      </p:sp>
    </p:spTree>
    <p:extLst>
      <p:ext uri="{BB962C8B-B14F-4D97-AF65-F5344CB8AC3E}">
        <p14:creationId xmlns:p14="http://schemas.microsoft.com/office/powerpoint/2010/main" val="2366098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700"/>
                                        <p:tgtEl>
                                          <p:spTgt spid="8">
                                            <p:txEl>
                                              <p:pRg st="0" end="0"/>
                                            </p:txEl>
                                          </p:spTgt>
                                        </p:tgtEl>
                                      </p:cBhvr>
                                    </p:animEffect>
                                  </p:childTnLst>
                                </p:cTn>
                              </p:par>
                              <p:par>
                                <p:cTn id="8" presetID="10" presetClass="entr" presetSubtype="0" fill="hold" grpId="0" nodeType="withEffect">
                                  <p:stCondLst>
                                    <p:cond delay="90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1700"/>
                                        <p:tgtEl>
                                          <p:spTgt spid="8">
                                            <p:txEl>
                                              <p:pRg st="1" end="1"/>
                                            </p:txEl>
                                          </p:spTgt>
                                        </p:tgtEl>
                                      </p:cBhvr>
                                    </p:animEffect>
                                  </p:childTnLst>
                                </p:cTn>
                              </p:par>
                              <p:par>
                                <p:cTn id="11" presetID="10" presetClass="entr" presetSubtype="0" fill="hold" grpId="0" nodeType="withEffect">
                                  <p:stCondLst>
                                    <p:cond delay="110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1600"/>
                                        <p:tgtEl>
                                          <p:spTgt spid="8">
                                            <p:txEl>
                                              <p:pRg st="2" end="2"/>
                                            </p:txEl>
                                          </p:spTgt>
                                        </p:tgtEl>
                                      </p:cBhvr>
                                    </p:animEffect>
                                  </p:childTnLst>
                                </p:cTn>
                              </p:par>
                              <p:par>
                                <p:cTn id="14" presetID="42" presetClass="path" presetSubtype="0" accel="50000" decel="50000" fill="hold" grpId="1" nodeType="withEffect">
                                  <p:stCondLst>
                                    <p:cond delay="500"/>
                                  </p:stCondLst>
                                  <p:childTnLst>
                                    <p:animMotion origin="layout" path="M -4.79167E-6 -3.33333E-6 L -0.02356 -3.33333E-6 " pathEditMode="relative" rAng="0" ptsTypes="AA">
                                      <p:cBhvr>
                                        <p:cTn id="15" dur="1200" fill="hold"/>
                                        <p:tgtEl>
                                          <p:spTgt spid="8">
                                            <p:txEl>
                                              <p:pRg st="0" end="0"/>
                                            </p:txEl>
                                          </p:spTgt>
                                        </p:tgtEl>
                                        <p:attrNameLst>
                                          <p:attrName>ppt_x</p:attrName>
                                          <p:attrName>ppt_y</p:attrName>
                                        </p:attrNameLst>
                                      </p:cBhvr>
                                      <p:rCtr x="-1185" y="0"/>
                                    </p:animMotion>
                                  </p:childTnLst>
                                </p:cTn>
                              </p:par>
                              <p:par>
                                <p:cTn id="16" presetID="42" presetClass="path" presetSubtype="0" accel="50000" decel="50000" fill="hold" grpId="1" nodeType="withEffect">
                                  <p:stCondLst>
                                    <p:cond delay="700"/>
                                  </p:stCondLst>
                                  <p:childTnLst>
                                    <p:animMotion origin="layout" path="M 0.02356 1.85185E-6 L 3.54167E-6 1.85185E-6 " pathEditMode="relative" rAng="0" ptsTypes="AA">
                                      <p:cBhvr>
                                        <p:cTn id="17" dur="1100" fill="hold"/>
                                        <p:tgtEl>
                                          <p:spTgt spid="8">
                                            <p:txEl>
                                              <p:pRg st="1" end="1"/>
                                            </p:txEl>
                                          </p:spTgt>
                                        </p:tgtEl>
                                        <p:attrNameLst>
                                          <p:attrName>ppt_x</p:attrName>
                                          <p:attrName>ppt_y</p:attrName>
                                        </p:attrNameLst>
                                      </p:cBhvr>
                                      <p:rCtr x="-1185" y="0"/>
                                    </p:animMotion>
                                  </p:childTnLst>
                                </p:cTn>
                              </p:par>
                              <p:par>
                                <p:cTn id="18" presetID="42" presetClass="path" presetSubtype="0" accel="50000" decel="50000" fill="hold" grpId="1" nodeType="withEffect">
                                  <p:stCondLst>
                                    <p:cond delay="1000"/>
                                  </p:stCondLst>
                                  <p:childTnLst>
                                    <p:animMotion origin="layout" path="M 0.04479 0.00856 L 0.02903 0.00856 " pathEditMode="relative" rAng="0" ptsTypes="AA">
                                      <p:cBhvr>
                                        <p:cTn id="19" dur="900" fill="hold"/>
                                        <p:tgtEl>
                                          <p:spTgt spid="8">
                                            <p:txEl>
                                              <p:pRg st="2" end="2"/>
                                            </p:txEl>
                                          </p:spTgt>
                                        </p:tgtEl>
                                        <p:attrNameLst>
                                          <p:attrName>ppt_x</p:attrName>
                                          <p:attrName>ppt_y</p:attrName>
                                        </p:attrNameLst>
                                      </p:cBhvr>
                                      <p:rCtr x="-7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6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8"/>
                        </p:tgtEl>
                        <p:attrNameLst>
                          <p:attrName>style.visibility</p:attrName>
                        </p:attrNameLst>
                      </p:cBhvr>
                      <p:to>
                        <p:strVal val="visible"/>
                      </p:to>
                    </p:set>
                    <p:animEffect transition="in" filter="fade">
                      <p:cBhvr>
                        <p:cTn dur="1600"/>
                        <p:tgtEl>
                          <p:spTgt spid="8"/>
                        </p:tgtEl>
                      </p:cBhvr>
                    </p:animEffect>
                  </p:childTnLst>
                </p:cTn>
              </p:par>
            </p:tnLst>
          </p:tmpl>
        </p:tmplLst>
      </p:bldP>
      <p:bldP spid="8" grpId="1" build="p">
        <p:tmplLst>
          <p:tmpl lvl="1">
            <p:tnLst>
              <p:par>
                <p:cTn presetID="42" presetClass="path" presetSubtype="0" accel="50000" decel="50000" fill="hold" nodeType="withEffect">
                  <p:stCondLst>
                    <p:cond delay="500"/>
                  </p:stCondLst>
                  <p:childTnLst>
                    <p:animMotion origin="layout" path="M -4.79167E-6 -3.33333E-6 L -0.02356 -3.33333E-6 " pathEditMode="relative" rAng="0" ptsTypes="AA">
                      <p:cBhvr>
                        <p:cTn dur="1200" fill="hold"/>
                        <p:tgtEl>
                          <p:spTgt spid="8"/>
                        </p:tgtEl>
                        <p:attrNameLst>
                          <p:attrName>ppt_x</p:attrName>
                          <p:attrName>ppt_y</p:attrName>
                        </p:attrNameLst>
                      </p:cBhvr>
                      <p:rCtr x="-1185" y="0"/>
                    </p:animMotion>
                  </p:childTnLst>
                </p:cTn>
              </p:par>
            </p:tnLst>
          </p:tmpl>
          <p:tmpl lvl="2">
            <p:tnLst>
              <p:par>
                <p:cTn presetID="42" presetClass="path" presetSubtype="0" accel="50000" decel="50000" fill="hold" nodeType="withEffect">
                  <p:stCondLst>
                    <p:cond delay="700"/>
                  </p:stCondLst>
                  <p:childTnLst>
                    <p:animMotion origin="layout" path="M 0.02356 1.85185E-6 L 3.54167E-6 1.85185E-6 " pathEditMode="relative" rAng="0" ptsTypes="AA">
                      <p:cBhvr>
                        <p:cTn dur="1100" fill="hold"/>
                        <p:tgtEl>
                          <p:spTgt spid="8"/>
                        </p:tgtEl>
                        <p:attrNameLst>
                          <p:attrName>ppt_x</p:attrName>
                          <p:attrName>ppt_y</p:attrName>
                        </p:attrNameLst>
                      </p:cBhvr>
                      <p:rCtr x="-1185" y="0"/>
                    </p:animMotion>
                  </p:childTnLst>
                </p:cTn>
              </p:par>
            </p:tnLst>
          </p:tmpl>
          <p:tmpl lvl="3">
            <p:tnLst>
              <p:par>
                <p:cTn presetID="42" presetClass="path" presetSubtype="0" accel="50000" decel="50000" fill="hold" nodeType="withEffect">
                  <p:stCondLst>
                    <p:cond delay="1000"/>
                  </p:stCondLst>
                  <p:childTnLst>
                    <p:animMotion origin="layout" path="M 0.04479 0.00856 L 0.02903 0.00856 " pathEditMode="relative" rAng="0" ptsTypes="AA">
                      <p:cBhvr>
                        <p:cTn dur="900" fill="hold"/>
                        <p:tgtEl>
                          <p:spTgt spid="8"/>
                        </p:tgtEl>
                        <p:attrNameLst>
                          <p:attrName>ppt_x</p:attrName>
                          <p:attrName>ppt_y</p:attrName>
                        </p:attrNameLst>
                      </p:cBhvr>
                      <p:rCtr x="-794" y="0"/>
                    </p:animMotion>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Content and 2 Objects">
    <p:spTree>
      <p:nvGrpSpPr>
        <p:cNvPr id="1" name=""/>
        <p:cNvGrpSpPr/>
        <p:nvPr/>
      </p:nvGrpSpPr>
      <p:grpSpPr>
        <a:xfrm>
          <a:off x="0" y="0"/>
          <a:ext cx="0" cy="0"/>
          <a:chOff x="0" y="0"/>
          <a:chExt cx="0" cy="0"/>
        </a:xfrm>
      </p:grpSpPr>
      <p:sp>
        <p:nvSpPr>
          <p:cNvPr id="2" name="Title 1"/>
          <p:cNvSpPr>
            <a:spLocks noGrp="1"/>
          </p:cNvSpPr>
          <p:nvPr>
            <p:ph type="title"/>
          </p:nvPr>
        </p:nvSpPr>
        <p:spPr>
          <a:xfrm>
            <a:off x="431371" y="260648"/>
            <a:ext cx="8640960" cy="778098"/>
          </a:xfrm>
          <a:prstGeom prst="rect">
            <a:avLst/>
          </a:prstGeom>
        </p:spPr>
        <p:txBody>
          <a:bodyPr anchor="ctr"/>
          <a:lstStyle>
            <a:lvl1pPr>
              <a:defRPr b="1">
                <a:solidFill>
                  <a:schemeClr val="tx1"/>
                </a:solidFill>
                <a:latin typeface="Segoe UI Light" pitchFamily="34" charset="0"/>
              </a:defRPr>
            </a:lvl1pPr>
          </a:lstStyle>
          <a:p>
            <a:r>
              <a:rPr lang="en-US" dirty="0"/>
              <a:t>Click to edit Master title style</a:t>
            </a:r>
            <a:endParaRPr lang="en-GB" dirty="0"/>
          </a:p>
        </p:txBody>
      </p:sp>
      <p:sp>
        <p:nvSpPr>
          <p:cNvPr id="6" name="Content Placeholder 2"/>
          <p:cNvSpPr>
            <a:spLocks noGrp="1"/>
          </p:cNvSpPr>
          <p:nvPr>
            <p:ph idx="10"/>
          </p:nvPr>
        </p:nvSpPr>
        <p:spPr>
          <a:xfrm flipH="1">
            <a:off x="8304245" y="1628800"/>
            <a:ext cx="3552395" cy="2160240"/>
          </a:xfrm>
          <a:prstGeom prst="rect">
            <a:avLst/>
          </a:prstGeom>
          <a:solidFill>
            <a:schemeClr val="tx1">
              <a:lumMod val="95000"/>
              <a:lumOff val="5000"/>
              <a:alpha val="54000"/>
            </a:schemeClr>
          </a:solidFill>
        </p:spPr>
        <p:txBody>
          <a:bodyPr anchor="b"/>
          <a:lstStyle>
            <a:lvl1pPr marL="0" indent="0">
              <a:buClr>
                <a:schemeClr val="tx1"/>
              </a:buClr>
              <a:buFontTx/>
              <a:buNone/>
              <a:defRPr sz="2800">
                <a:latin typeface="Segoe UI Light" pitchFamily="34" charset="0"/>
              </a:defRPr>
            </a:lvl1pPr>
            <a:lvl2pPr marL="254250" indent="0">
              <a:buClr>
                <a:schemeClr val="tx1"/>
              </a:buClr>
              <a:buFontTx/>
              <a:buNone/>
              <a:defRPr>
                <a:solidFill>
                  <a:schemeClr val="bg1">
                    <a:lumMod val="7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a:t>Click to edit Master text styles</a:t>
            </a:r>
          </a:p>
        </p:txBody>
      </p:sp>
      <p:sp>
        <p:nvSpPr>
          <p:cNvPr id="10" name="Content Placeholder 2"/>
          <p:cNvSpPr>
            <a:spLocks noGrp="1"/>
          </p:cNvSpPr>
          <p:nvPr>
            <p:ph idx="11"/>
          </p:nvPr>
        </p:nvSpPr>
        <p:spPr>
          <a:xfrm flipH="1">
            <a:off x="8304245" y="3933056"/>
            <a:ext cx="3552395" cy="2160240"/>
          </a:xfrm>
          <a:prstGeom prst="rect">
            <a:avLst/>
          </a:prstGeom>
          <a:solidFill>
            <a:schemeClr val="tx1">
              <a:lumMod val="95000"/>
              <a:lumOff val="5000"/>
              <a:alpha val="54000"/>
            </a:schemeClr>
          </a:solidFill>
        </p:spPr>
        <p:txBody>
          <a:bodyPr anchor="b"/>
          <a:lstStyle>
            <a:lvl1pPr marL="0" indent="0">
              <a:buClr>
                <a:schemeClr val="tx1"/>
              </a:buClr>
              <a:buFontTx/>
              <a:buNone/>
              <a:defRPr sz="2800">
                <a:latin typeface="Segoe UI Light" pitchFamily="34" charset="0"/>
              </a:defRPr>
            </a:lvl1pPr>
            <a:lvl2pPr marL="254250" indent="0">
              <a:buClr>
                <a:schemeClr val="tx1"/>
              </a:buClr>
              <a:buFontTx/>
              <a:buNone/>
              <a:defRPr>
                <a:solidFill>
                  <a:schemeClr val="bg1">
                    <a:lumMod val="7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a:t>Click to edit Master text styles</a:t>
            </a:r>
          </a:p>
        </p:txBody>
      </p:sp>
      <p:sp>
        <p:nvSpPr>
          <p:cNvPr id="11" name="Rectangle 10"/>
          <p:cNvSpPr/>
          <p:nvPr userDrawn="1"/>
        </p:nvSpPr>
        <p:spPr>
          <a:xfrm>
            <a:off x="0" y="260648"/>
            <a:ext cx="239349" cy="792088"/>
          </a:xfrm>
          <a:prstGeom prst="rect">
            <a:avLst/>
          </a:prstGeom>
          <a:solidFill>
            <a:srgbClr val="1BA1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Content Placeholder 2"/>
          <p:cNvSpPr>
            <a:spLocks noGrp="1"/>
          </p:cNvSpPr>
          <p:nvPr>
            <p:ph idx="1"/>
          </p:nvPr>
        </p:nvSpPr>
        <p:spPr>
          <a:xfrm>
            <a:off x="767408" y="1628800"/>
            <a:ext cx="7272808" cy="4525963"/>
          </a:xfrm>
          <a:prstGeom prst="rect">
            <a:avLst/>
          </a:prstGeom>
        </p:spPr>
        <p:txBody>
          <a:bodyPr/>
          <a:lstStyle>
            <a:lvl1pPr marL="0" indent="0">
              <a:buClr>
                <a:schemeClr val="tx1"/>
              </a:buClr>
              <a:buFontTx/>
              <a:buNone/>
              <a:defRPr>
                <a:solidFill>
                  <a:schemeClr val="tx1"/>
                </a:solidFill>
                <a:latin typeface="Segoe UI Light" pitchFamily="34" charset="0"/>
              </a:defRPr>
            </a:lvl1pPr>
            <a:lvl2pPr marL="254250" indent="0">
              <a:buClr>
                <a:schemeClr val="tx1"/>
              </a:buClr>
              <a:buFontTx/>
              <a:buNone/>
              <a:defRPr>
                <a:solidFill>
                  <a:schemeClr val="tx1">
                    <a:lumMod val="65000"/>
                    <a:lumOff val="3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8" name="TextBox 7"/>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Tree>
    <p:extLst>
      <p:ext uri="{BB962C8B-B14F-4D97-AF65-F5344CB8AC3E}">
        <p14:creationId xmlns:p14="http://schemas.microsoft.com/office/powerpoint/2010/main" val="1158426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500"/>
                                        <p:tgtEl>
                                          <p:spTgt spid="6">
                                            <p:bg/>
                                          </p:spTgt>
                                        </p:tgtEl>
                                      </p:cBhvr>
                                    </p:animEffect>
                                  </p:childTnLst>
                                </p:cTn>
                              </p:par>
                              <p:par>
                                <p:cTn id="8" presetID="10" presetClass="entr" presetSubtype="0" fill="hold" grpId="0" nodeType="withEffect" nodePh="1">
                                  <p:stCondLst>
                                    <p:cond delay="1000"/>
                                  </p:stCondLst>
                                  <p:endCondLst>
                                    <p:cond evt="begin" delay="0">
                                      <p:tn val="8"/>
                                    </p:cond>
                                  </p:end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par>
                                <p:cTn id="11" presetID="10" presetClass="entr" presetSubtype="0" fill="hold" grpId="0" nodeType="withEffect">
                                  <p:stCondLst>
                                    <p:cond delay="1300"/>
                                  </p:stCondLst>
                                  <p:childTnLst>
                                    <p:set>
                                      <p:cBhvr>
                                        <p:cTn id="12" dur="1" fill="hold">
                                          <p:stCondLst>
                                            <p:cond delay="0"/>
                                          </p:stCondLst>
                                        </p:cTn>
                                        <p:tgtEl>
                                          <p:spTgt spid="10">
                                            <p:bg/>
                                          </p:spTgt>
                                        </p:tgtEl>
                                        <p:attrNameLst>
                                          <p:attrName>style.visibility</p:attrName>
                                        </p:attrNameLst>
                                      </p:cBhvr>
                                      <p:to>
                                        <p:strVal val="visible"/>
                                      </p:to>
                                    </p:set>
                                    <p:animEffect transition="in" filter="fade">
                                      <p:cBhvr>
                                        <p:cTn id="13" dur="500"/>
                                        <p:tgtEl>
                                          <p:spTgt spid="10">
                                            <p:bg/>
                                          </p:spTgt>
                                        </p:tgtEl>
                                      </p:cBhvr>
                                    </p:animEffect>
                                  </p:childTnLst>
                                </p:cTn>
                              </p:par>
                              <p:par>
                                <p:cTn id="14" presetID="10" presetClass="entr" presetSubtype="0" fill="hold" grpId="0" nodeType="withEffect" nodePh="1">
                                  <p:stCondLst>
                                    <p:cond delay="1000"/>
                                  </p:stCondLst>
                                  <p:endCondLst>
                                    <p:cond evt="begin" delay="0">
                                      <p:tn val="14"/>
                                    </p:cond>
                                  </p:endCondLst>
                                  <p:childTnLst>
                                    <p:set>
                                      <p:cBhvr>
                                        <p:cTn id="15" dur="1" fill="hold">
                                          <p:stCondLst>
                                            <p:cond delay="0"/>
                                          </p:stCondLst>
                                        </p:cTn>
                                        <p:tgtEl>
                                          <p:spTgt spid="10">
                                            <p:txEl>
                                              <p:pRg st="0" end="0"/>
                                            </p:txEl>
                                          </p:spTgt>
                                        </p:tgtEl>
                                        <p:attrNameLst>
                                          <p:attrName>style.visibility</p:attrName>
                                        </p:attrNameLst>
                                      </p:cBhvr>
                                      <p:to>
                                        <p:strVal val="visible"/>
                                      </p:to>
                                    </p:set>
                                    <p:animEffect transition="in" filter="fade">
                                      <p:cBhvr>
                                        <p:cTn id="16" dur="500"/>
                                        <p:tgtEl>
                                          <p:spTgt spid="10">
                                            <p:txEl>
                                              <p:pRg st="0" end="0"/>
                                            </p:txEl>
                                          </p:spTgt>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fade">
                                      <p:cBhvr>
                                        <p:cTn id="19" dur="1700"/>
                                        <p:tgtEl>
                                          <p:spTgt spid="7">
                                            <p:txEl>
                                              <p:pRg st="0" end="0"/>
                                            </p:txEl>
                                          </p:spTgt>
                                        </p:tgtEl>
                                      </p:cBhvr>
                                    </p:animEffect>
                                  </p:childTnLst>
                                </p:cTn>
                              </p:par>
                              <p:par>
                                <p:cTn id="20" presetID="10" presetClass="entr" presetSubtype="0" fill="hold" grpId="0" nodeType="withEffect">
                                  <p:stCondLst>
                                    <p:cond delay="90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fade">
                                      <p:cBhvr>
                                        <p:cTn id="22" dur="1700"/>
                                        <p:tgtEl>
                                          <p:spTgt spid="7">
                                            <p:txEl>
                                              <p:pRg st="1" end="1"/>
                                            </p:txEl>
                                          </p:spTgt>
                                        </p:tgtEl>
                                      </p:cBhvr>
                                    </p:animEffect>
                                  </p:childTnLst>
                                </p:cTn>
                              </p:par>
                              <p:par>
                                <p:cTn id="23" presetID="10" presetClass="entr" presetSubtype="0" fill="hold" grpId="0" nodeType="withEffect">
                                  <p:stCondLst>
                                    <p:cond delay="1100"/>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fade">
                                      <p:cBhvr>
                                        <p:cTn id="25" dur="1600"/>
                                        <p:tgtEl>
                                          <p:spTgt spid="7">
                                            <p:txEl>
                                              <p:pRg st="2" end="2"/>
                                            </p:txEl>
                                          </p:spTgt>
                                        </p:tgtEl>
                                      </p:cBhvr>
                                    </p:animEffect>
                                  </p:childTnLst>
                                </p:cTn>
                              </p:par>
                              <p:par>
                                <p:cTn id="26" presetID="42" presetClass="path" presetSubtype="0" accel="50000" decel="50000" fill="hold" grpId="1" nodeType="withEffect">
                                  <p:stCondLst>
                                    <p:cond delay="500"/>
                                  </p:stCondLst>
                                  <p:childTnLst>
                                    <p:animMotion origin="layout" path="M 5.55556E-7 1.85185E-6 L -0.02361 1.85185E-6 " pathEditMode="relative" rAng="0" ptsTypes="AA">
                                      <p:cBhvr>
                                        <p:cTn id="27" dur="1200" fill="hold"/>
                                        <p:tgtEl>
                                          <p:spTgt spid="7">
                                            <p:txEl>
                                              <p:pRg st="0" end="0"/>
                                            </p:txEl>
                                          </p:spTgt>
                                        </p:tgtEl>
                                        <p:attrNameLst>
                                          <p:attrName>ppt_x</p:attrName>
                                          <p:attrName>ppt_y</p:attrName>
                                        </p:attrNameLst>
                                      </p:cBhvr>
                                      <p:rCtr x="-1181" y="0"/>
                                    </p:animMotion>
                                  </p:childTnLst>
                                </p:cTn>
                              </p:par>
                              <p:par>
                                <p:cTn id="28" presetID="42" presetClass="path" presetSubtype="0" accel="50000" decel="50000" fill="hold" grpId="1" nodeType="withEffect">
                                  <p:stCondLst>
                                    <p:cond delay="700"/>
                                  </p:stCondLst>
                                  <p:childTnLst>
                                    <p:animMotion origin="layout" path="M 0.02361 7.40741E-7 L -1.66667E-6 7.40741E-7 " pathEditMode="relative" rAng="0" ptsTypes="AA">
                                      <p:cBhvr>
                                        <p:cTn id="29" dur="1100" fill="hold"/>
                                        <p:tgtEl>
                                          <p:spTgt spid="7">
                                            <p:txEl>
                                              <p:pRg st="1" end="1"/>
                                            </p:txEl>
                                          </p:spTgt>
                                        </p:tgtEl>
                                        <p:attrNameLst>
                                          <p:attrName>ppt_x</p:attrName>
                                          <p:attrName>ppt_y</p:attrName>
                                        </p:attrNameLst>
                                      </p:cBhvr>
                                      <p:rCtr x="-1181" y="0"/>
                                    </p:animMotion>
                                  </p:childTnLst>
                                </p:cTn>
                              </p:par>
                              <p:par>
                                <p:cTn id="30" presetID="42" presetClass="path" presetSubtype="0" accel="50000" decel="50000" fill="hold" grpId="1" nodeType="withEffect">
                                  <p:stCondLst>
                                    <p:cond delay="1000"/>
                                  </p:stCondLst>
                                  <p:childTnLst>
                                    <p:animMotion origin="layout" path="M 0.04479 0.00857 L 0.02899 0.00857 " pathEditMode="relative" rAng="0" ptsTypes="AA">
                                      <p:cBhvr>
                                        <p:cTn id="31" dur="900" fill="hold"/>
                                        <p:tgtEl>
                                          <p:spTgt spid="7">
                                            <p:txEl>
                                              <p:pRg st="2" end="2"/>
                                            </p:txEl>
                                          </p:spTgt>
                                        </p:tgtEl>
                                        <p:attrNameLst>
                                          <p:attrName>ppt_x</p:attrName>
                                          <p:attrName>ppt_y</p:attrName>
                                        </p:attrNameLst>
                                      </p:cBhvr>
                                      <p:rCtr x="-79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tmplLst>
          <p:tmpl>
            <p:tnLst>
              <p:par>
                <p:cTn presetID="10" presetClass="entr" presetSubtype="0" fill="hold" nodeType="withEffect">
                  <p:stCondLst>
                    <p:cond delay="100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 lvl="1">
            <p:tnLst>
              <p:par>
                <p:cTn presetID="10" presetClass="entr" presetSubtype="0" fill="hold" nodeType="withEffect" nodePh="1">
                  <p:stCondLst>
                    <p:cond delay="1000"/>
                  </p:stCondLst>
                  <p:endCondLst>
                    <p:cond delay="0"/>
                  </p:end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10" grpId="0" build="p" animBg="1">
        <p:tmplLst>
          <p:tmpl>
            <p:tnLst>
              <p:par>
                <p:cTn presetID="10" presetClass="entr" presetSubtype="0" fill="hold" nodeType="withEffect">
                  <p:stCondLst>
                    <p:cond delay="13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 lvl="1">
            <p:tnLst>
              <p:par>
                <p:cTn presetID="10" presetClass="entr" presetSubtype="0" fill="hold" nodeType="withEffect" nodePh="1">
                  <p:stCondLst>
                    <p:cond delay="1000"/>
                  </p:stCondLst>
                  <p:endCondLst>
                    <p:cond delay="0"/>
                  </p:end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7" grpId="0" build="p">
        <p:tmplLst>
          <p:tmpl lvl="1">
            <p:tnLst>
              <p:par>
                <p:cTn presetID="10" presetClass="entr" presetSubtype="0" fill="hold" nodeType="withEffect">
                  <p:stCondLst>
                    <p:cond delay="600"/>
                  </p:stCondLst>
                  <p:childTnLst>
                    <p:set>
                      <p:cBhvr>
                        <p:cTn dur="1" fill="hold">
                          <p:stCondLst>
                            <p:cond delay="0"/>
                          </p:stCondLst>
                        </p:cTn>
                        <p:tgtEl>
                          <p:spTgt spid="7"/>
                        </p:tgtEl>
                        <p:attrNameLst>
                          <p:attrName>style.visibility</p:attrName>
                        </p:attrNameLst>
                      </p:cBhvr>
                      <p:to>
                        <p:strVal val="visible"/>
                      </p:to>
                    </p:set>
                    <p:animEffect transition="in" filter="fade">
                      <p:cBhvr>
                        <p:cTn dur="1700"/>
                        <p:tgtEl>
                          <p:spTgt spid="7"/>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7"/>
                        </p:tgtEl>
                        <p:attrNameLst>
                          <p:attrName>style.visibility</p:attrName>
                        </p:attrNameLst>
                      </p:cBhvr>
                      <p:to>
                        <p:strVal val="visible"/>
                      </p:to>
                    </p:set>
                    <p:animEffect transition="in" filter="fade">
                      <p:cBhvr>
                        <p:cTn dur="1700"/>
                        <p:tgtEl>
                          <p:spTgt spid="7"/>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7"/>
                        </p:tgtEl>
                        <p:attrNameLst>
                          <p:attrName>style.visibility</p:attrName>
                        </p:attrNameLst>
                      </p:cBhvr>
                      <p:to>
                        <p:strVal val="visible"/>
                      </p:to>
                    </p:set>
                    <p:animEffect transition="in" filter="fade">
                      <p:cBhvr>
                        <p:cTn dur="1600"/>
                        <p:tgtEl>
                          <p:spTgt spid="7"/>
                        </p:tgtEl>
                      </p:cBhvr>
                    </p:animEffect>
                  </p:childTnLst>
                </p:cTn>
              </p:par>
            </p:tnLst>
          </p:tmpl>
        </p:tmplLst>
      </p:bldP>
      <p:bldP spid="7" grpId="1" build="p">
        <p:tmplLst>
          <p:tmpl lvl="1">
            <p:tnLst>
              <p:par>
                <p:cTn presetID="42" presetClass="path" presetSubtype="0" accel="50000" decel="50000" fill="hold" nodeType="withEffect">
                  <p:stCondLst>
                    <p:cond delay="500"/>
                  </p:stCondLst>
                  <p:childTnLst>
                    <p:animMotion origin="layout" path="M 5.55556E-7 1.85185E-6 L -0.02361 1.85185E-6 " pathEditMode="relative" rAng="0" ptsTypes="AA">
                      <p:cBhvr>
                        <p:cTn dur="1200" fill="hold"/>
                        <p:tgtEl>
                          <p:spTgt spid="7"/>
                        </p:tgtEl>
                        <p:attrNameLst>
                          <p:attrName>ppt_x</p:attrName>
                          <p:attrName>ppt_y</p:attrName>
                        </p:attrNameLst>
                      </p:cBhvr>
                      <p:rCtr x="-1181" y="0"/>
                    </p:animMotion>
                  </p:childTnLst>
                </p:cTn>
              </p:par>
            </p:tnLst>
          </p:tmpl>
          <p:tmpl lvl="2">
            <p:tnLst>
              <p:par>
                <p:cTn presetID="42" presetClass="path" presetSubtype="0" accel="50000" decel="50000" fill="hold" nodeType="withEffect">
                  <p:stCondLst>
                    <p:cond delay="700"/>
                  </p:stCondLst>
                  <p:childTnLst>
                    <p:animMotion origin="layout" path="M 0.02361 7.40741E-7 L -1.66667E-6 7.40741E-7 " pathEditMode="relative" rAng="0" ptsTypes="AA">
                      <p:cBhvr>
                        <p:cTn dur="1100" fill="hold"/>
                        <p:tgtEl>
                          <p:spTgt spid="7"/>
                        </p:tgtEl>
                        <p:attrNameLst>
                          <p:attrName>ppt_x</p:attrName>
                          <p:attrName>ppt_y</p:attrName>
                        </p:attrNameLst>
                      </p:cBhvr>
                      <p:rCtr x="-1181" y="0"/>
                    </p:animMotion>
                  </p:childTnLst>
                </p:cTn>
              </p:par>
            </p:tnLst>
          </p:tmpl>
          <p:tmpl lvl="3">
            <p:tnLst>
              <p:par>
                <p:cTn presetID="42" presetClass="path" presetSubtype="0" accel="50000" decel="50000" fill="hold" nodeType="withEffect">
                  <p:stCondLst>
                    <p:cond delay="1000"/>
                  </p:stCondLst>
                  <p:childTnLst>
                    <p:animMotion origin="layout" path="M 0.04479 0.00857 L 0.02899 0.00857 " pathEditMode="relative" rAng="0" ptsTypes="AA">
                      <p:cBhvr>
                        <p:cTn dur="900" fill="hold"/>
                        <p:tgtEl>
                          <p:spTgt spid="7"/>
                        </p:tgtEl>
                        <p:attrNameLst>
                          <p:attrName>ppt_x</p:attrName>
                          <p:attrName>ppt_y</p:attrName>
                        </p:attrNameLst>
                      </p:cBhvr>
                      <p:rCtr x="-799" y="0"/>
                    </p:animMotion>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p:bg>
      <p:bgPr>
        <a:solidFill>
          <a:srgbClr val="FA6800"/>
        </a:soli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58977" y="2857500"/>
            <a:ext cx="10972800" cy="1143000"/>
          </a:xfrm>
          <a:prstGeom prst="rect">
            <a:avLst/>
          </a:prstGeom>
        </p:spPr>
        <p:txBody>
          <a:bodyPr anchor="ctr"/>
          <a:lstStyle>
            <a:lvl1pPr algn="ctr">
              <a:defRPr sz="4400">
                <a:latin typeface="Segoe UI Light" pitchFamily="34" charset="0"/>
              </a:defRPr>
            </a:lvl1pPr>
          </a:lstStyle>
          <a:p>
            <a:r>
              <a:rPr lang="en-US" dirty="0"/>
              <a:t>Add section title</a:t>
            </a:r>
            <a:endParaRPr lang="en-GB" dirty="0"/>
          </a:p>
        </p:txBody>
      </p:sp>
    </p:spTree>
    <p:extLst>
      <p:ext uri="{BB962C8B-B14F-4D97-AF65-F5344CB8AC3E}">
        <p14:creationId xmlns:p14="http://schemas.microsoft.com/office/powerpoint/2010/main" val="41850544"/>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9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6" name="Rectangle 5"/>
          <p:cNvSpPr/>
          <p:nvPr userDrawn="1"/>
        </p:nvSpPr>
        <p:spPr>
          <a:xfrm>
            <a:off x="0" y="260648"/>
            <a:ext cx="239349" cy="792088"/>
          </a:xfrm>
          <a:prstGeom prst="rect">
            <a:avLst/>
          </a:prstGeom>
          <a:solidFill>
            <a:srgbClr val="FA6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Title 1"/>
          <p:cNvSpPr>
            <a:spLocks noGrp="1"/>
          </p:cNvSpPr>
          <p:nvPr>
            <p:ph type="title"/>
          </p:nvPr>
        </p:nvSpPr>
        <p:spPr>
          <a:xfrm>
            <a:off x="431371" y="260648"/>
            <a:ext cx="8640960" cy="778098"/>
          </a:xfrm>
          <a:prstGeom prst="rect">
            <a:avLst/>
          </a:prstGeom>
        </p:spPr>
        <p:txBody>
          <a:bodyPr anchor="ctr"/>
          <a:lstStyle>
            <a:lvl1pPr>
              <a:defRPr b="1">
                <a:solidFill>
                  <a:schemeClr val="tx1"/>
                </a:solidFill>
                <a:latin typeface="Segoe UI Light" pitchFamily="34" charset="0"/>
              </a:defRPr>
            </a:lvl1pPr>
          </a:lstStyle>
          <a:p>
            <a:r>
              <a:rPr lang="en-US" dirty="0"/>
              <a:t>Click to edit Master title style</a:t>
            </a:r>
            <a:endParaRPr lang="en-GB" dirty="0"/>
          </a:p>
        </p:txBody>
      </p:sp>
      <p:sp>
        <p:nvSpPr>
          <p:cNvPr id="8" name="Content Placeholder 2"/>
          <p:cNvSpPr>
            <a:spLocks noGrp="1"/>
          </p:cNvSpPr>
          <p:nvPr>
            <p:ph idx="1"/>
          </p:nvPr>
        </p:nvSpPr>
        <p:spPr>
          <a:xfrm>
            <a:off x="767408" y="1340768"/>
            <a:ext cx="10828784" cy="4813995"/>
          </a:xfrm>
          <a:prstGeom prst="rect">
            <a:avLst/>
          </a:prstGeom>
        </p:spPr>
        <p:txBody>
          <a:bodyPr/>
          <a:lstStyle>
            <a:lvl1pPr marL="0" indent="0">
              <a:buClr>
                <a:schemeClr val="tx1"/>
              </a:buClr>
              <a:buFontTx/>
              <a:buNone/>
              <a:defRPr sz="2400">
                <a:solidFill>
                  <a:schemeClr val="tx1"/>
                </a:solidFill>
                <a:latin typeface="Segoe UI Light" pitchFamily="34" charset="0"/>
              </a:defRPr>
            </a:lvl1pPr>
            <a:lvl2pPr marL="254250" indent="0">
              <a:buClr>
                <a:schemeClr val="tx1"/>
              </a:buClr>
              <a:buFontTx/>
              <a:buNone/>
              <a:defRPr sz="2400">
                <a:solidFill>
                  <a:schemeClr val="tx1">
                    <a:lumMod val="65000"/>
                    <a:lumOff val="35000"/>
                  </a:schemeClr>
                </a:solidFill>
                <a:latin typeface="Segoe UI Light" pitchFamily="34" charset="0"/>
              </a:defRPr>
            </a:lvl2pPr>
            <a:lvl3pPr marL="491400" indent="0">
              <a:buClr>
                <a:schemeClr val="tx1"/>
              </a:buClr>
              <a:buFontTx/>
              <a:buNone/>
              <a:defRPr sz="2400">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Tree>
    <p:extLst>
      <p:ext uri="{BB962C8B-B14F-4D97-AF65-F5344CB8AC3E}">
        <p14:creationId xmlns:p14="http://schemas.microsoft.com/office/powerpoint/2010/main" val="2551000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700"/>
                                        <p:tgtEl>
                                          <p:spTgt spid="8">
                                            <p:txEl>
                                              <p:pRg st="0" end="0"/>
                                            </p:txEl>
                                          </p:spTgt>
                                        </p:tgtEl>
                                      </p:cBhvr>
                                    </p:animEffect>
                                  </p:childTnLst>
                                </p:cTn>
                              </p:par>
                              <p:par>
                                <p:cTn id="8" presetID="10" presetClass="entr" presetSubtype="0" fill="hold" grpId="0" nodeType="withEffect">
                                  <p:stCondLst>
                                    <p:cond delay="90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1700"/>
                                        <p:tgtEl>
                                          <p:spTgt spid="8">
                                            <p:txEl>
                                              <p:pRg st="1" end="1"/>
                                            </p:txEl>
                                          </p:spTgt>
                                        </p:tgtEl>
                                      </p:cBhvr>
                                    </p:animEffect>
                                  </p:childTnLst>
                                </p:cTn>
                              </p:par>
                              <p:par>
                                <p:cTn id="11" presetID="10" presetClass="entr" presetSubtype="0" fill="hold" grpId="0" nodeType="withEffect">
                                  <p:stCondLst>
                                    <p:cond delay="110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1600"/>
                                        <p:tgtEl>
                                          <p:spTgt spid="8">
                                            <p:txEl>
                                              <p:pRg st="2" end="2"/>
                                            </p:txEl>
                                          </p:spTgt>
                                        </p:tgtEl>
                                      </p:cBhvr>
                                    </p:animEffect>
                                  </p:childTnLst>
                                </p:cTn>
                              </p:par>
                              <p:par>
                                <p:cTn id="14" presetID="42" presetClass="path" presetSubtype="0" accel="50000" decel="50000" fill="hold" grpId="1" nodeType="withEffect">
                                  <p:stCondLst>
                                    <p:cond delay="500"/>
                                  </p:stCondLst>
                                  <p:childTnLst>
                                    <p:animMotion origin="layout" path="M -4.79167E-6 -3.33333E-6 L -0.02356 -3.33333E-6 " pathEditMode="relative" rAng="0" ptsTypes="AA">
                                      <p:cBhvr>
                                        <p:cTn id="15" dur="1200" fill="hold"/>
                                        <p:tgtEl>
                                          <p:spTgt spid="8">
                                            <p:txEl>
                                              <p:pRg st="0" end="0"/>
                                            </p:txEl>
                                          </p:spTgt>
                                        </p:tgtEl>
                                        <p:attrNameLst>
                                          <p:attrName>ppt_x</p:attrName>
                                          <p:attrName>ppt_y</p:attrName>
                                        </p:attrNameLst>
                                      </p:cBhvr>
                                      <p:rCtr x="-1185" y="0"/>
                                    </p:animMotion>
                                  </p:childTnLst>
                                </p:cTn>
                              </p:par>
                              <p:par>
                                <p:cTn id="16" presetID="42" presetClass="path" presetSubtype="0" accel="50000" decel="50000" fill="hold" grpId="1" nodeType="withEffect">
                                  <p:stCondLst>
                                    <p:cond delay="700"/>
                                  </p:stCondLst>
                                  <p:childTnLst>
                                    <p:animMotion origin="layout" path="M 0.02356 1.85185E-6 L 3.54167E-6 1.85185E-6 " pathEditMode="relative" rAng="0" ptsTypes="AA">
                                      <p:cBhvr>
                                        <p:cTn id="17" dur="1100" fill="hold"/>
                                        <p:tgtEl>
                                          <p:spTgt spid="8">
                                            <p:txEl>
                                              <p:pRg st="1" end="1"/>
                                            </p:txEl>
                                          </p:spTgt>
                                        </p:tgtEl>
                                        <p:attrNameLst>
                                          <p:attrName>ppt_x</p:attrName>
                                          <p:attrName>ppt_y</p:attrName>
                                        </p:attrNameLst>
                                      </p:cBhvr>
                                      <p:rCtr x="-1185" y="0"/>
                                    </p:animMotion>
                                  </p:childTnLst>
                                </p:cTn>
                              </p:par>
                              <p:par>
                                <p:cTn id="18" presetID="42" presetClass="path" presetSubtype="0" accel="50000" decel="50000" fill="hold" grpId="1" nodeType="withEffect">
                                  <p:stCondLst>
                                    <p:cond delay="1000"/>
                                  </p:stCondLst>
                                  <p:childTnLst>
                                    <p:animMotion origin="layout" path="M 0.04479 0.00856 L 0.02903 0.00856 " pathEditMode="relative" rAng="0" ptsTypes="AA">
                                      <p:cBhvr>
                                        <p:cTn id="19" dur="900" fill="hold"/>
                                        <p:tgtEl>
                                          <p:spTgt spid="8">
                                            <p:txEl>
                                              <p:pRg st="2" end="2"/>
                                            </p:txEl>
                                          </p:spTgt>
                                        </p:tgtEl>
                                        <p:attrNameLst>
                                          <p:attrName>ppt_x</p:attrName>
                                          <p:attrName>ppt_y</p:attrName>
                                        </p:attrNameLst>
                                      </p:cBhvr>
                                      <p:rCtr x="-7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6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8"/>
                        </p:tgtEl>
                        <p:attrNameLst>
                          <p:attrName>style.visibility</p:attrName>
                        </p:attrNameLst>
                      </p:cBhvr>
                      <p:to>
                        <p:strVal val="visible"/>
                      </p:to>
                    </p:set>
                    <p:animEffect transition="in" filter="fade">
                      <p:cBhvr>
                        <p:cTn dur="1600"/>
                        <p:tgtEl>
                          <p:spTgt spid="8"/>
                        </p:tgtEl>
                      </p:cBhvr>
                    </p:animEffect>
                  </p:childTnLst>
                </p:cTn>
              </p:par>
            </p:tnLst>
          </p:tmpl>
        </p:tmplLst>
      </p:bldP>
      <p:bldP spid="8" grpId="1" build="p">
        <p:tmplLst>
          <p:tmpl lvl="1">
            <p:tnLst>
              <p:par>
                <p:cTn presetID="42" presetClass="path" presetSubtype="0" accel="50000" decel="50000" fill="hold" nodeType="withEffect">
                  <p:stCondLst>
                    <p:cond delay="500"/>
                  </p:stCondLst>
                  <p:childTnLst>
                    <p:animMotion origin="layout" path="M -4.79167E-6 -3.33333E-6 L -0.02356 -3.33333E-6 " pathEditMode="relative" rAng="0" ptsTypes="AA">
                      <p:cBhvr>
                        <p:cTn dur="1200" fill="hold"/>
                        <p:tgtEl>
                          <p:spTgt spid="8"/>
                        </p:tgtEl>
                        <p:attrNameLst>
                          <p:attrName>ppt_x</p:attrName>
                          <p:attrName>ppt_y</p:attrName>
                        </p:attrNameLst>
                      </p:cBhvr>
                      <p:rCtr x="-1185" y="0"/>
                    </p:animMotion>
                  </p:childTnLst>
                </p:cTn>
              </p:par>
            </p:tnLst>
          </p:tmpl>
          <p:tmpl lvl="2">
            <p:tnLst>
              <p:par>
                <p:cTn presetID="42" presetClass="path" presetSubtype="0" accel="50000" decel="50000" fill="hold" nodeType="withEffect">
                  <p:stCondLst>
                    <p:cond delay="700"/>
                  </p:stCondLst>
                  <p:childTnLst>
                    <p:animMotion origin="layout" path="M 0.02356 1.85185E-6 L 3.54167E-6 1.85185E-6 " pathEditMode="relative" rAng="0" ptsTypes="AA">
                      <p:cBhvr>
                        <p:cTn dur="1100" fill="hold"/>
                        <p:tgtEl>
                          <p:spTgt spid="8"/>
                        </p:tgtEl>
                        <p:attrNameLst>
                          <p:attrName>ppt_x</p:attrName>
                          <p:attrName>ppt_y</p:attrName>
                        </p:attrNameLst>
                      </p:cBhvr>
                      <p:rCtr x="-1185" y="0"/>
                    </p:animMotion>
                  </p:childTnLst>
                </p:cTn>
              </p:par>
            </p:tnLst>
          </p:tmpl>
          <p:tmpl lvl="3">
            <p:tnLst>
              <p:par>
                <p:cTn presetID="42" presetClass="path" presetSubtype="0" accel="50000" decel="50000" fill="hold" nodeType="withEffect">
                  <p:stCondLst>
                    <p:cond delay="1000"/>
                  </p:stCondLst>
                  <p:childTnLst>
                    <p:animMotion origin="layout" path="M 0.04479 0.00856 L 0.02903 0.00856 " pathEditMode="relative" rAng="0" ptsTypes="AA">
                      <p:cBhvr>
                        <p:cTn dur="900" fill="hold"/>
                        <p:tgtEl>
                          <p:spTgt spid="8"/>
                        </p:tgtEl>
                        <p:attrNameLst>
                          <p:attrName>ppt_x</p:attrName>
                          <p:attrName>ppt_y</p:attrName>
                        </p:attrNameLst>
                      </p:cBhvr>
                      <p:rCtr x="-794" y="0"/>
                    </p:animMotion>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6" name="Rectangle 5"/>
          <p:cNvSpPr/>
          <p:nvPr userDrawn="1"/>
        </p:nvSpPr>
        <p:spPr>
          <a:xfrm>
            <a:off x="0" y="260648"/>
            <a:ext cx="239349" cy="792088"/>
          </a:xfrm>
          <a:prstGeom prst="rect">
            <a:avLst/>
          </a:prstGeom>
          <a:solidFill>
            <a:srgbClr val="FA6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Title 1"/>
          <p:cNvSpPr>
            <a:spLocks noGrp="1"/>
          </p:cNvSpPr>
          <p:nvPr>
            <p:ph type="title"/>
          </p:nvPr>
        </p:nvSpPr>
        <p:spPr>
          <a:xfrm>
            <a:off x="431370" y="260648"/>
            <a:ext cx="11160165" cy="288032"/>
          </a:xfrm>
          <a:prstGeom prst="rect">
            <a:avLst/>
          </a:prstGeom>
        </p:spPr>
        <p:txBody>
          <a:bodyPr anchor="ctr"/>
          <a:lstStyle>
            <a:lvl1pPr>
              <a:defRPr sz="2000" b="1">
                <a:solidFill>
                  <a:schemeClr val="tx1">
                    <a:lumMod val="50000"/>
                    <a:lumOff val="50000"/>
                  </a:schemeClr>
                </a:solidFill>
                <a:latin typeface="Segoe UI Light" pitchFamily="34" charset="0"/>
              </a:defRPr>
            </a:lvl1pPr>
          </a:lstStyle>
          <a:p>
            <a:r>
              <a:rPr lang="en-US" dirty="0"/>
              <a:t>Click to edit Master title style</a:t>
            </a:r>
            <a:endParaRPr lang="en-GB" dirty="0"/>
          </a:p>
        </p:txBody>
      </p:sp>
      <p:sp>
        <p:nvSpPr>
          <p:cNvPr id="8" name="Content Placeholder 2"/>
          <p:cNvSpPr>
            <a:spLocks noGrp="1"/>
          </p:cNvSpPr>
          <p:nvPr>
            <p:ph idx="1"/>
          </p:nvPr>
        </p:nvSpPr>
        <p:spPr>
          <a:xfrm>
            <a:off x="767408" y="1340768"/>
            <a:ext cx="10828784" cy="4813995"/>
          </a:xfrm>
          <a:prstGeom prst="rect">
            <a:avLst/>
          </a:prstGeom>
        </p:spPr>
        <p:txBody>
          <a:bodyPr/>
          <a:lstStyle>
            <a:lvl1pPr marL="0" indent="0">
              <a:buClr>
                <a:schemeClr val="tx1"/>
              </a:buClr>
              <a:buFontTx/>
              <a:buNone/>
              <a:defRPr sz="2400">
                <a:solidFill>
                  <a:schemeClr val="tx1"/>
                </a:solidFill>
                <a:latin typeface="Segoe UI Light" pitchFamily="34" charset="0"/>
              </a:defRPr>
            </a:lvl1pPr>
            <a:lvl2pPr marL="254250" indent="0">
              <a:buClr>
                <a:schemeClr val="tx1"/>
              </a:buClr>
              <a:buFontTx/>
              <a:buNone/>
              <a:defRPr sz="2400">
                <a:solidFill>
                  <a:schemeClr val="tx1">
                    <a:lumMod val="65000"/>
                    <a:lumOff val="35000"/>
                  </a:schemeClr>
                </a:solidFill>
                <a:latin typeface="Segoe UI Light" pitchFamily="34" charset="0"/>
              </a:defRPr>
            </a:lvl2pPr>
            <a:lvl3pPr marL="491400" indent="0">
              <a:buClr>
                <a:schemeClr val="tx1"/>
              </a:buClr>
              <a:buFontTx/>
              <a:buNone/>
              <a:defRPr sz="2400">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
        <p:nvSpPr>
          <p:cNvPr id="4" name="Text Placeholder 3"/>
          <p:cNvSpPr>
            <a:spLocks noGrp="1"/>
          </p:cNvSpPr>
          <p:nvPr>
            <p:ph type="body" sz="quarter" idx="10"/>
          </p:nvPr>
        </p:nvSpPr>
        <p:spPr>
          <a:xfrm>
            <a:off x="431370" y="597637"/>
            <a:ext cx="11160166" cy="432048"/>
          </a:xfrm>
          <a:prstGeom prst="rect">
            <a:avLst/>
          </a:prstGeom>
        </p:spPr>
        <p:txBody>
          <a:bodyPr/>
          <a:lstStyle>
            <a:lvl1pPr marL="0" indent="0">
              <a:buNone/>
              <a:defRPr sz="3200" b="1">
                <a:solidFill>
                  <a:schemeClr val="tx1"/>
                </a:solidFill>
                <a:latin typeface="Segoe UI Light" panose="020B0502040204020203" pitchFamily="34" charset="0"/>
                <a:ea typeface="Segoe UI Historic" panose="020B0502040204020203" pitchFamily="34" charset="0"/>
                <a:cs typeface="Segoe UI Light" panose="020B0502040204020203" pitchFamily="34" charset="0"/>
              </a:defRPr>
            </a:lvl1pPr>
          </a:lstStyle>
          <a:p>
            <a:pPr lvl="0"/>
            <a:endParaRPr lang="en-US" dirty="0"/>
          </a:p>
        </p:txBody>
      </p:sp>
    </p:spTree>
    <p:extLst>
      <p:ext uri="{BB962C8B-B14F-4D97-AF65-F5344CB8AC3E}">
        <p14:creationId xmlns:p14="http://schemas.microsoft.com/office/powerpoint/2010/main" val="4182949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700"/>
                                        <p:tgtEl>
                                          <p:spTgt spid="8">
                                            <p:txEl>
                                              <p:pRg st="0" end="0"/>
                                            </p:txEl>
                                          </p:spTgt>
                                        </p:tgtEl>
                                      </p:cBhvr>
                                    </p:animEffect>
                                  </p:childTnLst>
                                </p:cTn>
                              </p:par>
                              <p:par>
                                <p:cTn id="8" presetID="10" presetClass="entr" presetSubtype="0" fill="hold" grpId="0" nodeType="withEffect">
                                  <p:stCondLst>
                                    <p:cond delay="90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1700"/>
                                        <p:tgtEl>
                                          <p:spTgt spid="8">
                                            <p:txEl>
                                              <p:pRg st="1" end="1"/>
                                            </p:txEl>
                                          </p:spTgt>
                                        </p:tgtEl>
                                      </p:cBhvr>
                                    </p:animEffect>
                                  </p:childTnLst>
                                </p:cTn>
                              </p:par>
                              <p:par>
                                <p:cTn id="11" presetID="10" presetClass="entr" presetSubtype="0" fill="hold" grpId="0" nodeType="withEffect">
                                  <p:stCondLst>
                                    <p:cond delay="110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1600"/>
                                        <p:tgtEl>
                                          <p:spTgt spid="8">
                                            <p:txEl>
                                              <p:pRg st="2" end="2"/>
                                            </p:txEl>
                                          </p:spTgt>
                                        </p:tgtEl>
                                      </p:cBhvr>
                                    </p:animEffect>
                                  </p:childTnLst>
                                </p:cTn>
                              </p:par>
                              <p:par>
                                <p:cTn id="14" presetID="42" presetClass="path" presetSubtype="0" accel="50000" decel="50000" fill="hold" grpId="1" nodeType="withEffect">
                                  <p:stCondLst>
                                    <p:cond delay="500"/>
                                  </p:stCondLst>
                                  <p:childTnLst>
                                    <p:animMotion origin="layout" path="M -4.79167E-6 -3.33333E-6 L -0.02356 -3.33333E-6 " pathEditMode="relative" rAng="0" ptsTypes="AA">
                                      <p:cBhvr>
                                        <p:cTn id="15" dur="1200" fill="hold"/>
                                        <p:tgtEl>
                                          <p:spTgt spid="8">
                                            <p:txEl>
                                              <p:pRg st="0" end="0"/>
                                            </p:txEl>
                                          </p:spTgt>
                                        </p:tgtEl>
                                        <p:attrNameLst>
                                          <p:attrName>ppt_x</p:attrName>
                                          <p:attrName>ppt_y</p:attrName>
                                        </p:attrNameLst>
                                      </p:cBhvr>
                                      <p:rCtr x="-1185" y="0"/>
                                    </p:animMotion>
                                  </p:childTnLst>
                                </p:cTn>
                              </p:par>
                              <p:par>
                                <p:cTn id="16" presetID="42" presetClass="path" presetSubtype="0" accel="50000" decel="50000" fill="hold" grpId="1" nodeType="withEffect">
                                  <p:stCondLst>
                                    <p:cond delay="700"/>
                                  </p:stCondLst>
                                  <p:childTnLst>
                                    <p:animMotion origin="layout" path="M 0.02356 1.85185E-6 L 3.54167E-6 1.85185E-6 " pathEditMode="relative" rAng="0" ptsTypes="AA">
                                      <p:cBhvr>
                                        <p:cTn id="17" dur="1100" fill="hold"/>
                                        <p:tgtEl>
                                          <p:spTgt spid="8">
                                            <p:txEl>
                                              <p:pRg st="1" end="1"/>
                                            </p:txEl>
                                          </p:spTgt>
                                        </p:tgtEl>
                                        <p:attrNameLst>
                                          <p:attrName>ppt_x</p:attrName>
                                          <p:attrName>ppt_y</p:attrName>
                                        </p:attrNameLst>
                                      </p:cBhvr>
                                      <p:rCtr x="-1185" y="0"/>
                                    </p:animMotion>
                                  </p:childTnLst>
                                </p:cTn>
                              </p:par>
                              <p:par>
                                <p:cTn id="18" presetID="42" presetClass="path" presetSubtype="0" accel="50000" decel="50000" fill="hold" grpId="1" nodeType="withEffect">
                                  <p:stCondLst>
                                    <p:cond delay="1000"/>
                                  </p:stCondLst>
                                  <p:childTnLst>
                                    <p:animMotion origin="layout" path="M 0.04479 0.00856 L 0.02903 0.00856 " pathEditMode="relative" rAng="0" ptsTypes="AA">
                                      <p:cBhvr>
                                        <p:cTn id="19" dur="900" fill="hold"/>
                                        <p:tgtEl>
                                          <p:spTgt spid="8">
                                            <p:txEl>
                                              <p:pRg st="2" end="2"/>
                                            </p:txEl>
                                          </p:spTgt>
                                        </p:tgtEl>
                                        <p:attrNameLst>
                                          <p:attrName>ppt_x</p:attrName>
                                          <p:attrName>ppt_y</p:attrName>
                                        </p:attrNameLst>
                                      </p:cBhvr>
                                      <p:rCtr x="-7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6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8"/>
                        </p:tgtEl>
                        <p:attrNameLst>
                          <p:attrName>style.visibility</p:attrName>
                        </p:attrNameLst>
                      </p:cBhvr>
                      <p:to>
                        <p:strVal val="visible"/>
                      </p:to>
                    </p:set>
                    <p:animEffect transition="in" filter="fade">
                      <p:cBhvr>
                        <p:cTn dur="1600"/>
                        <p:tgtEl>
                          <p:spTgt spid="8"/>
                        </p:tgtEl>
                      </p:cBhvr>
                    </p:animEffect>
                  </p:childTnLst>
                </p:cTn>
              </p:par>
            </p:tnLst>
          </p:tmpl>
        </p:tmplLst>
      </p:bldP>
      <p:bldP spid="8" grpId="1" build="p">
        <p:tmplLst>
          <p:tmpl lvl="1">
            <p:tnLst>
              <p:par>
                <p:cTn presetID="42" presetClass="path" presetSubtype="0" accel="50000" decel="50000" fill="hold" nodeType="withEffect">
                  <p:stCondLst>
                    <p:cond delay="500"/>
                  </p:stCondLst>
                  <p:childTnLst>
                    <p:animMotion origin="layout" path="M -4.79167E-6 -3.33333E-6 L -0.02356 -3.33333E-6 " pathEditMode="relative" rAng="0" ptsTypes="AA">
                      <p:cBhvr>
                        <p:cTn dur="1200" fill="hold"/>
                        <p:tgtEl>
                          <p:spTgt spid="8"/>
                        </p:tgtEl>
                        <p:attrNameLst>
                          <p:attrName>ppt_x</p:attrName>
                          <p:attrName>ppt_y</p:attrName>
                        </p:attrNameLst>
                      </p:cBhvr>
                      <p:rCtr x="-1185" y="0"/>
                    </p:animMotion>
                  </p:childTnLst>
                </p:cTn>
              </p:par>
            </p:tnLst>
          </p:tmpl>
          <p:tmpl lvl="2">
            <p:tnLst>
              <p:par>
                <p:cTn presetID="42" presetClass="path" presetSubtype="0" accel="50000" decel="50000" fill="hold" nodeType="withEffect">
                  <p:stCondLst>
                    <p:cond delay="700"/>
                  </p:stCondLst>
                  <p:childTnLst>
                    <p:animMotion origin="layout" path="M 0.02356 1.85185E-6 L 3.54167E-6 1.85185E-6 " pathEditMode="relative" rAng="0" ptsTypes="AA">
                      <p:cBhvr>
                        <p:cTn dur="1100" fill="hold"/>
                        <p:tgtEl>
                          <p:spTgt spid="8"/>
                        </p:tgtEl>
                        <p:attrNameLst>
                          <p:attrName>ppt_x</p:attrName>
                          <p:attrName>ppt_y</p:attrName>
                        </p:attrNameLst>
                      </p:cBhvr>
                      <p:rCtr x="-1185" y="0"/>
                    </p:animMotion>
                  </p:childTnLst>
                </p:cTn>
              </p:par>
            </p:tnLst>
          </p:tmpl>
          <p:tmpl lvl="3">
            <p:tnLst>
              <p:par>
                <p:cTn presetID="42" presetClass="path" presetSubtype="0" accel="50000" decel="50000" fill="hold" nodeType="withEffect">
                  <p:stCondLst>
                    <p:cond delay="1000"/>
                  </p:stCondLst>
                  <p:childTnLst>
                    <p:animMotion origin="layout" path="M 0.04479 0.00856 L 0.02903 0.00856 " pathEditMode="relative" rAng="0" ptsTypes="AA">
                      <p:cBhvr>
                        <p:cTn dur="900" fill="hold"/>
                        <p:tgtEl>
                          <p:spTgt spid="8"/>
                        </p:tgtEl>
                        <p:attrNameLst>
                          <p:attrName>ppt_x</p:attrName>
                          <p:attrName>ppt_y</p:attrName>
                        </p:attrNameLst>
                      </p:cBhvr>
                      <p:rCtr x="-794" y="0"/>
                    </p:animMotion>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Content and 2 Objects">
    <p:spTree>
      <p:nvGrpSpPr>
        <p:cNvPr id="1" name=""/>
        <p:cNvGrpSpPr/>
        <p:nvPr/>
      </p:nvGrpSpPr>
      <p:grpSpPr>
        <a:xfrm>
          <a:off x="0" y="0"/>
          <a:ext cx="0" cy="0"/>
          <a:chOff x="0" y="0"/>
          <a:chExt cx="0" cy="0"/>
        </a:xfrm>
      </p:grpSpPr>
      <p:sp>
        <p:nvSpPr>
          <p:cNvPr id="2" name="Title 1"/>
          <p:cNvSpPr>
            <a:spLocks noGrp="1"/>
          </p:cNvSpPr>
          <p:nvPr>
            <p:ph type="title"/>
          </p:nvPr>
        </p:nvSpPr>
        <p:spPr>
          <a:xfrm>
            <a:off x="431371" y="260648"/>
            <a:ext cx="8640960" cy="778098"/>
          </a:xfrm>
          <a:prstGeom prst="rect">
            <a:avLst/>
          </a:prstGeom>
        </p:spPr>
        <p:txBody>
          <a:bodyPr anchor="ctr"/>
          <a:lstStyle>
            <a:lvl1pPr>
              <a:defRPr b="1">
                <a:solidFill>
                  <a:schemeClr val="tx1"/>
                </a:solidFill>
                <a:latin typeface="Segoe UI Light" pitchFamily="34" charset="0"/>
              </a:defRPr>
            </a:lvl1pPr>
          </a:lstStyle>
          <a:p>
            <a:r>
              <a:rPr lang="en-US" dirty="0"/>
              <a:t>Click to edit Master title style</a:t>
            </a:r>
            <a:endParaRPr lang="en-GB" dirty="0"/>
          </a:p>
        </p:txBody>
      </p:sp>
      <p:sp>
        <p:nvSpPr>
          <p:cNvPr id="6" name="Content Placeholder 2"/>
          <p:cNvSpPr>
            <a:spLocks noGrp="1"/>
          </p:cNvSpPr>
          <p:nvPr>
            <p:ph idx="10"/>
          </p:nvPr>
        </p:nvSpPr>
        <p:spPr>
          <a:xfrm flipH="1">
            <a:off x="8304245" y="1628800"/>
            <a:ext cx="3552395" cy="2160240"/>
          </a:xfrm>
          <a:prstGeom prst="rect">
            <a:avLst/>
          </a:prstGeom>
          <a:solidFill>
            <a:schemeClr val="tx1">
              <a:lumMod val="95000"/>
              <a:lumOff val="5000"/>
              <a:alpha val="54000"/>
            </a:schemeClr>
          </a:solidFill>
        </p:spPr>
        <p:txBody>
          <a:bodyPr anchor="b"/>
          <a:lstStyle>
            <a:lvl1pPr marL="0" indent="0">
              <a:buClr>
                <a:schemeClr val="tx1"/>
              </a:buClr>
              <a:buFontTx/>
              <a:buNone/>
              <a:defRPr sz="2800">
                <a:latin typeface="Segoe UI Light" pitchFamily="34" charset="0"/>
              </a:defRPr>
            </a:lvl1pPr>
            <a:lvl2pPr marL="254250" indent="0">
              <a:buClr>
                <a:schemeClr val="tx1"/>
              </a:buClr>
              <a:buFontTx/>
              <a:buNone/>
              <a:defRPr>
                <a:solidFill>
                  <a:schemeClr val="bg1">
                    <a:lumMod val="7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a:t>Click to edit Master text styles</a:t>
            </a:r>
          </a:p>
        </p:txBody>
      </p:sp>
      <p:sp>
        <p:nvSpPr>
          <p:cNvPr id="10" name="Content Placeholder 2"/>
          <p:cNvSpPr>
            <a:spLocks noGrp="1"/>
          </p:cNvSpPr>
          <p:nvPr>
            <p:ph idx="11"/>
          </p:nvPr>
        </p:nvSpPr>
        <p:spPr>
          <a:xfrm flipH="1">
            <a:off x="8304245" y="3933056"/>
            <a:ext cx="3552395" cy="2160240"/>
          </a:xfrm>
          <a:prstGeom prst="rect">
            <a:avLst/>
          </a:prstGeom>
          <a:solidFill>
            <a:schemeClr val="tx1">
              <a:lumMod val="95000"/>
              <a:lumOff val="5000"/>
              <a:alpha val="54000"/>
            </a:schemeClr>
          </a:solidFill>
        </p:spPr>
        <p:txBody>
          <a:bodyPr anchor="b"/>
          <a:lstStyle>
            <a:lvl1pPr marL="0" indent="0">
              <a:buClr>
                <a:schemeClr val="tx1"/>
              </a:buClr>
              <a:buFontTx/>
              <a:buNone/>
              <a:defRPr sz="2800">
                <a:latin typeface="Segoe UI Light" pitchFamily="34" charset="0"/>
              </a:defRPr>
            </a:lvl1pPr>
            <a:lvl2pPr marL="254250" indent="0">
              <a:buClr>
                <a:schemeClr val="tx1"/>
              </a:buClr>
              <a:buFontTx/>
              <a:buNone/>
              <a:defRPr>
                <a:solidFill>
                  <a:schemeClr val="bg1">
                    <a:lumMod val="7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a:t>Click to edit Master text styles</a:t>
            </a:r>
          </a:p>
        </p:txBody>
      </p:sp>
      <p:sp>
        <p:nvSpPr>
          <p:cNvPr id="11" name="Rectangle 10"/>
          <p:cNvSpPr/>
          <p:nvPr userDrawn="1"/>
        </p:nvSpPr>
        <p:spPr>
          <a:xfrm>
            <a:off x="0" y="260648"/>
            <a:ext cx="239349" cy="792088"/>
          </a:xfrm>
          <a:prstGeom prst="rect">
            <a:avLst/>
          </a:prstGeom>
          <a:solidFill>
            <a:srgbClr val="FA6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Content Placeholder 2"/>
          <p:cNvSpPr>
            <a:spLocks noGrp="1"/>
          </p:cNvSpPr>
          <p:nvPr>
            <p:ph idx="1"/>
          </p:nvPr>
        </p:nvSpPr>
        <p:spPr>
          <a:xfrm>
            <a:off x="767408" y="1628800"/>
            <a:ext cx="7272808" cy="4525963"/>
          </a:xfrm>
          <a:prstGeom prst="rect">
            <a:avLst/>
          </a:prstGeom>
        </p:spPr>
        <p:txBody>
          <a:bodyPr/>
          <a:lstStyle>
            <a:lvl1pPr marL="0" indent="0">
              <a:buClr>
                <a:schemeClr val="tx1"/>
              </a:buClr>
              <a:buFontTx/>
              <a:buNone/>
              <a:defRPr>
                <a:solidFill>
                  <a:schemeClr val="tx1"/>
                </a:solidFill>
                <a:latin typeface="Segoe UI Light" pitchFamily="34" charset="0"/>
              </a:defRPr>
            </a:lvl1pPr>
            <a:lvl2pPr marL="254250" indent="0">
              <a:buClr>
                <a:schemeClr val="tx1"/>
              </a:buClr>
              <a:buFontTx/>
              <a:buNone/>
              <a:defRPr>
                <a:solidFill>
                  <a:schemeClr val="tx1">
                    <a:lumMod val="65000"/>
                    <a:lumOff val="3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8" name="TextBox 7"/>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Tree>
    <p:extLst>
      <p:ext uri="{BB962C8B-B14F-4D97-AF65-F5344CB8AC3E}">
        <p14:creationId xmlns:p14="http://schemas.microsoft.com/office/powerpoint/2010/main" val="3942514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500"/>
                                        <p:tgtEl>
                                          <p:spTgt spid="6">
                                            <p:bg/>
                                          </p:spTgt>
                                        </p:tgtEl>
                                      </p:cBhvr>
                                    </p:animEffect>
                                  </p:childTnLst>
                                </p:cTn>
                              </p:par>
                              <p:par>
                                <p:cTn id="8" presetID="10" presetClass="entr" presetSubtype="0" fill="hold" grpId="0" nodeType="withEffect" nodePh="1">
                                  <p:stCondLst>
                                    <p:cond delay="1000"/>
                                  </p:stCondLst>
                                  <p:endCondLst>
                                    <p:cond evt="begin" delay="0">
                                      <p:tn val="8"/>
                                    </p:cond>
                                  </p:end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par>
                                <p:cTn id="11" presetID="10" presetClass="entr" presetSubtype="0" fill="hold" grpId="0" nodeType="withEffect">
                                  <p:stCondLst>
                                    <p:cond delay="1300"/>
                                  </p:stCondLst>
                                  <p:childTnLst>
                                    <p:set>
                                      <p:cBhvr>
                                        <p:cTn id="12" dur="1" fill="hold">
                                          <p:stCondLst>
                                            <p:cond delay="0"/>
                                          </p:stCondLst>
                                        </p:cTn>
                                        <p:tgtEl>
                                          <p:spTgt spid="10">
                                            <p:bg/>
                                          </p:spTgt>
                                        </p:tgtEl>
                                        <p:attrNameLst>
                                          <p:attrName>style.visibility</p:attrName>
                                        </p:attrNameLst>
                                      </p:cBhvr>
                                      <p:to>
                                        <p:strVal val="visible"/>
                                      </p:to>
                                    </p:set>
                                    <p:animEffect transition="in" filter="fade">
                                      <p:cBhvr>
                                        <p:cTn id="13" dur="500"/>
                                        <p:tgtEl>
                                          <p:spTgt spid="10">
                                            <p:bg/>
                                          </p:spTgt>
                                        </p:tgtEl>
                                      </p:cBhvr>
                                    </p:animEffect>
                                  </p:childTnLst>
                                </p:cTn>
                              </p:par>
                              <p:par>
                                <p:cTn id="14" presetID="10" presetClass="entr" presetSubtype="0" fill="hold" grpId="0" nodeType="withEffect" nodePh="1">
                                  <p:stCondLst>
                                    <p:cond delay="1000"/>
                                  </p:stCondLst>
                                  <p:endCondLst>
                                    <p:cond evt="begin" delay="0">
                                      <p:tn val="14"/>
                                    </p:cond>
                                  </p:endCondLst>
                                  <p:childTnLst>
                                    <p:set>
                                      <p:cBhvr>
                                        <p:cTn id="15" dur="1" fill="hold">
                                          <p:stCondLst>
                                            <p:cond delay="0"/>
                                          </p:stCondLst>
                                        </p:cTn>
                                        <p:tgtEl>
                                          <p:spTgt spid="10">
                                            <p:txEl>
                                              <p:pRg st="0" end="0"/>
                                            </p:txEl>
                                          </p:spTgt>
                                        </p:tgtEl>
                                        <p:attrNameLst>
                                          <p:attrName>style.visibility</p:attrName>
                                        </p:attrNameLst>
                                      </p:cBhvr>
                                      <p:to>
                                        <p:strVal val="visible"/>
                                      </p:to>
                                    </p:set>
                                    <p:animEffect transition="in" filter="fade">
                                      <p:cBhvr>
                                        <p:cTn id="16" dur="500"/>
                                        <p:tgtEl>
                                          <p:spTgt spid="10">
                                            <p:txEl>
                                              <p:pRg st="0" end="0"/>
                                            </p:txEl>
                                          </p:spTgt>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fade">
                                      <p:cBhvr>
                                        <p:cTn id="19" dur="1700"/>
                                        <p:tgtEl>
                                          <p:spTgt spid="7">
                                            <p:txEl>
                                              <p:pRg st="0" end="0"/>
                                            </p:txEl>
                                          </p:spTgt>
                                        </p:tgtEl>
                                      </p:cBhvr>
                                    </p:animEffect>
                                  </p:childTnLst>
                                </p:cTn>
                              </p:par>
                              <p:par>
                                <p:cTn id="20" presetID="10" presetClass="entr" presetSubtype="0" fill="hold" grpId="0" nodeType="withEffect">
                                  <p:stCondLst>
                                    <p:cond delay="90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fade">
                                      <p:cBhvr>
                                        <p:cTn id="22" dur="1700"/>
                                        <p:tgtEl>
                                          <p:spTgt spid="7">
                                            <p:txEl>
                                              <p:pRg st="1" end="1"/>
                                            </p:txEl>
                                          </p:spTgt>
                                        </p:tgtEl>
                                      </p:cBhvr>
                                    </p:animEffect>
                                  </p:childTnLst>
                                </p:cTn>
                              </p:par>
                              <p:par>
                                <p:cTn id="23" presetID="10" presetClass="entr" presetSubtype="0" fill="hold" grpId="0" nodeType="withEffect">
                                  <p:stCondLst>
                                    <p:cond delay="1100"/>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fade">
                                      <p:cBhvr>
                                        <p:cTn id="25" dur="1600"/>
                                        <p:tgtEl>
                                          <p:spTgt spid="7">
                                            <p:txEl>
                                              <p:pRg st="2" end="2"/>
                                            </p:txEl>
                                          </p:spTgt>
                                        </p:tgtEl>
                                      </p:cBhvr>
                                    </p:animEffect>
                                  </p:childTnLst>
                                </p:cTn>
                              </p:par>
                              <p:par>
                                <p:cTn id="26" presetID="42" presetClass="path" presetSubtype="0" accel="50000" decel="50000" fill="hold" grpId="1" nodeType="withEffect">
                                  <p:stCondLst>
                                    <p:cond delay="500"/>
                                  </p:stCondLst>
                                  <p:childTnLst>
                                    <p:animMotion origin="layout" path="M 5.55556E-7 1.85185E-6 L -0.02361 1.85185E-6 " pathEditMode="relative" rAng="0" ptsTypes="AA">
                                      <p:cBhvr>
                                        <p:cTn id="27" dur="1200" fill="hold"/>
                                        <p:tgtEl>
                                          <p:spTgt spid="7">
                                            <p:txEl>
                                              <p:pRg st="0" end="0"/>
                                            </p:txEl>
                                          </p:spTgt>
                                        </p:tgtEl>
                                        <p:attrNameLst>
                                          <p:attrName>ppt_x</p:attrName>
                                          <p:attrName>ppt_y</p:attrName>
                                        </p:attrNameLst>
                                      </p:cBhvr>
                                      <p:rCtr x="-1181" y="0"/>
                                    </p:animMotion>
                                  </p:childTnLst>
                                </p:cTn>
                              </p:par>
                              <p:par>
                                <p:cTn id="28" presetID="42" presetClass="path" presetSubtype="0" accel="50000" decel="50000" fill="hold" grpId="1" nodeType="withEffect">
                                  <p:stCondLst>
                                    <p:cond delay="700"/>
                                  </p:stCondLst>
                                  <p:childTnLst>
                                    <p:animMotion origin="layout" path="M 0.02361 7.40741E-7 L -1.66667E-6 7.40741E-7 " pathEditMode="relative" rAng="0" ptsTypes="AA">
                                      <p:cBhvr>
                                        <p:cTn id="29" dur="1100" fill="hold"/>
                                        <p:tgtEl>
                                          <p:spTgt spid="7">
                                            <p:txEl>
                                              <p:pRg st="1" end="1"/>
                                            </p:txEl>
                                          </p:spTgt>
                                        </p:tgtEl>
                                        <p:attrNameLst>
                                          <p:attrName>ppt_x</p:attrName>
                                          <p:attrName>ppt_y</p:attrName>
                                        </p:attrNameLst>
                                      </p:cBhvr>
                                      <p:rCtr x="-1181" y="0"/>
                                    </p:animMotion>
                                  </p:childTnLst>
                                </p:cTn>
                              </p:par>
                              <p:par>
                                <p:cTn id="30" presetID="42" presetClass="path" presetSubtype="0" accel="50000" decel="50000" fill="hold" grpId="1" nodeType="withEffect">
                                  <p:stCondLst>
                                    <p:cond delay="1000"/>
                                  </p:stCondLst>
                                  <p:childTnLst>
                                    <p:animMotion origin="layout" path="M 0.04479 0.00857 L 0.02899 0.00857 " pathEditMode="relative" rAng="0" ptsTypes="AA">
                                      <p:cBhvr>
                                        <p:cTn id="31" dur="900" fill="hold"/>
                                        <p:tgtEl>
                                          <p:spTgt spid="7">
                                            <p:txEl>
                                              <p:pRg st="2" end="2"/>
                                            </p:txEl>
                                          </p:spTgt>
                                        </p:tgtEl>
                                        <p:attrNameLst>
                                          <p:attrName>ppt_x</p:attrName>
                                          <p:attrName>ppt_y</p:attrName>
                                        </p:attrNameLst>
                                      </p:cBhvr>
                                      <p:rCtr x="-79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tmplLst>
          <p:tmpl>
            <p:tnLst>
              <p:par>
                <p:cTn presetID="10" presetClass="entr" presetSubtype="0" fill="hold" nodeType="withEffect">
                  <p:stCondLst>
                    <p:cond delay="100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 lvl="1">
            <p:tnLst>
              <p:par>
                <p:cTn presetID="10" presetClass="entr" presetSubtype="0" fill="hold" nodeType="withEffect" nodePh="1">
                  <p:stCondLst>
                    <p:cond delay="1000"/>
                  </p:stCondLst>
                  <p:endCondLst>
                    <p:cond delay="0"/>
                  </p:end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10" grpId="0" build="p" animBg="1">
        <p:tmplLst>
          <p:tmpl>
            <p:tnLst>
              <p:par>
                <p:cTn presetID="10" presetClass="entr" presetSubtype="0" fill="hold" nodeType="withEffect">
                  <p:stCondLst>
                    <p:cond delay="13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 lvl="1">
            <p:tnLst>
              <p:par>
                <p:cTn presetID="10" presetClass="entr" presetSubtype="0" fill="hold" nodeType="withEffect" nodePh="1">
                  <p:stCondLst>
                    <p:cond delay="1000"/>
                  </p:stCondLst>
                  <p:endCondLst>
                    <p:cond delay="0"/>
                  </p:end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7" grpId="0" build="p">
        <p:tmplLst>
          <p:tmpl lvl="1">
            <p:tnLst>
              <p:par>
                <p:cTn presetID="10" presetClass="entr" presetSubtype="0" fill="hold" nodeType="withEffect">
                  <p:stCondLst>
                    <p:cond delay="600"/>
                  </p:stCondLst>
                  <p:childTnLst>
                    <p:set>
                      <p:cBhvr>
                        <p:cTn dur="1" fill="hold">
                          <p:stCondLst>
                            <p:cond delay="0"/>
                          </p:stCondLst>
                        </p:cTn>
                        <p:tgtEl>
                          <p:spTgt spid="7"/>
                        </p:tgtEl>
                        <p:attrNameLst>
                          <p:attrName>style.visibility</p:attrName>
                        </p:attrNameLst>
                      </p:cBhvr>
                      <p:to>
                        <p:strVal val="visible"/>
                      </p:to>
                    </p:set>
                    <p:animEffect transition="in" filter="fade">
                      <p:cBhvr>
                        <p:cTn dur="1700"/>
                        <p:tgtEl>
                          <p:spTgt spid="7"/>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7"/>
                        </p:tgtEl>
                        <p:attrNameLst>
                          <p:attrName>style.visibility</p:attrName>
                        </p:attrNameLst>
                      </p:cBhvr>
                      <p:to>
                        <p:strVal val="visible"/>
                      </p:to>
                    </p:set>
                    <p:animEffect transition="in" filter="fade">
                      <p:cBhvr>
                        <p:cTn dur="1700"/>
                        <p:tgtEl>
                          <p:spTgt spid="7"/>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7"/>
                        </p:tgtEl>
                        <p:attrNameLst>
                          <p:attrName>style.visibility</p:attrName>
                        </p:attrNameLst>
                      </p:cBhvr>
                      <p:to>
                        <p:strVal val="visible"/>
                      </p:to>
                    </p:set>
                    <p:animEffect transition="in" filter="fade">
                      <p:cBhvr>
                        <p:cTn dur="1600"/>
                        <p:tgtEl>
                          <p:spTgt spid="7"/>
                        </p:tgtEl>
                      </p:cBhvr>
                    </p:animEffect>
                  </p:childTnLst>
                </p:cTn>
              </p:par>
            </p:tnLst>
          </p:tmpl>
        </p:tmplLst>
      </p:bldP>
      <p:bldP spid="7" grpId="1" build="p">
        <p:tmplLst>
          <p:tmpl lvl="1">
            <p:tnLst>
              <p:par>
                <p:cTn presetID="42" presetClass="path" presetSubtype="0" accel="50000" decel="50000" fill="hold" nodeType="withEffect">
                  <p:stCondLst>
                    <p:cond delay="500"/>
                  </p:stCondLst>
                  <p:childTnLst>
                    <p:animMotion origin="layout" path="M 5.55556E-7 1.85185E-6 L -0.02361 1.85185E-6 " pathEditMode="relative" rAng="0" ptsTypes="AA">
                      <p:cBhvr>
                        <p:cTn dur="1200" fill="hold"/>
                        <p:tgtEl>
                          <p:spTgt spid="7"/>
                        </p:tgtEl>
                        <p:attrNameLst>
                          <p:attrName>ppt_x</p:attrName>
                          <p:attrName>ppt_y</p:attrName>
                        </p:attrNameLst>
                      </p:cBhvr>
                      <p:rCtr x="-1181" y="0"/>
                    </p:animMotion>
                  </p:childTnLst>
                </p:cTn>
              </p:par>
            </p:tnLst>
          </p:tmpl>
          <p:tmpl lvl="2">
            <p:tnLst>
              <p:par>
                <p:cTn presetID="42" presetClass="path" presetSubtype="0" accel="50000" decel="50000" fill="hold" nodeType="withEffect">
                  <p:stCondLst>
                    <p:cond delay="700"/>
                  </p:stCondLst>
                  <p:childTnLst>
                    <p:animMotion origin="layout" path="M 0.02361 7.40741E-7 L -1.66667E-6 7.40741E-7 " pathEditMode="relative" rAng="0" ptsTypes="AA">
                      <p:cBhvr>
                        <p:cTn dur="1100" fill="hold"/>
                        <p:tgtEl>
                          <p:spTgt spid="7"/>
                        </p:tgtEl>
                        <p:attrNameLst>
                          <p:attrName>ppt_x</p:attrName>
                          <p:attrName>ppt_y</p:attrName>
                        </p:attrNameLst>
                      </p:cBhvr>
                      <p:rCtr x="-1181" y="0"/>
                    </p:animMotion>
                  </p:childTnLst>
                </p:cTn>
              </p:par>
            </p:tnLst>
          </p:tmpl>
          <p:tmpl lvl="3">
            <p:tnLst>
              <p:par>
                <p:cTn presetID="42" presetClass="path" presetSubtype="0" accel="50000" decel="50000" fill="hold" nodeType="withEffect">
                  <p:stCondLst>
                    <p:cond delay="1000"/>
                  </p:stCondLst>
                  <p:childTnLst>
                    <p:animMotion origin="layout" path="M 0.04479 0.00857 L 0.02899 0.00857 " pathEditMode="relative" rAng="0" ptsTypes="AA">
                      <p:cBhvr>
                        <p:cTn dur="900" fill="hold"/>
                        <p:tgtEl>
                          <p:spTgt spid="7"/>
                        </p:tgtEl>
                        <p:attrNameLst>
                          <p:attrName>ppt_x</p:attrName>
                          <p:attrName>ppt_y</p:attrName>
                        </p:attrNameLst>
                      </p:cBhvr>
                      <p:rCtr x="-799" y="0"/>
                    </p:animMotion>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p:bg>
      <p:bgPr>
        <a:solidFill>
          <a:srgbClr val="60A917"/>
        </a:soli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58977" y="2857500"/>
            <a:ext cx="10972800" cy="1143000"/>
          </a:xfrm>
          <a:prstGeom prst="rect">
            <a:avLst/>
          </a:prstGeom>
        </p:spPr>
        <p:txBody>
          <a:bodyPr anchor="ctr"/>
          <a:lstStyle>
            <a:lvl1pPr algn="ctr">
              <a:defRPr sz="4400">
                <a:latin typeface="Segoe UI Light" pitchFamily="34" charset="0"/>
              </a:defRPr>
            </a:lvl1pPr>
          </a:lstStyle>
          <a:p>
            <a:r>
              <a:rPr lang="en-US" dirty="0"/>
              <a:t>Add section title</a:t>
            </a:r>
            <a:endParaRPr lang="en-GB" dirty="0"/>
          </a:p>
        </p:txBody>
      </p:sp>
    </p:spTree>
    <p:extLst>
      <p:ext uri="{BB962C8B-B14F-4D97-AF65-F5344CB8AC3E}">
        <p14:creationId xmlns:p14="http://schemas.microsoft.com/office/powerpoint/2010/main" val="2278104042"/>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9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6" name="Rectangle 5"/>
          <p:cNvSpPr/>
          <p:nvPr userDrawn="1"/>
        </p:nvSpPr>
        <p:spPr>
          <a:xfrm>
            <a:off x="0" y="260648"/>
            <a:ext cx="239349" cy="792088"/>
          </a:xfrm>
          <a:prstGeom prst="rect">
            <a:avLst/>
          </a:prstGeom>
          <a:solidFill>
            <a:srgbClr val="60A9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Title 1"/>
          <p:cNvSpPr>
            <a:spLocks noGrp="1"/>
          </p:cNvSpPr>
          <p:nvPr>
            <p:ph type="title"/>
          </p:nvPr>
        </p:nvSpPr>
        <p:spPr>
          <a:xfrm>
            <a:off x="431371" y="260648"/>
            <a:ext cx="8640960" cy="778098"/>
          </a:xfrm>
          <a:prstGeom prst="rect">
            <a:avLst/>
          </a:prstGeom>
        </p:spPr>
        <p:txBody>
          <a:bodyPr anchor="ctr"/>
          <a:lstStyle>
            <a:lvl1pPr>
              <a:defRPr b="1">
                <a:solidFill>
                  <a:schemeClr val="tx1"/>
                </a:solidFill>
                <a:latin typeface="Segoe UI Light" pitchFamily="34" charset="0"/>
              </a:defRPr>
            </a:lvl1pPr>
          </a:lstStyle>
          <a:p>
            <a:r>
              <a:rPr lang="en-US" dirty="0"/>
              <a:t>Click to edit Master title style</a:t>
            </a:r>
            <a:endParaRPr lang="en-GB" dirty="0"/>
          </a:p>
        </p:txBody>
      </p:sp>
      <p:sp>
        <p:nvSpPr>
          <p:cNvPr id="8" name="Content Placeholder 2"/>
          <p:cNvSpPr>
            <a:spLocks noGrp="1"/>
          </p:cNvSpPr>
          <p:nvPr>
            <p:ph idx="1"/>
          </p:nvPr>
        </p:nvSpPr>
        <p:spPr>
          <a:xfrm>
            <a:off x="767408" y="1340768"/>
            <a:ext cx="10828784" cy="4813995"/>
          </a:xfrm>
          <a:prstGeom prst="rect">
            <a:avLst/>
          </a:prstGeom>
        </p:spPr>
        <p:txBody>
          <a:bodyPr/>
          <a:lstStyle>
            <a:lvl1pPr marL="0" indent="0">
              <a:buClr>
                <a:schemeClr val="tx1"/>
              </a:buClr>
              <a:buFontTx/>
              <a:buNone/>
              <a:defRPr sz="2400">
                <a:solidFill>
                  <a:schemeClr val="tx1"/>
                </a:solidFill>
                <a:latin typeface="Segoe UI Light" pitchFamily="34" charset="0"/>
              </a:defRPr>
            </a:lvl1pPr>
            <a:lvl2pPr marL="254250" indent="0">
              <a:buClr>
                <a:schemeClr val="tx1"/>
              </a:buClr>
              <a:buFontTx/>
              <a:buNone/>
              <a:defRPr sz="2400">
                <a:solidFill>
                  <a:schemeClr val="tx1">
                    <a:lumMod val="65000"/>
                    <a:lumOff val="35000"/>
                  </a:schemeClr>
                </a:solidFill>
                <a:latin typeface="Segoe UI Light" pitchFamily="34" charset="0"/>
              </a:defRPr>
            </a:lvl2pPr>
            <a:lvl3pPr marL="491400" indent="0">
              <a:buClr>
                <a:schemeClr val="tx1"/>
              </a:buClr>
              <a:buFontTx/>
              <a:buNone/>
              <a:defRPr sz="2400">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5" name="TextBox 4"/>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Tree>
    <p:extLst>
      <p:ext uri="{BB962C8B-B14F-4D97-AF65-F5344CB8AC3E}">
        <p14:creationId xmlns:p14="http://schemas.microsoft.com/office/powerpoint/2010/main" val="3072301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700"/>
                                        <p:tgtEl>
                                          <p:spTgt spid="8">
                                            <p:txEl>
                                              <p:pRg st="0" end="0"/>
                                            </p:txEl>
                                          </p:spTgt>
                                        </p:tgtEl>
                                      </p:cBhvr>
                                    </p:animEffect>
                                  </p:childTnLst>
                                </p:cTn>
                              </p:par>
                              <p:par>
                                <p:cTn id="8" presetID="10" presetClass="entr" presetSubtype="0" fill="hold" grpId="0" nodeType="withEffect">
                                  <p:stCondLst>
                                    <p:cond delay="90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1700"/>
                                        <p:tgtEl>
                                          <p:spTgt spid="8">
                                            <p:txEl>
                                              <p:pRg st="1" end="1"/>
                                            </p:txEl>
                                          </p:spTgt>
                                        </p:tgtEl>
                                      </p:cBhvr>
                                    </p:animEffect>
                                  </p:childTnLst>
                                </p:cTn>
                              </p:par>
                              <p:par>
                                <p:cTn id="11" presetID="10" presetClass="entr" presetSubtype="0" fill="hold" grpId="0" nodeType="withEffect">
                                  <p:stCondLst>
                                    <p:cond delay="110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1600"/>
                                        <p:tgtEl>
                                          <p:spTgt spid="8">
                                            <p:txEl>
                                              <p:pRg st="2" end="2"/>
                                            </p:txEl>
                                          </p:spTgt>
                                        </p:tgtEl>
                                      </p:cBhvr>
                                    </p:animEffect>
                                  </p:childTnLst>
                                </p:cTn>
                              </p:par>
                              <p:par>
                                <p:cTn id="14" presetID="42" presetClass="path" presetSubtype="0" accel="50000" decel="50000" fill="hold" grpId="1" nodeType="withEffect">
                                  <p:stCondLst>
                                    <p:cond delay="500"/>
                                  </p:stCondLst>
                                  <p:childTnLst>
                                    <p:animMotion origin="layout" path="M -4.79167E-6 -3.33333E-6 L -0.02356 -3.33333E-6 " pathEditMode="relative" rAng="0" ptsTypes="AA">
                                      <p:cBhvr>
                                        <p:cTn id="15" dur="1200" fill="hold"/>
                                        <p:tgtEl>
                                          <p:spTgt spid="8">
                                            <p:txEl>
                                              <p:pRg st="0" end="0"/>
                                            </p:txEl>
                                          </p:spTgt>
                                        </p:tgtEl>
                                        <p:attrNameLst>
                                          <p:attrName>ppt_x</p:attrName>
                                          <p:attrName>ppt_y</p:attrName>
                                        </p:attrNameLst>
                                      </p:cBhvr>
                                      <p:rCtr x="-1185" y="0"/>
                                    </p:animMotion>
                                  </p:childTnLst>
                                </p:cTn>
                              </p:par>
                              <p:par>
                                <p:cTn id="16" presetID="42" presetClass="path" presetSubtype="0" accel="50000" decel="50000" fill="hold" grpId="1" nodeType="withEffect">
                                  <p:stCondLst>
                                    <p:cond delay="700"/>
                                  </p:stCondLst>
                                  <p:childTnLst>
                                    <p:animMotion origin="layout" path="M 0.02356 1.85185E-6 L 3.54167E-6 1.85185E-6 " pathEditMode="relative" rAng="0" ptsTypes="AA">
                                      <p:cBhvr>
                                        <p:cTn id="17" dur="1100" fill="hold"/>
                                        <p:tgtEl>
                                          <p:spTgt spid="8">
                                            <p:txEl>
                                              <p:pRg st="1" end="1"/>
                                            </p:txEl>
                                          </p:spTgt>
                                        </p:tgtEl>
                                        <p:attrNameLst>
                                          <p:attrName>ppt_x</p:attrName>
                                          <p:attrName>ppt_y</p:attrName>
                                        </p:attrNameLst>
                                      </p:cBhvr>
                                      <p:rCtr x="-1185" y="0"/>
                                    </p:animMotion>
                                  </p:childTnLst>
                                </p:cTn>
                              </p:par>
                              <p:par>
                                <p:cTn id="18" presetID="42" presetClass="path" presetSubtype="0" accel="50000" decel="50000" fill="hold" grpId="1" nodeType="withEffect">
                                  <p:stCondLst>
                                    <p:cond delay="1000"/>
                                  </p:stCondLst>
                                  <p:childTnLst>
                                    <p:animMotion origin="layout" path="M 0.04479 0.00856 L 0.02903 0.00856 " pathEditMode="relative" rAng="0" ptsTypes="AA">
                                      <p:cBhvr>
                                        <p:cTn id="19" dur="900" fill="hold"/>
                                        <p:tgtEl>
                                          <p:spTgt spid="8">
                                            <p:txEl>
                                              <p:pRg st="2" end="2"/>
                                            </p:txEl>
                                          </p:spTgt>
                                        </p:tgtEl>
                                        <p:attrNameLst>
                                          <p:attrName>ppt_x</p:attrName>
                                          <p:attrName>ppt_y</p:attrName>
                                        </p:attrNameLst>
                                      </p:cBhvr>
                                      <p:rCtr x="-7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6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8"/>
                        </p:tgtEl>
                        <p:attrNameLst>
                          <p:attrName>style.visibility</p:attrName>
                        </p:attrNameLst>
                      </p:cBhvr>
                      <p:to>
                        <p:strVal val="visible"/>
                      </p:to>
                    </p:set>
                    <p:animEffect transition="in" filter="fade">
                      <p:cBhvr>
                        <p:cTn dur="1600"/>
                        <p:tgtEl>
                          <p:spTgt spid="8"/>
                        </p:tgtEl>
                      </p:cBhvr>
                    </p:animEffect>
                  </p:childTnLst>
                </p:cTn>
              </p:par>
            </p:tnLst>
          </p:tmpl>
        </p:tmplLst>
      </p:bldP>
      <p:bldP spid="8" grpId="1" build="p">
        <p:tmplLst>
          <p:tmpl lvl="1">
            <p:tnLst>
              <p:par>
                <p:cTn presetID="42" presetClass="path" presetSubtype="0" accel="50000" decel="50000" fill="hold" nodeType="withEffect">
                  <p:stCondLst>
                    <p:cond delay="500"/>
                  </p:stCondLst>
                  <p:childTnLst>
                    <p:animMotion origin="layout" path="M -4.79167E-6 -3.33333E-6 L -0.02356 -3.33333E-6 " pathEditMode="relative" rAng="0" ptsTypes="AA">
                      <p:cBhvr>
                        <p:cTn dur="1200" fill="hold"/>
                        <p:tgtEl>
                          <p:spTgt spid="8"/>
                        </p:tgtEl>
                        <p:attrNameLst>
                          <p:attrName>ppt_x</p:attrName>
                          <p:attrName>ppt_y</p:attrName>
                        </p:attrNameLst>
                      </p:cBhvr>
                      <p:rCtr x="-1185" y="0"/>
                    </p:animMotion>
                  </p:childTnLst>
                </p:cTn>
              </p:par>
            </p:tnLst>
          </p:tmpl>
          <p:tmpl lvl="2">
            <p:tnLst>
              <p:par>
                <p:cTn presetID="42" presetClass="path" presetSubtype="0" accel="50000" decel="50000" fill="hold" nodeType="withEffect">
                  <p:stCondLst>
                    <p:cond delay="700"/>
                  </p:stCondLst>
                  <p:childTnLst>
                    <p:animMotion origin="layout" path="M 0.02356 1.85185E-6 L 3.54167E-6 1.85185E-6 " pathEditMode="relative" rAng="0" ptsTypes="AA">
                      <p:cBhvr>
                        <p:cTn dur="1100" fill="hold"/>
                        <p:tgtEl>
                          <p:spTgt spid="8"/>
                        </p:tgtEl>
                        <p:attrNameLst>
                          <p:attrName>ppt_x</p:attrName>
                          <p:attrName>ppt_y</p:attrName>
                        </p:attrNameLst>
                      </p:cBhvr>
                      <p:rCtr x="-1185" y="0"/>
                    </p:animMotion>
                  </p:childTnLst>
                </p:cTn>
              </p:par>
            </p:tnLst>
          </p:tmpl>
          <p:tmpl lvl="3">
            <p:tnLst>
              <p:par>
                <p:cTn presetID="42" presetClass="path" presetSubtype="0" accel="50000" decel="50000" fill="hold" nodeType="withEffect">
                  <p:stCondLst>
                    <p:cond delay="1000"/>
                  </p:stCondLst>
                  <p:childTnLst>
                    <p:animMotion origin="layout" path="M 0.04479 0.00856 L 0.02903 0.00856 " pathEditMode="relative" rAng="0" ptsTypes="AA">
                      <p:cBhvr>
                        <p:cTn dur="900" fill="hold"/>
                        <p:tgtEl>
                          <p:spTgt spid="8"/>
                        </p:tgtEl>
                        <p:attrNameLst>
                          <p:attrName>ppt_x</p:attrName>
                          <p:attrName>ppt_y</p:attrName>
                        </p:attrNameLst>
                      </p:cBhvr>
                      <p:rCtr x="-794" y="0"/>
                    </p:animMotion>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6" name="Rectangle 5"/>
          <p:cNvSpPr/>
          <p:nvPr userDrawn="1"/>
        </p:nvSpPr>
        <p:spPr>
          <a:xfrm>
            <a:off x="0" y="260648"/>
            <a:ext cx="239349" cy="792088"/>
          </a:xfrm>
          <a:prstGeom prst="rect">
            <a:avLst/>
          </a:prstGeom>
          <a:solidFill>
            <a:srgbClr val="60A9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Title 1"/>
          <p:cNvSpPr>
            <a:spLocks noGrp="1"/>
          </p:cNvSpPr>
          <p:nvPr>
            <p:ph type="title"/>
          </p:nvPr>
        </p:nvSpPr>
        <p:spPr>
          <a:xfrm>
            <a:off x="431370" y="260648"/>
            <a:ext cx="11160165" cy="288032"/>
          </a:xfrm>
          <a:prstGeom prst="rect">
            <a:avLst/>
          </a:prstGeom>
        </p:spPr>
        <p:txBody>
          <a:bodyPr anchor="ctr"/>
          <a:lstStyle>
            <a:lvl1pPr>
              <a:defRPr sz="2000" b="1">
                <a:solidFill>
                  <a:schemeClr val="tx1">
                    <a:lumMod val="50000"/>
                    <a:lumOff val="50000"/>
                  </a:schemeClr>
                </a:solidFill>
                <a:latin typeface="Segoe UI Light" pitchFamily="34" charset="0"/>
              </a:defRPr>
            </a:lvl1pPr>
          </a:lstStyle>
          <a:p>
            <a:r>
              <a:rPr lang="en-US" dirty="0"/>
              <a:t>Click to edit Master title style</a:t>
            </a:r>
            <a:endParaRPr lang="en-GB" dirty="0"/>
          </a:p>
        </p:txBody>
      </p:sp>
      <p:sp>
        <p:nvSpPr>
          <p:cNvPr id="8" name="Content Placeholder 2"/>
          <p:cNvSpPr>
            <a:spLocks noGrp="1"/>
          </p:cNvSpPr>
          <p:nvPr>
            <p:ph idx="1"/>
          </p:nvPr>
        </p:nvSpPr>
        <p:spPr>
          <a:xfrm>
            <a:off x="767408" y="1340768"/>
            <a:ext cx="10828784" cy="4813995"/>
          </a:xfrm>
          <a:prstGeom prst="rect">
            <a:avLst/>
          </a:prstGeom>
        </p:spPr>
        <p:txBody>
          <a:bodyPr/>
          <a:lstStyle>
            <a:lvl1pPr marL="0" indent="0">
              <a:buClr>
                <a:schemeClr val="tx1"/>
              </a:buClr>
              <a:buFontTx/>
              <a:buNone/>
              <a:defRPr sz="2400">
                <a:solidFill>
                  <a:schemeClr val="tx1"/>
                </a:solidFill>
                <a:latin typeface="Segoe UI Light" pitchFamily="34" charset="0"/>
              </a:defRPr>
            </a:lvl1pPr>
            <a:lvl2pPr marL="254250" indent="0">
              <a:buClr>
                <a:schemeClr val="tx1"/>
              </a:buClr>
              <a:buFontTx/>
              <a:buNone/>
              <a:defRPr sz="2400">
                <a:solidFill>
                  <a:schemeClr val="tx1">
                    <a:lumMod val="65000"/>
                    <a:lumOff val="35000"/>
                  </a:schemeClr>
                </a:solidFill>
                <a:latin typeface="Segoe UI Light" pitchFamily="34" charset="0"/>
              </a:defRPr>
            </a:lvl2pPr>
            <a:lvl3pPr marL="491400" indent="0">
              <a:buClr>
                <a:schemeClr val="tx1"/>
              </a:buClr>
              <a:buFontTx/>
              <a:buNone/>
              <a:defRPr sz="2400">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
        <p:nvSpPr>
          <p:cNvPr id="4" name="Text Placeholder 3"/>
          <p:cNvSpPr>
            <a:spLocks noGrp="1"/>
          </p:cNvSpPr>
          <p:nvPr>
            <p:ph type="body" sz="quarter" idx="10"/>
          </p:nvPr>
        </p:nvSpPr>
        <p:spPr>
          <a:xfrm>
            <a:off x="431370" y="597637"/>
            <a:ext cx="11160166" cy="432048"/>
          </a:xfrm>
          <a:prstGeom prst="rect">
            <a:avLst/>
          </a:prstGeom>
        </p:spPr>
        <p:txBody>
          <a:bodyPr/>
          <a:lstStyle>
            <a:lvl1pPr marL="0" indent="0">
              <a:buNone/>
              <a:defRPr sz="3200" b="1">
                <a:solidFill>
                  <a:schemeClr val="tx1"/>
                </a:solidFill>
                <a:latin typeface="Segoe UI Light" panose="020B0502040204020203" pitchFamily="34" charset="0"/>
                <a:ea typeface="Segoe UI Historic" panose="020B0502040204020203" pitchFamily="34" charset="0"/>
                <a:cs typeface="Segoe UI Light" panose="020B0502040204020203" pitchFamily="34" charset="0"/>
              </a:defRPr>
            </a:lvl1pPr>
          </a:lstStyle>
          <a:p>
            <a:pPr lvl="0"/>
            <a:endParaRPr lang="en-US" dirty="0"/>
          </a:p>
        </p:txBody>
      </p:sp>
    </p:spTree>
    <p:extLst>
      <p:ext uri="{BB962C8B-B14F-4D97-AF65-F5344CB8AC3E}">
        <p14:creationId xmlns:p14="http://schemas.microsoft.com/office/powerpoint/2010/main" val="1002030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700"/>
                                        <p:tgtEl>
                                          <p:spTgt spid="8">
                                            <p:txEl>
                                              <p:pRg st="0" end="0"/>
                                            </p:txEl>
                                          </p:spTgt>
                                        </p:tgtEl>
                                      </p:cBhvr>
                                    </p:animEffect>
                                  </p:childTnLst>
                                </p:cTn>
                              </p:par>
                              <p:par>
                                <p:cTn id="8" presetID="10" presetClass="entr" presetSubtype="0" fill="hold" grpId="0" nodeType="withEffect">
                                  <p:stCondLst>
                                    <p:cond delay="90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1700"/>
                                        <p:tgtEl>
                                          <p:spTgt spid="8">
                                            <p:txEl>
                                              <p:pRg st="1" end="1"/>
                                            </p:txEl>
                                          </p:spTgt>
                                        </p:tgtEl>
                                      </p:cBhvr>
                                    </p:animEffect>
                                  </p:childTnLst>
                                </p:cTn>
                              </p:par>
                              <p:par>
                                <p:cTn id="11" presetID="10" presetClass="entr" presetSubtype="0" fill="hold" grpId="0" nodeType="withEffect">
                                  <p:stCondLst>
                                    <p:cond delay="110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1600"/>
                                        <p:tgtEl>
                                          <p:spTgt spid="8">
                                            <p:txEl>
                                              <p:pRg st="2" end="2"/>
                                            </p:txEl>
                                          </p:spTgt>
                                        </p:tgtEl>
                                      </p:cBhvr>
                                    </p:animEffect>
                                  </p:childTnLst>
                                </p:cTn>
                              </p:par>
                              <p:par>
                                <p:cTn id="14" presetID="42" presetClass="path" presetSubtype="0" accel="50000" decel="50000" fill="hold" grpId="1" nodeType="withEffect">
                                  <p:stCondLst>
                                    <p:cond delay="500"/>
                                  </p:stCondLst>
                                  <p:childTnLst>
                                    <p:animMotion origin="layout" path="M -4.79167E-6 -3.33333E-6 L -0.02356 -3.33333E-6 " pathEditMode="relative" rAng="0" ptsTypes="AA">
                                      <p:cBhvr>
                                        <p:cTn id="15" dur="1200" fill="hold"/>
                                        <p:tgtEl>
                                          <p:spTgt spid="8">
                                            <p:txEl>
                                              <p:pRg st="0" end="0"/>
                                            </p:txEl>
                                          </p:spTgt>
                                        </p:tgtEl>
                                        <p:attrNameLst>
                                          <p:attrName>ppt_x</p:attrName>
                                          <p:attrName>ppt_y</p:attrName>
                                        </p:attrNameLst>
                                      </p:cBhvr>
                                      <p:rCtr x="-1185" y="0"/>
                                    </p:animMotion>
                                  </p:childTnLst>
                                </p:cTn>
                              </p:par>
                              <p:par>
                                <p:cTn id="16" presetID="42" presetClass="path" presetSubtype="0" accel="50000" decel="50000" fill="hold" grpId="1" nodeType="withEffect">
                                  <p:stCondLst>
                                    <p:cond delay="700"/>
                                  </p:stCondLst>
                                  <p:childTnLst>
                                    <p:animMotion origin="layout" path="M 0.02356 1.85185E-6 L 3.54167E-6 1.85185E-6 " pathEditMode="relative" rAng="0" ptsTypes="AA">
                                      <p:cBhvr>
                                        <p:cTn id="17" dur="1100" fill="hold"/>
                                        <p:tgtEl>
                                          <p:spTgt spid="8">
                                            <p:txEl>
                                              <p:pRg st="1" end="1"/>
                                            </p:txEl>
                                          </p:spTgt>
                                        </p:tgtEl>
                                        <p:attrNameLst>
                                          <p:attrName>ppt_x</p:attrName>
                                          <p:attrName>ppt_y</p:attrName>
                                        </p:attrNameLst>
                                      </p:cBhvr>
                                      <p:rCtr x="-1185" y="0"/>
                                    </p:animMotion>
                                  </p:childTnLst>
                                </p:cTn>
                              </p:par>
                              <p:par>
                                <p:cTn id="18" presetID="42" presetClass="path" presetSubtype="0" accel="50000" decel="50000" fill="hold" grpId="1" nodeType="withEffect">
                                  <p:stCondLst>
                                    <p:cond delay="1000"/>
                                  </p:stCondLst>
                                  <p:childTnLst>
                                    <p:animMotion origin="layout" path="M 0.04479 0.00856 L 0.02903 0.00856 " pathEditMode="relative" rAng="0" ptsTypes="AA">
                                      <p:cBhvr>
                                        <p:cTn id="19" dur="900" fill="hold"/>
                                        <p:tgtEl>
                                          <p:spTgt spid="8">
                                            <p:txEl>
                                              <p:pRg st="2" end="2"/>
                                            </p:txEl>
                                          </p:spTgt>
                                        </p:tgtEl>
                                        <p:attrNameLst>
                                          <p:attrName>ppt_x</p:attrName>
                                          <p:attrName>ppt_y</p:attrName>
                                        </p:attrNameLst>
                                      </p:cBhvr>
                                      <p:rCtr x="-7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6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8"/>
                        </p:tgtEl>
                        <p:attrNameLst>
                          <p:attrName>style.visibility</p:attrName>
                        </p:attrNameLst>
                      </p:cBhvr>
                      <p:to>
                        <p:strVal val="visible"/>
                      </p:to>
                    </p:set>
                    <p:animEffect transition="in" filter="fade">
                      <p:cBhvr>
                        <p:cTn dur="1600"/>
                        <p:tgtEl>
                          <p:spTgt spid="8"/>
                        </p:tgtEl>
                      </p:cBhvr>
                    </p:animEffect>
                  </p:childTnLst>
                </p:cTn>
              </p:par>
            </p:tnLst>
          </p:tmpl>
        </p:tmplLst>
      </p:bldP>
      <p:bldP spid="8" grpId="1" build="p">
        <p:tmplLst>
          <p:tmpl lvl="1">
            <p:tnLst>
              <p:par>
                <p:cTn presetID="42" presetClass="path" presetSubtype="0" accel="50000" decel="50000" fill="hold" nodeType="withEffect">
                  <p:stCondLst>
                    <p:cond delay="500"/>
                  </p:stCondLst>
                  <p:childTnLst>
                    <p:animMotion origin="layout" path="M -4.79167E-6 -3.33333E-6 L -0.02356 -3.33333E-6 " pathEditMode="relative" rAng="0" ptsTypes="AA">
                      <p:cBhvr>
                        <p:cTn dur="1200" fill="hold"/>
                        <p:tgtEl>
                          <p:spTgt spid="8"/>
                        </p:tgtEl>
                        <p:attrNameLst>
                          <p:attrName>ppt_x</p:attrName>
                          <p:attrName>ppt_y</p:attrName>
                        </p:attrNameLst>
                      </p:cBhvr>
                      <p:rCtr x="-1185" y="0"/>
                    </p:animMotion>
                  </p:childTnLst>
                </p:cTn>
              </p:par>
            </p:tnLst>
          </p:tmpl>
          <p:tmpl lvl="2">
            <p:tnLst>
              <p:par>
                <p:cTn presetID="42" presetClass="path" presetSubtype="0" accel="50000" decel="50000" fill="hold" nodeType="withEffect">
                  <p:stCondLst>
                    <p:cond delay="700"/>
                  </p:stCondLst>
                  <p:childTnLst>
                    <p:animMotion origin="layout" path="M 0.02356 1.85185E-6 L 3.54167E-6 1.85185E-6 " pathEditMode="relative" rAng="0" ptsTypes="AA">
                      <p:cBhvr>
                        <p:cTn dur="1100" fill="hold"/>
                        <p:tgtEl>
                          <p:spTgt spid="8"/>
                        </p:tgtEl>
                        <p:attrNameLst>
                          <p:attrName>ppt_x</p:attrName>
                          <p:attrName>ppt_y</p:attrName>
                        </p:attrNameLst>
                      </p:cBhvr>
                      <p:rCtr x="-1185" y="0"/>
                    </p:animMotion>
                  </p:childTnLst>
                </p:cTn>
              </p:par>
            </p:tnLst>
          </p:tmpl>
          <p:tmpl lvl="3">
            <p:tnLst>
              <p:par>
                <p:cTn presetID="42" presetClass="path" presetSubtype="0" accel="50000" decel="50000" fill="hold" nodeType="withEffect">
                  <p:stCondLst>
                    <p:cond delay="1000"/>
                  </p:stCondLst>
                  <p:childTnLst>
                    <p:animMotion origin="layout" path="M 0.04479 0.00856 L 0.02903 0.00856 " pathEditMode="relative" rAng="0" ptsTypes="AA">
                      <p:cBhvr>
                        <p:cTn dur="900" fill="hold"/>
                        <p:tgtEl>
                          <p:spTgt spid="8"/>
                        </p:tgtEl>
                        <p:attrNameLst>
                          <p:attrName>ppt_x</p:attrName>
                          <p:attrName>ppt_y</p:attrName>
                        </p:attrNameLst>
                      </p:cBhvr>
                      <p:rCtr x="-794" y="0"/>
                    </p:animMotion>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Content and 2 Objects">
    <p:spTree>
      <p:nvGrpSpPr>
        <p:cNvPr id="1" name=""/>
        <p:cNvGrpSpPr/>
        <p:nvPr/>
      </p:nvGrpSpPr>
      <p:grpSpPr>
        <a:xfrm>
          <a:off x="0" y="0"/>
          <a:ext cx="0" cy="0"/>
          <a:chOff x="0" y="0"/>
          <a:chExt cx="0" cy="0"/>
        </a:xfrm>
      </p:grpSpPr>
      <p:sp>
        <p:nvSpPr>
          <p:cNvPr id="2" name="Title 1"/>
          <p:cNvSpPr>
            <a:spLocks noGrp="1"/>
          </p:cNvSpPr>
          <p:nvPr>
            <p:ph type="title"/>
          </p:nvPr>
        </p:nvSpPr>
        <p:spPr>
          <a:xfrm>
            <a:off x="431371" y="260648"/>
            <a:ext cx="8640960" cy="778098"/>
          </a:xfrm>
          <a:prstGeom prst="rect">
            <a:avLst/>
          </a:prstGeom>
        </p:spPr>
        <p:txBody>
          <a:bodyPr anchor="ctr"/>
          <a:lstStyle>
            <a:lvl1pPr>
              <a:defRPr b="1">
                <a:solidFill>
                  <a:schemeClr val="tx1"/>
                </a:solidFill>
                <a:latin typeface="Segoe UI Light" pitchFamily="34" charset="0"/>
              </a:defRPr>
            </a:lvl1pPr>
          </a:lstStyle>
          <a:p>
            <a:r>
              <a:rPr lang="en-US" dirty="0"/>
              <a:t>Click to edit Master title style</a:t>
            </a:r>
            <a:endParaRPr lang="en-GB" dirty="0"/>
          </a:p>
        </p:txBody>
      </p:sp>
      <p:sp>
        <p:nvSpPr>
          <p:cNvPr id="6" name="Content Placeholder 2"/>
          <p:cNvSpPr>
            <a:spLocks noGrp="1"/>
          </p:cNvSpPr>
          <p:nvPr>
            <p:ph idx="10"/>
          </p:nvPr>
        </p:nvSpPr>
        <p:spPr>
          <a:xfrm flipH="1">
            <a:off x="8304245" y="1628800"/>
            <a:ext cx="3552395" cy="2160240"/>
          </a:xfrm>
          <a:prstGeom prst="rect">
            <a:avLst/>
          </a:prstGeom>
          <a:solidFill>
            <a:schemeClr val="tx1">
              <a:lumMod val="95000"/>
              <a:lumOff val="5000"/>
              <a:alpha val="54000"/>
            </a:schemeClr>
          </a:solidFill>
        </p:spPr>
        <p:txBody>
          <a:bodyPr anchor="b"/>
          <a:lstStyle>
            <a:lvl1pPr marL="0" indent="0">
              <a:buClr>
                <a:schemeClr val="tx1"/>
              </a:buClr>
              <a:buFontTx/>
              <a:buNone/>
              <a:defRPr sz="2800">
                <a:latin typeface="Segoe UI Light" pitchFamily="34" charset="0"/>
              </a:defRPr>
            </a:lvl1pPr>
            <a:lvl2pPr marL="254250" indent="0">
              <a:buClr>
                <a:schemeClr val="tx1"/>
              </a:buClr>
              <a:buFontTx/>
              <a:buNone/>
              <a:defRPr>
                <a:solidFill>
                  <a:schemeClr val="bg1">
                    <a:lumMod val="7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a:t>Click to edit Master text styles</a:t>
            </a:r>
          </a:p>
        </p:txBody>
      </p:sp>
      <p:sp>
        <p:nvSpPr>
          <p:cNvPr id="10" name="Content Placeholder 2"/>
          <p:cNvSpPr>
            <a:spLocks noGrp="1"/>
          </p:cNvSpPr>
          <p:nvPr>
            <p:ph idx="11"/>
          </p:nvPr>
        </p:nvSpPr>
        <p:spPr>
          <a:xfrm flipH="1">
            <a:off x="8304245" y="3933056"/>
            <a:ext cx="3552395" cy="2160240"/>
          </a:xfrm>
          <a:prstGeom prst="rect">
            <a:avLst/>
          </a:prstGeom>
          <a:solidFill>
            <a:schemeClr val="tx1">
              <a:lumMod val="95000"/>
              <a:lumOff val="5000"/>
              <a:alpha val="54000"/>
            </a:schemeClr>
          </a:solidFill>
        </p:spPr>
        <p:txBody>
          <a:bodyPr anchor="b"/>
          <a:lstStyle>
            <a:lvl1pPr marL="0" indent="0">
              <a:buClr>
                <a:schemeClr val="tx1"/>
              </a:buClr>
              <a:buFontTx/>
              <a:buNone/>
              <a:defRPr sz="2800">
                <a:latin typeface="Segoe UI Light" pitchFamily="34" charset="0"/>
              </a:defRPr>
            </a:lvl1pPr>
            <a:lvl2pPr marL="254250" indent="0">
              <a:buClr>
                <a:schemeClr val="tx1"/>
              </a:buClr>
              <a:buFontTx/>
              <a:buNone/>
              <a:defRPr>
                <a:solidFill>
                  <a:schemeClr val="bg1">
                    <a:lumMod val="7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a:t>Click to edit Master text styles</a:t>
            </a:r>
          </a:p>
        </p:txBody>
      </p:sp>
      <p:sp>
        <p:nvSpPr>
          <p:cNvPr id="11" name="Rectangle 10"/>
          <p:cNvSpPr/>
          <p:nvPr userDrawn="1"/>
        </p:nvSpPr>
        <p:spPr>
          <a:xfrm>
            <a:off x="0" y="260648"/>
            <a:ext cx="239349" cy="792088"/>
          </a:xfrm>
          <a:prstGeom prst="rect">
            <a:avLst/>
          </a:prstGeom>
          <a:solidFill>
            <a:srgbClr val="60A9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Content Placeholder 2"/>
          <p:cNvSpPr>
            <a:spLocks noGrp="1"/>
          </p:cNvSpPr>
          <p:nvPr>
            <p:ph idx="1"/>
          </p:nvPr>
        </p:nvSpPr>
        <p:spPr>
          <a:xfrm>
            <a:off x="767408" y="1628800"/>
            <a:ext cx="7272808" cy="4525963"/>
          </a:xfrm>
          <a:prstGeom prst="rect">
            <a:avLst/>
          </a:prstGeom>
        </p:spPr>
        <p:txBody>
          <a:bodyPr/>
          <a:lstStyle>
            <a:lvl1pPr marL="0" indent="0">
              <a:buClr>
                <a:schemeClr val="tx1"/>
              </a:buClr>
              <a:buFontTx/>
              <a:buNone/>
              <a:defRPr>
                <a:solidFill>
                  <a:schemeClr val="tx1"/>
                </a:solidFill>
                <a:latin typeface="Segoe UI Light" pitchFamily="34" charset="0"/>
              </a:defRPr>
            </a:lvl1pPr>
            <a:lvl2pPr marL="254250" indent="0">
              <a:buClr>
                <a:schemeClr val="tx1"/>
              </a:buClr>
              <a:buFontTx/>
              <a:buNone/>
              <a:defRPr>
                <a:solidFill>
                  <a:schemeClr val="tx1">
                    <a:lumMod val="65000"/>
                    <a:lumOff val="3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8" name="TextBox 7"/>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Tree>
    <p:extLst>
      <p:ext uri="{BB962C8B-B14F-4D97-AF65-F5344CB8AC3E}">
        <p14:creationId xmlns:p14="http://schemas.microsoft.com/office/powerpoint/2010/main" val="893604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500"/>
                                        <p:tgtEl>
                                          <p:spTgt spid="6">
                                            <p:bg/>
                                          </p:spTgt>
                                        </p:tgtEl>
                                      </p:cBhvr>
                                    </p:animEffect>
                                  </p:childTnLst>
                                </p:cTn>
                              </p:par>
                              <p:par>
                                <p:cTn id="8" presetID="10" presetClass="entr" presetSubtype="0" fill="hold" grpId="0" nodeType="withEffect" nodePh="1">
                                  <p:stCondLst>
                                    <p:cond delay="1000"/>
                                  </p:stCondLst>
                                  <p:endCondLst>
                                    <p:cond evt="begin" delay="0">
                                      <p:tn val="8"/>
                                    </p:cond>
                                  </p:end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par>
                                <p:cTn id="11" presetID="10" presetClass="entr" presetSubtype="0" fill="hold" grpId="0" nodeType="withEffect">
                                  <p:stCondLst>
                                    <p:cond delay="1300"/>
                                  </p:stCondLst>
                                  <p:childTnLst>
                                    <p:set>
                                      <p:cBhvr>
                                        <p:cTn id="12" dur="1" fill="hold">
                                          <p:stCondLst>
                                            <p:cond delay="0"/>
                                          </p:stCondLst>
                                        </p:cTn>
                                        <p:tgtEl>
                                          <p:spTgt spid="10">
                                            <p:bg/>
                                          </p:spTgt>
                                        </p:tgtEl>
                                        <p:attrNameLst>
                                          <p:attrName>style.visibility</p:attrName>
                                        </p:attrNameLst>
                                      </p:cBhvr>
                                      <p:to>
                                        <p:strVal val="visible"/>
                                      </p:to>
                                    </p:set>
                                    <p:animEffect transition="in" filter="fade">
                                      <p:cBhvr>
                                        <p:cTn id="13" dur="500"/>
                                        <p:tgtEl>
                                          <p:spTgt spid="10">
                                            <p:bg/>
                                          </p:spTgt>
                                        </p:tgtEl>
                                      </p:cBhvr>
                                    </p:animEffect>
                                  </p:childTnLst>
                                </p:cTn>
                              </p:par>
                              <p:par>
                                <p:cTn id="14" presetID="10" presetClass="entr" presetSubtype="0" fill="hold" grpId="0" nodeType="withEffect" nodePh="1">
                                  <p:stCondLst>
                                    <p:cond delay="1000"/>
                                  </p:stCondLst>
                                  <p:endCondLst>
                                    <p:cond evt="begin" delay="0">
                                      <p:tn val="14"/>
                                    </p:cond>
                                  </p:endCondLst>
                                  <p:childTnLst>
                                    <p:set>
                                      <p:cBhvr>
                                        <p:cTn id="15" dur="1" fill="hold">
                                          <p:stCondLst>
                                            <p:cond delay="0"/>
                                          </p:stCondLst>
                                        </p:cTn>
                                        <p:tgtEl>
                                          <p:spTgt spid="10">
                                            <p:txEl>
                                              <p:pRg st="0" end="0"/>
                                            </p:txEl>
                                          </p:spTgt>
                                        </p:tgtEl>
                                        <p:attrNameLst>
                                          <p:attrName>style.visibility</p:attrName>
                                        </p:attrNameLst>
                                      </p:cBhvr>
                                      <p:to>
                                        <p:strVal val="visible"/>
                                      </p:to>
                                    </p:set>
                                    <p:animEffect transition="in" filter="fade">
                                      <p:cBhvr>
                                        <p:cTn id="16" dur="500"/>
                                        <p:tgtEl>
                                          <p:spTgt spid="10">
                                            <p:txEl>
                                              <p:pRg st="0" end="0"/>
                                            </p:txEl>
                                          </p:spTgt>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fade">
                                      <p:cBhvr>
                                        <p:cTn id="19" dur="1700"/>
                                        <p:tgtEl>
                                          <p:spTgt spid="7">
                                            <p:txEl>
                                              <p:pRg st="0" end="0"/>
                                            </p:txEl>
                                          </p:spTgt>
                                        </p:tgtEl>
                                      </p:cBhvr>
                                    </p:animEffect>
                                  </p:childTnLst>
                                </p:cTn>
                              </p:par>
                              <p:par>
                                <p:cTn id="20" presetID="10" presetClass="entr" presetSubtype="0" fill="hold" grpId="0" nodeType="withEffect">
                                  <p:stCondLst>
                                    <p:cond delay="90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fade">
                                      <p:cBhvr>
                                        <p:cTn id="22" dur="1700"/>
                                        <p:tgtEl>
                                          <p:spTgt spid="7">
                                            <p:txEl>
                                              <p:pRg st="1" end="1"/>
                                            </p:txEl>
                                          </p:spTgt>
                                        </p:tgtEl>
                                      </p:cBhvr>
                                    </p:animEffect>
                                  </p:childTnLst>
                                </p:cTn>
                              </p:par>
                              <p:par>
                                <p:cTn id="23" presetID="10" presetClass="entr" presetSubtype="0" fill="hold" grpId="0" nodeType="withEffect">
                                  <p:stCondLst>
                                    <p:cond delay="1100"/>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fade">
                                      <p:cBhvr>
                                        <p:cTn id="25" dur="1600"/>
                                        <p:tgtEl>
                                          <p:spTgt spid="7">
                                            <p:txEl>
                                              <p:pRg st="2" end="2"/>
                                            </p:txEl>
                                          </p:spTgt>
                                        </p:tgtEl>
                                      </p:cBhvr>
                                    </p:animEffect>
                                  </p:childTnLst>
                                </p:cTn>
                              </p:par>
                              <p:par>
                                <p:cTn id="26" presetID="42" presetClass="path" presetSubtype="0" accel="50000" decel="50000" fill="hold" grpId="1" nodeType="withEffect">
                                  <p:stCondLst>
                                    <p:cond delay="500"/>
                                  </p:stCondLst>
                                  <p:childTnLst>
                                    <p:animMotion origin="layout" path="M 5.55556E-7 1.85185E-6 L -0.02361 1.85185E-6 " pathEditMode="relative" rAng="0" ptsTypes="AA">
                                      <p:cBhvr>
                                        <p:cTn id="27" dur="1200" fill="hold"/>
                                        <p:tgtEl>
                                          <p:spTgt spid="7">
                                            <p:txEl>
                                              <p:pRg st="0" end="0"/>
                                            </p:txEl>
                                          </p:spTgt>
                                        </p:tgtEl>
                                        <p:attrNameLst>
                                          <p:attrName>ppt_x</p:attrName>
                                          <p:attrName>ppt_y</p:attrName>
                                        </p:attrNameLst>
                                      </p:cBhvr>
                                      <p:rCtr x="-1181" y="0"/>
                                    </p:animMotion>
                                  </p:childTnLst>
                                </p:cTn>
                              </p:par>
                              <p:par>
                                <p:cTn id="28" presetID="42" presetClass="path" presetSubtype="0" accel="50000" decel="50000" fill="hold" grpId="1" nodeType="withEffect">
                                  <p:stCondLst>
                                    <p:cond delay="700"/>
                                  </p:stCondLst>
                                  <p:childTnLst>
                                    <p:animMotion origin="layout" path="M 0.02361 7.40741E-7 L -1.66667E-6 7.40741E-7 " pathEditMode="relative" rAng="0" ptsTypes="AA">
                                      <p:cBhvr>
                                        <p:cTn id="29" dur="1100" fill="hold"/>
                                        <p:tgtEl>
                                          <p:spTgt spid="7">
                                            <p:txEl>
                                              <p:pRg st="1" end="1"/>
                                            </p:txEl>
                                          </p:spTgt>
                                        </p:tgtEl>
                                        <p:attrNameLst>
                                          <p:attrName>ppt_x</p:attrName>
                                          <p:attrName>ppt_y</p:attrName>
                                        </p:attrNameLst>
                                      </p:cBhvr>
                                      <p:rCtr x="-1181" y="0"/>
                                    </p:animMotion>
                                  </p:childTnLst>
                                </p:cTn>
                              </p:par>
                              <p:par>
                                <p:cTn id="30" presetID="42" presetClass="path" presetSubtype="0" accel="50000" decel="50000" fill="hold" grpId="1" nodeType="withEffect">
                                  <p:stCondLst>
                                    <p:cond delay="1000"/>
                                  </p:stCondLst>
                                  <p:childTnLst>
                                    <p:animMotion origin="layout" path="M 0.04479 0.00857 L 0.02899 0.00857 " pathEditMode="relative" rAng="0" ptsTypes="AA">
                                      <p:cBhvr>
                                        <p:cTn id="31" dur="900" fill="hold"/>
                                        <p:tgtEl>
                                          <p:spTgt spid="7">
                                            <p:txEl>
                                              <p:pRg st="2" end="2"/>
                                            </p:txEl>
                                          </p:spTgt>
                                        </p:tgtEl>
                                        <p:attrNameLst>
                                          <p:attrName>ppt_x</p:attrName>
                                          <p:attrName>ppt_y</p:attrName>
                                        </p:attrNameLst>
                                      </p:cBhvr>
                                      <p:rCtr x="-79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tmplLst>
          <p:tmpl>
            <p:tnLst>
              <p:par>
                <p:cTn presetID="10" presetClass="entr" presetSubtype="0" fill="hold" nodeType="withEffect">
                  <p:stCondLst>
                    <p:cond delay="100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 lvl="1">
            <p:tnLst>
              <p:par>
                <p:cTn presetID="10" presetClass="entr" presetSubtype="0" fill="hold" nodeType="withEffect" nodePh="1">
                  <p:stCondLst>
                    <p:cond delay="1000"/>
                  </p:stCondLst>
                  <p:endCondLst>
                    <p:cond delay="0"/>
                  </p:end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10" grpId="0" build="p" animBg="1">
        <p:tmplLst>
          <p:tmpl>
            <p:tnLst>
              <p:par>
                <p:cTn presetID="10" presetClass="entr" presetSubtype="0" fill="hold" nodeType="withEffect">
                  <p:stCondLst>
                    <p:cond delay="13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 lvl="1">
            <p:tnLst>
              <p:par>
                <p:cTn presetID="10" presetClass="entr" presetSubtype="0" fill="hold" nodeType="withEffect" nodePh="1">
                  <p:stCondLst>
                    <p:cond delay="1000"/>
                  </p:stCondLst>
                  <p:endCondLst>
                    <p:cond delay="0"/>
                  </p:end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7" grpId="0" build="p">
        <p:tmplLst>
          <p:tmpl lvl="1">
            <p:tnLst>
              <p:par>
                <p:cTn presetID="10" presetClass="entr" presetSubtype="0" fill="hold" nodeType="withEffect">
                  <p:stCondLst>
                    <p:cond delay="600"/>
                  </p:stCondLst>
                  <p:childTnLst>
                    <p:set>
                      <p:cBhvr>
                        <p:cTn dur="1" fill="hold">
                          <p:stCondLst>
                            <p:cond delay="0"/>
                          </p:stCondLst>
                        </p:cTn>
                        <p:tgtEl>
                          <p:spTgt spid="7"/>
                        </p:tgtEl>
                        <p:attrNameLst>
                          <p:attrName>style.visibility</p:attrName>
                        </p:attrNameLst>
                      </p:cBhvr>
                      <p:to>
                        <p:strVal val="visible"/>
                      </p:to>
                    </p:set>
                    <p:animEffect transition="in" filter="fade">
                      <p:cBhvr>
                        <p:cTn dur="1700"/>
                        <p:tgtEl>
                          <p:spTgt spid="7"/>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7"/>
                        </p:tgtEl>
                        <p:attrNameLst>
                          <p:attrName>style.visibility</p:attrName>
                        </p:attrNameLst>
                      </p:cBhvr>
                      <p:to>
                        <p:strVal val="visible"/>
                      </p:to>
                    </p:set>
                    <p:animEffect transition="in" filter="fade">
                      <p:cBhvr>
                        <p:cTn dur="1700"/>
                        <p:tgtEl>
                          <p:spTgt spid="7"/>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7"/>
                        </p:tgtEl>
                        <p:attrNameLst>
                          <p:attrName>style.visibility</p:attrName>
                        </p:attrNameLst>
                      </p:cBhvr>
                      <p:to>
                        <p:strVal val="visible"/>
                      </p:to>
                    </p:set>
                    <p:animEffect transition="in" filter="fade">
                      <p:cBhvr>
                        <p:cTn dur="1600"/>
                        <p:tgtEl>
                          <p:spTgt spid="7"/>
                        </p:tgtEl>
                      </p:cBhvr>
                    </p:animEffect>
                  </p:childTnLst>
                </p:cTn>
              </p:par>
            </p:tnLst>
          </p:tmpl>
        </p:tmplLst>
      </p:bldP>
      <p:bldP spid="7" grpId="1" build="p">
        <p:tmplLst>
          <p:tmpl lvl="1">
            <p:tnLst>
              <p:par>
                <p:cTn presetID="42" presetClass="path" presetSubtype="0" accel="50000" decel="50000" fill="hold" nodeType="withEffect">
                  <p:stCondLst>
                    <p:cond delay="500"/>
                  </p:stCondLst>
                  <p:childTnLst>
                    <p:animMotion origin="layout" path="M 5.55556E-7 1.85185E-6 L -0.02361 1.85185E-6 " pathEditMode="relative" rAng="0" ptsTypes="AA">
                      <p:cBhvr>
                        <p:cTn dur="1200" fill="hold"/>
                        <p:tgtEl>
                          <p:spTgt spid="7"/>
                        </p:tgtEl>
                        <p:attrNameLst>
                          <p:attrName>ppt_x</p:attrName>
                          <p:attrName>ppt_y</p:attrName>
                        </p:attrNameLst>
                      </p:cBhvr>
                      <p:rCtr x="-1181" y="0"/>
                    </p:animMotion>
                  </p:childTnLst>
                </p:cTn>
              </p:par>
            </p:tnLst>
          </p:tmpl>
          <p:tmpl lvl="2">
            <p:tnLst>
              <p:par>
                <p:cTn presetID="42" presetClass="path" presetSubtype="0" accel="50000" decel="50000" fill="hold" nodeType="withEffect">
                  <p:stCondLst>
                    <p:cond delay="700"/>
                  </p:stCondLst>
                  <p:childTnLst>
                    <p:animMotion origin="layout" path="M 0.02361 7.40741E-7 L -1.66667E-6 7.40741E-7 " pathEditMode="relative" rAng="0" ptsTypes="AA">
                      <p:cBhvr>
                        <p:cTn dur="1100" fill="hold"/>
                        <p:tgtEl>
                          <p:spTgt spid="7"/>
                        </p:tgtEl>
                        <p:attrNameLst>
                          <p:attrName>ppt_x</p:attrName>
                          <p:attrName>ppt_y</p:attrName>
                        </p:attrNameLst>
                      </p:cBhvr>
                      <p:rCtr x="-1181" y="0"/>
                    </p:animMotion>
                  </p:childTnLst>
                </p:cTn>
              </p:par>
            </p:tnLst>
          </p:tmpl>
          <p:tmpl lvl="3">
            <p:tnLst>
              <p:par>
                <p:cTn presetID="42" presetClass="path" presetSubtype="0" accel="50000" decel="50000" fill="hold" nodeType="withEffect">
                  <p:stCondLst>
                    <p:cond delay="1000"/>
                  </p:stCondLst>
                  <p:childTnLst>
                    <p:animMotion origin="layout" path="M 0.04479 0.00857 L 0.02899 0.00857 " pathEditMode="relative" rAng="0" ptsTypes="AA">
                      <p:cBhvr>
                        <p:cTn dur="900" fill="hold"/>
                        <p:tgtEl>
                          <p:spTgt spid="7"/>
                        </p:tgtEl>
                        <p:attrNameLst>
                          <p:attrName>ppt_x</p:attrName>
                          <p:attrName>ppt_y</p:attrName>
                        </p:attrNameLst>
                      </p:cBhvr>
                      <p:rCtr x="-799" y="0"/>
                    </p:animMotion>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4139772"/>
      </p:ext>
    </p:extLst>
  </p:cSld>
  <p:clrMap bg1="lt1" tx1="dk1" bg2="lt2" tx2="dk2" accent1="accent1" accent2="accent2" accent3="accent3" accent4="accent4" accent5="accent5" accent6="accent6" hlink="hlink" folHlink="folHlink"/>
  <p:sldLayoutIdLst>
    <p:sldLayoutId id="2147483655" r:id="rId1"/>
    <p:sldLayoutId id="2147483658" r:id="rId2"/>
    <p:sldLayoutId id="2147483661" r:id="rId3"/>
    <p:sldLayoutId id="2147483650" r:id="rId4"/>
    <p:sldLayoutId id="2147483668" r:id="rId5"/>
    <p:sldLayoutId id="2147483652" r:id="rId6"/>
    <p:sldLayoutId id="2147483660" r:id="rId7"/>
    <p:sldLayoutId id="2147483656" r:id="rId8"/>
    <p:sldLayoutId id="2147483666" r:id="rId9"/>
    <p:sldLayoutId id="2147483662" r:id="rId10"/>
    <p:sldLayoutId id="2147483659" r:id="rId11"/>
    <p:sldLayoutId id="2147483657" r:id="rId12"/>
    <p:sldLayoutId id="2147483667" r:id="rId13"/>
    <p:sldLayoutId id="2147483663" r:id="rId14"/>
  </p:sldLayoutIdLst>
  <p:hf hdr="0" ftr="0" dt="0"/>
  <p:txStyles>
    <p:titleStyle>
      <a:lvl1pPr algn="l" defTabSz="914400" rtl="0" eaLnBrk="1" latinLnBrk="0" hangingPunct="1">
        <a:spcBef>
          <a:spcPct val="0"/>
        </a:spcBef>
        <a:buNone/>
        <a:defRPr sz="3200" kern="1200">
          <a:solidFill>
            <a:schemeClr val="bg1"/>
          </a:solidFill>
          <a:latin typeface="Segoe WP" pitchFamily="34" charset="0"/>
          <a:ea typeface="Segoe UI" pitchFamily="34" charset="0"/>
          <a:cs typeface="Segoe UI"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bg1"/>
          </a:solidFill>
          <a:latin typeface="Segoe WP" pitchFamily="34" charset="0"/>
          <a:ea typeface="Segoe UI" pitchFamily="34" charset="0"/>
          <a:cs typeface="Segoe UI" pitchFamily="34" charset="0"/>
        </a:defRPr>
      </a:lvl1pPr>
      <a:lvl2pPr marL="742950" indent="-285750" algn="l" defTabSz="914400" rtl="0" eaLnBrk="1" latinLnBrk="0" hangingPunct="1">
        <a:spcBef>
          <a:spcPct val="20000"/>
        </a:spcBef>
        <a:buFont typeface="Arial" pitchFamily="34" charset="0"/>
        <a:buChar char="–"/>
        <a:defRPr sz="2800" kern="1200">
          <a:solidFill>
            <a:schemeClr val="bg1"/>
          </a:solidFill>
          <a:latin typeface="Segoe WP" pitchFamily="34" charset="0"/>
          <a:ea typeface="Segoe UI" pitchFamily="34" charset="0"/>
          <a:cs typeface="Segoe UI" pitchFamily="34" charset="0"/>
        </a:defRPr>
      </a:lvl2pPr>
      <a:lvl3pPr marL="1143000" indent="-228600" algn="l" defTabSz="914400" rtl="0" eaLnBrk="1" latinLnBrk="0" hangingPunct="1">
        <a:spcBef>
          <a:spcPct val="20000"/>
        </a:spcBef>
        <a:buFont typeface="Arial" pitchFamily="34" charset="0"/>
        <a:buChar char="•"/>
        <a:defRPr sz="2400" kern="1200">
          <a:solidFill>
            <a:schemeClr val="bg1"/>
          </a:solidFill>
          <a:latin typeface="Segoe WP"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bg1"/>
          </a:solidFill>
          <a:latin typeface="Segoe WP"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Segoe WP"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docs.microsoft.com/en-us/aspnet/" TargetMode="External"/><Relationship Id="rId1" Type="http://schemas.openxmlformats.org/officeDocument/2006/relationships/slideLayout" Target="../slideLayouts/slideLayout8.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hyperlink" Target="https://ro.linkedin.com/in/cotfasliviu" TargetMode="External"/><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hyperlink" Target="https://www.manning.com/books/asp-net-core-in-action-third-edition" TargetMode="External"/><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hyperlink" Target="https://www.manning.com/books/pro-aspdotnet-core-7-tenth-edition"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hyperlink" Target="http://www.pluralsight.com/" TargetMode="External"/><Relationship Id="rId2" Type="http://schemas.openxmlformats.org/officeDocument/2006/relationships/hyperlink" Target="https://docs.microsoft.com/en-us/learn/" TargetMode="External"/><Relationship Id="rId1" Type="http://schemas.openxmlformats.org/officeDocument/2006/relationships/slideLayout" Target="../slideLayouts/slideLayout9.xml"/><Relationship Id="rId4" Type="http://schemas.openxmlformats.org/officeDocument/2006/relationships/hyperlink" Target="https://azure.microsoft.com/en-us/free/students/"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docs.microsoft.com/en-us/dotnet/api/?view=net-5.0" TargetMode="External"/><Relationship Id="rId2" Type="http://schemas.openxmlformats.org/officeDocument/2006/relationships/hyperlink" Target="https://docs.microsoft.com/en-us/aspnet/" TargetMode="External"/><Relationship Id="rId1" Type="http://schemas.openxmlformats.org/officeDocument/2006/relationships/slideLayout" Target="../slideLayouts/slideLayout9.xml"/><Relationship Id="rId5" Type="http://schemas.openxmlformats.org/officeDocument/2006/relationships/hyperlink" Target="https://code.msdn.microsoft.com/" TargetMode="External"/><Relationship Id="rId4" Type="http://schemas.openxmlformats.org/officeDocument/2006/relationships/hyperlink" Target="https://github.com/aspnet/Home"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slide" Target="slide29.xml"/><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slide" Target="slide22.xml"/><Relationship Id="rId5" Type="http://schemas.openxmlformats.org/officeDocument/2006/relationships/slide" Target="slide10.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hyperlink" Target="https://docs.microsoft.com/en-us/aspnet/core/security"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https://docs.microsoft.com/en-us/aspnet/core/security/authentication/community"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hyperlink" Target="https://docs.microsoft.com/en-us/aspnet/core/security/authentication/identity"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8" Type="http://schemas.openxmlformats.org/officeDocument/2006/relationships/hyperlink" Target="https://msdn.microsoft.com/en-us/library/mt151772(v=vs.108).aspx#P:Microsoft.AspNet.Identity.EntityFramework.IdentityUser`4.LockoutEndDateUtc" TargetMode="External"/><Relationship Id="rId3" Type="http://schemas.openxmlformats.org/officeDocument/2006/relationships/hyperlink" Target="https://msdn.microsoft.com/en-us/library/dn613256(v=vs.108).aspx" TargetMode="External"/><Relationship Id="rId7" Type="http://schemas.openxmlformats.org/officeDocument/2006/relationships/hyperlink" Target="https://msdn.microsoft.com/en-us/library/mt151767(v=vs.108).aspx#P:Microsoft.AspNet.Identity.EntityFramework.IdentityUser`4.LockoutEnabled" TargetMode="External"/><Relationship Id="rId2" Type="http://schemas.openxmlformats.org/officeDocument/2006/relationships/hyperlink" Target="https://msdn.microsoft.com/en-us/library/mt151780(v=vs.108).aspx#P:Microsoft.AspNet.Identity.EntityFramework.IdentityUser`4.AccessFailedCount" TargetMode="External"/><Relationship Id="rId1" Type="http://schemas.openxmlformats.org/officeDocument/2006/relationships/slideLayout" Target="../slideLayouts/slideLayout13.xml"/><Relationship Id="rId6" Type="http://schemas.openxmlformats.org/officeDocument/2006/relationships/hyperlink" Target="https://msdn.microsoft.com/en-us/library/mt151765(v=vs.108).aspx#P:Microsoft.AspNet.Identity.EntityFramework.IdentityUser`4.Id" TargetMode="External"/><Relationship Id="rId5" Type="http://schemas.openxmlformats.org/officeDocument/2006/relationships/hyperlink" Target="https://msdn.microsoft.com/en-us/library/mt151763(v=vs.108).aspx#P:Microsoft.AspNet.Identity.EntityFramework.IdentityUser`4.EmailConfirmed" TargetMode="External"/><Relationship Id="rId4" Type="http://schemas.openxmlformats.org/officeDocument/2006/relationships/hyperlink" Target="https://msdn.microsoft.com/en-us/library/mt151761(v=vs.108).aspx#P:Microsoft.AspNet.Identity.EntityFramework.IdentityUser`4.Email" TargetMode="External"/><Relationship Id="rId9" Type="http://schemas.openxmlformats.org/officeDocument/2006/relationships/hyperlink" Target="https://msdn.microsoft.com/en-us/library/mt151773(v=vs.108).aspx#P:Microsoft.AspNet.Identity.EntityFramework.IdentityUser`4.Logins" TargetMode="External"/></Relationships>
</file>

<file path=ppt/slides/_rels/slide15.xml.rels><?xml version="1.0" encoding="UTF-8" standalone="yes"?>
<Relationships xmlns="http://schemas.openxmlformats.org/package/2006/relationships"><Relationship Id="rId8" Type="http://schemas.openxmlformats.org/officeDocument/2006/relationships/hyperlink" Target="https://msdn.microsoft.com/en-us/library/mt151787(v=vs.108).aspx#P:Microsoft.AspNet.Identity.EntityFramework.IdentityUser`4.TwoFactorEnabled" TargetMode="External"/><Relationship Id="rId3" Type="http://schemas.openxmlformats.org/officeDocument/2006/relationships/hyperlink" Target="https://msdn.microsoft.com/en-us/library/dn613256(v=vs.108).aspx" TargetMode="External"/><Relationship Id="rId7" Type="http://schemas.openxmlformats.org/officeDocument/2006/relationships/hyperlink" Target="https://msdn.microsoft.com/en-us/library/mt151771(v=vs.108).aspx#P:Microsoft.AspNet.Identity.EntityFramework.IdentityUser`4.SecurityStamp" TargetMode="External"/><Relationship Id="rId2" Type="http://schemas.openxmlformats.org/officeDocument/2006/relationships/hyperlink" Target="https://msdn.microsoft.com/en-us/library/mt151768(v=vs.108).aspx#P:Microsoft.AspNet.Identity.EntityFramework.IdentityUser`4.PasswordHash" TargetMode="External"/><Relationship Id="rId1" Type="http://schemas.openxmlformats.org/officeDocument/2006/relationships/slideLayout" Target="../slideLayouts/slideLayout13.xml"/><Relationship Id="rId6" Type="http://schemas.openxmlformats.org/officeDocument/2006/relationships/hyperlink" Target="https://msdn.microsoft.com/en-us/library/mt151766(v=vs.108).aspx#P:Microsoft.AspNet.Identity.EntityFramework.IdentityUser`4.Roles" TargetMode="External"/><Relationship Id="rId5" Type="http://schemas.openxmlformats.org/officeDocument/2006/relationships/hyperlink" Target="https://msdn.microsoft.com/en-us/library/mt151775(v=vs.108).aspx#P:Microsoft.AspNet.Identity.EntityFramework.IdentityUser`4.PhoneNumberConfirmed" TargetMode="External"/><Relationship Id="rId4" Type="http://schemas.openxmlformats.org/officeDocument/2006/relationships/hyperlink" Target="https://msdn.microsoft.com/en-us/library/mt151769(v=vs.108).aspx#P:Microsoft.AspNet.Identity.EntityFramework.IdentityUser`4.PhoneNumber" TargetMode="External"/><Relationship Id="rId9" Type="http://schemas.openxmlformats.org/officeDocument/2006/relationships/hyperlink" Target="https://msdn.microsoft.com/en-us/library/mt151784(v=vs.108).aspx#P:Microsoft.AspNet.Identity.EntityFramework.IdentityUser`4.UserName"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hyperlink" Target="https://www.digitalocean.com/community/tutorials/an-introduction-to-oauth-2" TargetMode="External"/><Relationship Id="rId2" Type="http://schemas.openxmlformats.org/officeDocument/2006/relationships/hyperlink" Target="https://docs.microsoft.com/en-us/aspnet/core/security/authentication/social/" TargetMode="Externa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liviucotfas/ase-web-and-cloud-applications-security/blob/master/6%20-%20MVCStore%20-%20Security.md" TargetMode="External"/><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hyperlink" Target="https://docs.microsoft.com/en-us/aspnet/core/security/authentication/2fa" TargetMode="External"/><Relationship Id="rId2" Type="http://schemas.openxmlformats.org/officeDocument/2006/relationships/hyperlink" Target="https://docs.microsoft.com/en-us/aspnet/core/security/authentication/identity-primary-key-configuration" TargetMode="External"/><Relationship Id="rId1" Type="http://schemas.openxmlformats.org/officeDocument/2006/relationships/slideLayout" Target="../slideLayouts/slideLayout13.xml"/><Relationship Id="rId4" Type="http://schemas.openxmlformats.org/officeDocument/2006/relationships/hyperlink" Target="https://azure.microsoft.com/en-us/resources/samples/active-directory-dotnet-webapp-openidconnect-aspnetcore/?v=17.23h"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hyperlink" Target="https://docs.microsoft.com/en-us/aspnet/core/security/authorization/introduction"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hyperlink" Target="https://docs.microsoft.com/en-us/aspnet/core/security/enforcing-ssl" TargetMode="Externa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hyperlink" Target="https://docs.microsoft.com/en-us/aspnet/core/security/enforcing-ssl" TargetMode="Externa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effectLst>
                  <a:outerShdw blurRad="38100" dist="38100" dir="2700000" algn="tl">
                    <a:srgbClr val="000000">
                      <a:alpha val="43137"/>
                    </a:srgbClr>
                  </a:outerShdw>
                </a:effectLst>
                <a:latin typeface="Segoe UI" panose="020B0502040204020203" pitchFamily="34" charset="0"/>
              </a:rPr>
              <a:t>Web and Cloud Security</a:t>
            </a:r>
            <a:endParaRPr lang="en-GB" b="1" dirty="0">
              <a:effectLst>
                <a:outerShdw blurRad="38100" dist="38100" dir="2700000" algn="tl">
                  <a:srgbClr val="000000">
                    <a:alpha val="43137"/>
                  </a:srgbClr>
                </a:outerShdw>
              </a:effectLst>
            </a:endParaRPr>
          </a:p>
        </p:txBody>
      </p:sp>
      <p:sp>
        <p:nvSpPr>
          <p:cNvPr id="3" name="Text Placeholder 2"/>
          <p:cNvSpPr>
            <a:spLocks noGrp="1"/>
          </p:cNvSpPr>
          <p:nvPr>
            <p:ph type="body" sz="quarter" idx="10"/>
          </p:nvPr>
        </p:nvSpPr>
        <p:spPr/>
        <p:txBody>
          <a:bodyPr/>
          <a:lstStyle/>
          <a:p>
            <a:r>
              <a:rPr lang="en-US" dirty="0"/>
              <a:t>ASP.NET</a:t>
            </a:r>
            <a:r>
              <a:rPr lang="en-US" b="1" dirty="0"/>
              <a:t> </a:t>
            </a:r>
            <a:r>
              <a:rPr lang="en-US" b="1"/>
              <a:t>MVC Core 2 </a:t>
            </a:r>
            <a:r>
              <a:rPr lang="en-US" b="1" dirty="0"/>
              <a:t>– Part II</a:t>
            </a:r>
            <a:endParaRPr lang="hr-HR" b="1" dirty="0">
              <a:effectLst>
                <a:outerShdw blurRad="38100" dist="38100" dir="2700000" algn="tl">
                  <a:srgbClr val="000000">
                    <a:alpha val="43137"/>
                  </a:srgbClr>
                </a:outerShdw>
              </a:effectLst>
            </a:endParaRPr>
          </a:p>
        </p:txBody>
      </p:sp>
      <p:sp>
        <p:nvSpPr>
          <p:cNvPr id="8" name="Text Placeholder 7"/>
          <p:cNvSpPr>
            <a:spLocks noGrp="1"/>
          </p:cNvSpPr>
          <p:nvPr>
            <p:ph type="body" sz="quarter" idx="11"/>
          </p:nvPr>
        </p:nvSpPr>
        <p:spPr>
          <a:prstGeom prst="rect">
            <a:avLst/>
          </a:prstGeom>
        </p:spPr>
        <p:txBody>
          <a:bodyPr/>
          <a:lstStyle/>
          <a:p>
            <a:r>
              <a:rPr lang="en-US" b="1" dirty="0"/>
              <a:t>liviu.cotfas</a:t>
            </a:r>
            <a:r>
              <a:rPr lang="en-US" dirty="0"/>
              <a:t>@ase.ro</a:t>
            </a:r>
            <a:endParaRPr lang="hr-HR" dirty="0"/>
          </a:p>
        </p:txBody>
      </p:sp>
      <p:pic>
        <p:nvPicPr>
          <p:cNvPr id="4098" name="Picture 2" descr="http://dice.ase.ro/wp-content/themes/twentyeleven-xili/images/dic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424" y="261247"/>
            <a:ext cx="1190625" cy="952500"/>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7"/>
          <p:cNvSpPr txBox="1">
            <a:spLocks/>
          </p:cNvSpPr>
          <p:nvPr/>
        </p:nvSpPr>
        <p:spPr>
          <a:xfrm>
            <a:off x="911424" y="6256872"/>
            <a:ext cx="3456463" cy="393009"/>
          </a:xfrm>
          <a:prstGeom prst="rect">
            <a:avLst/>
          </a:prstGeom>
        </p:spPr>
        <p:txBody>
          <a:bodyPr anchor="ctr"/>
          <a:lstStyle>
            <a:lvl1pPr marL="0" indent="0" algn="l" defTabSz="914400" rtl="0" eaLnBrk="1" latinLnBrk="0" hangingPunct="1">
              <a:spcBef>
                <a:spcPct val="20000"/>
              </a:spcBef>
              <a:buFont typeface="Arial" pitchFamily="34" charset="0"/>
              <a:buNone/>
              <a:defRPr sz="2200" kern="1200">
                <a:ln>
                  <a:noFill/>
                </a:ln>
                <a:solidFill>
                  <a:schemeClr val="bg1">
                    <a:lumMod val="50000"/>
                  </a:schemeClr>
                </a:solidFill>
                <a:latin typeface="Segoe UI Light" panose="020B0502040204020203" pitchFamily="34" charset="0"/>
                <a:ea typeface="Segoe UI" pitchFamily="34" charset="0"/>
                <a:cs typeface="Segoe UI Light" panose="020B0502040204020203" pitchFamily="34" charset="0"/>
              </a:defRPr>
            </a:lvl1pPr>
            <a:lvl2pPr marL="742950" indent="-285750" algn="l" defTabSz="914400" rtl="0" eaLnBrk="1" latinLnBrk="0" hangingPunct="1">
              <a:spcBef>
                <a:spcPct val="20000"/>
              </a:spcBef>
              <a:buFont typeface="Arial" pitchFamily="34" charset="0"/>
              <a:buChar char="–"/>
              <a:defRPr sz="2800" kern="1200">
                <a:solidFill>
                  <a:schemeClr val="bg1"/>
                </a:solidFill>
                <a:latin typeface="Segoe WP" pitchFamily="34" charset="0"/>
                <a:ea typeface="Segoe UI" pitchFamily="34" charset="0"/>
                <a:cs typeface="Segoe UI" pitchFamily="34" charset="0"/>
              </a:defRPr>
            </a:lvl2pPr>
            <a:lvl3pPr marL="1143000" indent="-228600" algn="l" defTabSz="914400" rtl="0" eaLnBrk="1" latinLnBrk="0" hangingPunct="1">
              <a:spcBef>
                <a:spcPct val="20000"/>
              </a:spcBef>
              <a:buFont typeface="Arial" pitchFamily="34" charset="0"/>
              <a:buChar char="•"/>
              <a:defRPr sz="2400" kern="1200">
                <a:solidFill>
                  <a:schemeClr val="bg1"/>
                </a:solidFill>
                <a:latin typeface="Segoe WP"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bg1"/>
                </a:solidFill>
                <a:latin typeface="Segoe WP"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Segoe WP"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t>Liviu-Adrian Cotfas, PhD.</a:t>
            </a:r>
            <a:endParaRPr lang="hr-HR" b="1" dirty="0"/>
          </a:p>
        </p:txBody>
      </p:sp>
      <p:sp>
        <p:nvSpPr>
          <p:cNvPr id="9" name="Rectangle 8"/>
          <p:cNvSpPr/>
          <p:nvPr/>
        </p:nvSpPr>
        <p:spPr>
          <a:xfrm>
            <a:off x="2207568" y="459570"/>
            <a:ext cx="6096000" cy="646331"/>
          </a:xfrm>
          <a:prstGeom prst="rect">
            <a:avLst/>
          </a:prstGeom>
        </p:spPr>
        <p:txBody>
          <a:bodyPr>
            <a:spAutoFit/>
          </a:bodyPr>
          <a:lstStyle/>
          <a:p>
            <a:r>
              <a:rPr lang="en-US" b="1" dirty="0"/>
              <a:t>Department of Economic Informatics  and Cybernetics</a:t>
            </a:r>
          </a:p>
          <a:p>
            <a:r>
              <a:rPr lang="en-US" dirty="0"/>
              <a:t>Bucharest University of Economic Studies</a:t>
            </a:r>
          </a:p>
        </p:txBody>
      </p:sp>
    </p:spTree>
    <p:extLst>
      <p:ext uri="{BB962C8B-B14F-4D97-AF65-F5344CB8AC3E}">
        <p14:creationId xmlns:p14="http://schemas.microsoft.com/office/powerpoint/2010/main" val="1215202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ASP.NET MVC Core, C# Language</a:t>
            </a:r>
          </a:p>
        </p:txBody>
      </p:sp>
      <p:sp>
        <p:nvSpPr>
          <p:cNvPr id="5" name="Content Placeholder 4"/>
          <p:cNvSpPr>
            <a:spLocks noGrp="1"/>
          </p:cNvSpPr>
          <p:nvPr>
            <p:ph idx="1"/>
          </p:nvPr>
        </p:nvSpPr>
        <p:spPr/>
        <p:txBody>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pPr marL="342900" indent="-342900">
              <a:buFont typeface="Arial" panose="020B0604020202020204" pitchFamily="34" charset="0"/>
              <a:buChar char="•"/>
            </a:pPr>
            <a:r>
              <a:rPr lang="en-US" b="1" dirty="0"/>
              <a:t>url:</a:t>
            </a:r>
            <a:r>
              <a:rPr lang="en-US" dirty="0"/>
              <a:t> </a:t>
            </a:r>
            <a:r>
              <a:rPr lang="en-US" dirty="0">
                <a:hlinkClick r:id="rId2"/>
              </a:rPr>
              <a:t>https://docs.microsoft.com/en-us/aspnet/</a:t>
            </a:r>
            <a:r>
              <a:rPr lang="en-US" dirty="0"/>
              <a:t> </a:t>
            </a:r>
          </a:p>
        </p:txBody>
      </p:sp>
      <p:sp>
        <p:nvSpPr>
          <p:cNvPr id="8" name="TextBox 7"/>
          <p:cNvSpPr txBox="1"/>
          <p:nvPr/>
        </p:nvSpPr>
        <p:spPr>
          <a:xfrm>
            <a:off x="8328248" y="2587261"/>
            <a:ext cx="1242648" cy="1323439"/>
          </a:xfrm>
          <a:prstGeom prst="rect">
            <a:avLst/>
          </a:prstGeom>
          <a:noFill/>
        </p:spPr>
        <p:txBody>
          <a:bodyPr wrap="none" rtlCol="0">
            <a:spAutoFit/>
          </a:bodyPr>
          <a:lstStyle/>
          <a:p>
            <a:r>
              <a:rPr lang="en-US" sz="8000" dirty="0"/>
              <a:t>C#</a:t>
            </a:r>
          </a:p>
        </p:txBody>
      </p:sp>
      <p:pic>
        <p:nvPicPr>
          <p:cNvPr id="9" name="Graphic 8"/>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83632" y="2132856"/>
            <a:ext cx="2232248" cy="2232248"/>
          </a:xfrm>
          <a:prstGeom prst="rect">
            <a:avLst/>
          </a:prstGeom>
        </p:spPr>
      </p:pic>
    </p:spTree>
    <p:extLst>
      <p:ext uri="{BB962C8B-B14F-4D97-AF65-F5344CB8AC3E}">
        <p14:creationId xmlns:p14="http://schemas.microsoft.com/office/powerpoint/2010/main" val="863801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About me</a:t>
            </a:r>
          </a:p>
        </p:txBody>
      </p:sp>
      <p:grpSp>
        <p:nvGrpSpPr>
          <p:cNvPr id="7" name="Group 6"/>
          <p:cNvGrpSpPr/>
          <p:nvPr/>
        </p:nvGrpSpPr>
        <p:grpSpPr>
          <a:xfrm>
            <a:off x="2567608" y="3068960"/>
            <a:ext cx="7460941" cy="1082421"/>
            <a:chOff x="2683733" y="3068960"/>
            <a:chExt cx="7460941" cy="1082421"/>
          </a:xfrm>
        </p:grpSpPr>
        <p:pic>
          <p:nvPicPr>
            <p:cNvPr id="3074" name="Picture 2" descr="https://encrypted-tbn3.gstatic.com/images?q=tbn:ANd9GcStFK36H8y2rc3VEsxbLDQ4ANfdsyTNE1Y0qyTR34be9MrGzZnK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3733" y="3068960"/>
              <a:ext cx="1082421" cy="108242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4751851" y="3363949"/>
              <a:ext cx="5392823" cy="492443"/>
            </a:xfrm>
            <a:prstGeom prst="rect">
              <a:avLst/>
            </a:prstGeom>
            <a:noFill/>
          </p:spPr>
          <p:txBody>
            <a:bodyPr wrap="none" rtlCol="0">
              <a:spAutoFit/>
            </a:bodyPr>
            <a:lstStyle/>
            <a:p>
              <a:r>
                <a:rPr lang="en-US" sz="2600" b="1" dirty="0">
                  <a:solidFill>
                    <a:schemeClr val="bg1">
                      <a:lumMod val="50000"/>
                    </a:schemeClr>
                  </a:solidFill>
                  <a:hlinkClick r:id="rId3"/>
                </a:rPr>
                <a:t>https://ro.linkedin.com/in/cotfasliviu</a:t>
              </a:r>
              <a:endParaRPr lang="en-US" sz="2600" b="1" dirty="0">
                <a:solidFill>
                  <a:schemeClr val="bg1">
                    <a:lumMod val="50000"/>
                  </a:schemeClr>
                </a:solidFill>
              </a:endParaRPr>
            </a:p>
          </p:txBody>
        </p:sp>
      </p:grpSp>
    </p:spTree>
    <p:extLst>
      <p:ext uri="{BB962C8B-B14F-4D97-AF65-F5344CB8AC3E}">
        <p14:creationId xmlns:p14="http://schemas.microsoft.com/office/powerpoint/2010/main" val="1547109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Administrative issues</a:t>
            </a:r>
          </a:p>
        </p:txBody>
      </p:sp>
      <p:sp>
        <p:nvSpPr>
          <p:cNvPr id="3" name="Content Placeholder 2"/>
          <p:cNvSpPr>
            <a:spLocks noGrp="1"/>
          </p:cNvSpPr>
          <p:nvPr>
            <p:ph idx="1"/>
          </p:nvPr>
        </p:nvSpPr>
        <p:spPr>
          <a:xfrm>
            <a:off x="767407" y="1340768"/>
            <a:ext cx="10824127" cy="4813995"/>
          </a:xfrm>
        </p:spPr>
        <p:txBody>
          <a:bodyPr anchor="ctr"/>
          <a:lstStyle/>
          <a:p>
            <a:pPr marL="342900" indent="-342900">
              <a:buFont typeface="Wingdings" panose="05000000000000000000" pitchFamily="2" charset="2"/>
              <a:buChar char="§"/>
            </a:pPr>
            <a:r>
              <a:rPr lang="en-US" dirty="0"/>
              <a:t>Books</a:t>
            </a:r>
          </a:p>
          <a:p>
            <a:pPr marL="597150" lvl="1" indent="-342900">
              <a:buFont typeface="Wingdings" panose="05000000000000000000" pitchFamily="2" charset="2"/>
              <a:buChar char="§"/>
            </a:pPr>
            <a:r>
              <a:rPr lang="en-US" dirty="0"/>
              <a:t>ASP.NET CORE in Action, Third Edition (</a:t>
            </a:r>
            <a:r>
              <a:rPr lang="en-US" u="sng" dirty="0">
                <a:hlinkClick r:id="rId3"/>
              </a:rPr>
              <a:t>https://www.manning.com/books/asp-net-core-in-action-third-edition</a:t>
            </a:r>
            <a:r>
              <a:rPr lang="en-US" dirty="0"/>
              <a:t>)</a:t>
            </a:r>
          </a:p>
          <a:p>
            <a:pPr marL="597150" lvl="1" indent="-342900">
              <a:buFont typeface="Wingdings" panose="05000000000000000000" pitchFamily="2" charset="2"/>
              <a:buChar char="§"/>
            </a:pPr>
            <a:r>
              <a:rPr lang="en-US" dirty="0"/>
              <a:t>Pro ASP.NET Core 7 (</a:t>
            </a:r>
            <a:r>
              <a:rPr lang="en-US" u="sng" dirty="0">
                <a:hlinkClick r:id="rId4"/>
              </a:rPr>
              <a:t>https://www.manning.com/books/pro-aspdotnet-core-7-tenth-edition</a:t>
            </a:r>
            <a:r>
              <a:rPr lang="en-US" dirty="0"/>
              <a:t>)</a:t>
            </a:r>
          </a:p>
        </p:txBody>
      </p:sp>
      <p:sp>
        <p:nvSpPr>
          <p:cNvPr id="4" name="Text Placeholder 3"/>
          <p:cNvSpPr>
            <a:spLocks noGrp="1"/>
          </p:cNvSpPr>
          <p:nvPr>
            <p:ph type="body" sz="quarter" idx="10"/>
          </p:nvPr>
        </p:nvSpPr>
        <p:spPr/>
        <p:txBody>
          <a:bodyPr/>
          <a:lstStyle/>
          <a:p>
            <a:r>
              <a:rPr lang="en-US" dirty="0"/>
              <a:t>Recommended Reading / Watching</a:t>
            </a:r>
          </a:p>
        </p:txBody>
      </p:sp>
    </p:spTree>
    <p:extLst>
      <p:ext uri="{BB962C8B-B14F-4D97-AF65-F5344CB8AC3E}">
        <p14:creationId xmlns:p14="http://schemas.microsoft.com/office/powerpoint/2010/main" val="930814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Administrative issues</a:t>
            </a:r>
          </a:p>
        </p:txBody>
      </p:sp>
      <p:sp>
        <p:nvSpPr>
          <p:cNvPr id="3" name="Content Placeholder 2"/>
          <p:cNvSpPr>
            <a:spLocks noGrp="1"/>
          </p:cNvSpPr>
          <p:nvPr>
            <p:ph idx="1"/>
          </p:nvPr>
        </p:nvSpPr>
        <p:spPr>
          <a:xfrm>
            <a:off x="767407" y="1340768"/>
            <a:ext cx="7483507" cy="4813995"/>
          </a:xfrm>
        </p:spPr>
        <p:txBody>
          <a:bodyPr anchor="ctr"/>
          <a:lstStyle/>
          <a:p>
            <a:pPr marL="342900" indent="-342900">
              <a:buFont typeface="Wingdings" panose="05000000000000000000" pitchFamily="2" charset="2"/>
              <a:buChar char="§"/>
            </a:pPr>
            <a:r>
              <a:rPr lang="en-US" b="1" dirty="0"/>
              <a:t>Free Books:</a:t>
            </a:r>
          </a:p>
          <a:p>
            <a:pPr marL="597150" lvl="1" indent="-342900">
              <a:buFont typeface="Wingdings" panose="05000000000000000000" pitchFamily="2" charset="2"/>
              <a:buChar char="§"/>
            </a:pPr>
            <a:r>
              <a:rPr lang="en-US" dirty="0"/>
              <a:t>https://www.syncfusion.com/succinctly-free-ebooks?category=all&amp;searchkey=asp.net&amp;type=all</a:t>
            </a:r>
          </a:p>
        </p:txBody>
      </p:sp>
      <p:sp>
        <p:nvSpPr>
          <p:cNvPr id="4" name="Text Placeholder 3"/>
          <p:cNvSpPr>
            <a:spLocks noGrp="1"/>
          </p:cNvSpPr>
          <p:nvPr>
            <p:ph type="body" sz="quarter" idx="10"/>
          </p:nvPr>
        </p:nvSpPr>
        <p:spPr/>
        <p:txBody>
          <a:bodyPr/>
          <a:lstStyle/>
          <a:p>
            <a:r>
              <a:rPr lang="en-US" dirty="0"/>
              <a:t>Recommended Reading / Watching</a:t>
            </a:r>
          </a:p>
        </p:txBody>
      </p:sp>
      <p:grpSp>
        <p:nvGrpSpPr>
          <p:cNvPr id="10" name="Group 9">
            <a:extLst>
              <a:ext uri="{FF2B5EF4-FFF2-40B4-BE49-F238E27FC236}">
                <a16:creationId xmlns:a16="http://schemas.microsoft.com/office/drawing/2014/main" id="{79F304C5-FC81-A5E8-3118-FA6ECA3ADE07}"/>
              </a:ext>
            </a:extLst>
          </p:cNvPr>
          <p:cNvGrpSpPr/>
          <p:nvPr/>
        </p:nvGrpSpPr>
        <p:grpSpPr>
          <a:xfrm>
            <a:off x="8544272" y="3140968"/>
            <a:ext cx="2592288" cy="1224136"/>
            <a:chOff x="8544272" y="3063128"/>
            <a:chExt cx="2592288" cy="1224136"/>
          </a:xfrm>
        </p:grpSpPr>
        <p:sp>
          <p:nvSpPr>
            <p:cNvPr id="9" name="Rectangle 8">
              <a:extLst>
                <a:ext uri="{FF2B5EF4-FFF2-40B4-BE49-F238E27FC236}">
                  <a16:creationId xmlns:a16="http://schemas.microsoft.com/office/drawing/2014/main" id="{69C07AB8-D684-B311-90A0-A621070B7117}"/>
                </a:ext>
              </a:extLst>
            </p:cNvPr>
            <p:cNvSpPr/>
            <p:nvPr/>
          </p:nvSpPr>
          <p:spPr>
            <a:xfrm>
              <a:off x="8544272" y="3063128"/>
              <a:ext cx="2592288" cy="1224136"/>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pic>
          <p:nvPicPr>
            <p:cNvPr id="7" name="Picture 6" descr="A white text on a black background&#10;&#10;AI-generated content may be incorrect.">
              <a:extLst>
                <a:ext uri="{FF2B5EF4-FFF2-40B4-BE49-F238E27FC236}">
                  <a16:creationId xmlns:a16="http://schemas.microsoft.com/office/drawing/2014/main" id="{042BDC53-E404-0BDF-0F3B-6A7173D8CB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7629" y="3475833"/>
              <a:ext cx="2082907" cy="457223"/>
            </a:xfrm>
            <a:prstGeom prst="rect">
              <a:avLst/>
            </a:prstGeom>
          </p:spPr>
        </p:pic>
      </p:grpSp>
    </p:spTree>
    <p:extLst>
      <p:ext uri="{BB962C8B-B14F-4D97-AF65-F5344CB8AC3E}">
        <p14:creationId xmlns:p14="http://schemas.microsoft.com/office/powerpoint/2010/main" val="3449755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Administrative issues</a:t>
            </a:r>
          </a:p>
        </p:txBody>
      </p:sp>
      <p:sp>
        <p:nvSpPr>
          <p:cNvPr id="2" name="Content Placeholder 1"/>
          <p:cNvSpPr>
            <a:spLocks noGrp="1"/>
          </p:cNvSpPr>
          <p:nvPr>
            <p:ph idx="1"/>
          </p:nvPr>
        </p:nvSpPr>
        <p:spPr/>
        <p:txBody>
          <a:bodyPr/>
          <a:lstStyle/>
          <a:p>
            <a:pPr marL="88650" indent="-342900" algn="just">
              <a:buFont typeface="Wingdings" panose="05000000000000000000" pitchFamily="2" charset="2"/>
              <a:buChar char="§"/>
            </a:pPr>
            <a:r>
              <a:rPr lang="en-US" dirty="0"/>
              <a:t>Courses on </a:t>
            </a:r>
            <a:r>
              <a:rPr lang="en-US" b="1" dirty="0"/>
              <a:t>Microsoft Learn - </a:t>
            </a:r>
            <a:r>
              <a:rPr lang="en-US" dirty="0">
                <a:hlinkClick r:id="rId2"/>
              </a:rPr>
              <a:t>https://docs.microsoft.com/en-us/learn/</a:t>
            </a:r>
            <a:endParaRPr lang="en-US" dirty="0"/>
          </a:p>
          <a:p>
            <a:pPr marL="597150" lvl="1" indent="-342900" algn="just">
              <a:buFont typeface="Wingdings" panose="05000000000000000000" pitchFamily="2" charset="2"/>
              <a:buChar char="§"/>
            </a:pPr>
            <a:r>
              <a:rPr lang="en-US" dirty="0"/>
              <a:t>Free</a:t>
            </a:r>
          </a:p>
          <a:p>
            <a:pPr marL="597150" lvl="1" indent="-342900" algn="just">
              <a:buFont typeface="Wingdings" panose="05000000000000000000" pitchFamily="2" charset="2"/>
              <a:buChar char="§"/>
            </a:pPr>
            <a:endParaRPr lang="en-US" b="1" dirty="0"/>
          </a:p>
          <a:p>
            <a:pPr marL="342900" indent="-342900" algn="just">
              <a:buFont typeface="Wingdings" panose="05000000000000000000" pitchFamily="2" charset="2"/>
              <a:buChar char="§"/>
            </a:pPr>
            <a:r>
              <a:rPr lang="en-US" dirty="0"/>
              <a:t>Courses on </a:t>
            </a:r>
            <a:r>
              <a:rPr lang="en-US" b="1" dirty="0" err="1"/>
              <a:t>PluralSight</a:t>
            </a:r>
            <a:r>
              <a:rPr lang="en-US" dirty="0"/>
              <a:t> - </a:t>
            </a:r>
            <a:r>
              <a:rPr lang="en-US" dirty="0">
                <a:hlinkClick r:id="rId3"/>
              </a:rPr>
              <a:t>www.pluralsight.com</a:t>
            </a:r>
            <a:endParaRPr lang="en-US" dirty="0"/>
          </a:p>
          <a:p>
            <a:pPr marL="597150" lvl="1" indent="-342900" algn="just">
              <a:buFont typeface="Wingdings" panose="05000000000000000000" pitchFamily="2" charset="2"/>
              <a:buChar char="§"/>
            </a:pPr>
            <a:r>
              <a:rPr lang="en-US" dirty="0"/>
              <a:t>Free trial (10 days)</a:t>
            </a:r>
          </a:p>
          <a:p>
            <a:pPr marL="597150" lvl="1" indent="-342900" algn="just">
              <a:buFont typeface="Wingdings" panose="05000000000000000000" pitchFamily="2" charset="2"/>
              <a:buChar char="§"/>
            </a:pPr>
            <a:r>
              <a:rPr lang="en-US" dirty="0"/>
              <a:t>Free </a:t>
            </a:r>
            <a:r>
              <a:rPr lang="en-US" b="1" dirty="0"/>
              <a:t>limited</a:t>
            </a:r>
            <a:r>
              <a:rPr lang="en-US" dirty="0"/>
              <a:t> access through </a:t>
            </a:r>
            <a:r>
              <a:rPr lang="en-US" dirty="0">
                <a:hlinkClick r:id="rId4"/>
              </a:rPr>
              <a:t>https://azure.microsoft.com/en-us/free/students/</a:t>
            </a:r>
            <a:endParaRPr lang="en-US" dirty="0"/>
          </a:p>
        </p:txBody>
      </p:sp>
      <p:sp>
        <p:nvSpPr>
          <p:cNvPr id="4" name="Text Placeholder 3"/>
          <p:cNvSpPr>
            <a:spLocks noGrp="1"/>
          </p:cNvSpPr>
          <p:nvPr>
            <p:ph type="body" sz="quarter" idx="10"/>
          </p:nvPr>
        </p:nvSpPr>
        <p:spPr/>
        <p:txBody>
          <a:bodyPr/>
          <a:lstStyle/>
          <a:p>
            <a:r>
              <a:rPr lang="en-US" dirty="0"/>
              <a:t>Further Reading / Watching</a:t>
            </a:r>
          </a:p>
        </p:txBody>
      </p:sp>
    </p:spTree>
    <p:extLst>
      <p:ext uri="{BB962C8B-B14F-4D97-AF65-F5344CB8AC3E}">
        <p14:creationId xmlns:p14="http://schemas.microsoft.com/office/powerpoint/2010/main" val="3351431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Administrative issues</a:t>
            </a:r>
          </a:p>
        </p:txBody>
      </p:sp>
      <p:sp>
        <p:nvSpPr>
          <p:cNvPr id="3" name="Content Placeholder 2"/>
          <p:cNvSpPr>
            <a:spLocks noGrp="1"/>
          </p:cNvSpPr>
          <p:nvPr>
            <p:ph idx="1"/>
          </p:nvPr>
        </p:nvSpPr>
        <p:spPr/>
        <p:txBody>
          <a:bodyPr/>
          <a:lstStyle/>
          <a:p>
            <a:pPr marL="342900" indent="-342900">
              <a:buFont typeface="Wingdings" panose="05000000000000000000" pitchFamily="2" charset="2"/>
              <a:buChar char="§"/>
            </a:pPr>
            <a:r>
              <a:rPr lang="en-US" dirty="0"/>
              <a:t>Documentation:</a:t>
            </a:r>
          </a:p>
          <a:p>
            <a:pPr marL="597150" lvl="1" indent="-342900">
              <a:buFont typeface="Wingdings" panose="05000000000000000000" pitchFamily="2" charset="2"/>
              <a:buChar char="§"/>
            </a:pPr>
            <a:r>
              <a:rPr lang="en-US" dirty="0">
                <a:hlinkClick r:id="rId2"/>
              </a:rPr>
              <a:t>https://docs.microsoft.com/en-us/aspnet/</a:t>
            </a:r>
            <a:endParaRPr lang="en-US" dirty="0"/>
          </a:p>
          <a:p>
            <a:pPr marL="597150" lvl="1"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API reference:</a:t>
            </a:r>
          </a:p>
          <a:p>
            <a:pPr marL="597150" lvl="1" indent="-342900">
              <a:buFont typeface="Wingdings" panose="05000000000000000000" pitchFamily="2" charset="2"/>
              <a:buChar char="§"/>
            </a:pPr>
            <a:r>
              <a:rPr lang="en-US" u="sng" dirty="0">
                <a:hlinkClick r:id="rId3"/>
              </a:rPr>
              <a:t>https://docs.microsoft.com/en-us/dotnet/api/?view=net-5.0</a:t>
            </a:r>
            <a:endParaRPr lang="en-US" u="sng" dirty="0"/>
          </a:p>
          <a:p>
            <a:pPr marL="597150" lvl="1"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Source code:</a:t>
            </a:r>
          </a:p>
          <a:p>
            <a:pPr marL="597150" lvl="1" indent="-342900">
              <a:buFont typeface="Wingdings" panose="05000000000000000000" pitchFamily="2" charset="2"/>
              <a:buChar char="§"/>
            </a:pPr>
            <a:r>
              <a:rPr lang="en-US" dirty="0">
                <a:hlinkClick r:id="rId4"/>
              </a:rPr>
              <a:t>https://github.com/aspnet/Home</a:t>
            </a:r>
            <a:endParaRPr lang="en-US" dirty="0"/>
          </a:p>
          <a:p>
            <a:pPr lvl="1"/>
            <a:endParaRPr lang="en-US" dirty="0"/>
          </a:p>
          <a:p>
            <a:pPr marL="342900" indent="-342900">
              <a:buFont typeface="Wingdings" panose="05000000000000000000" pitchFamily="2" charset="2"/>
              <a:buChar char="§"/>
            </a:pPr>
            <a:r>
              <a:rPr lang="en-US" dirty="0"/>
              <a:t>Various samples:</a:t>
            </a:r>
          </a:p>
          <a:p>
            <a:pPr marL="597150" lvl="1" indent="-342900">
              <a:buFont typeface="Wingdings" panose="05000000000000000000" pitchFamily="2" charset="2"/>
              <a:buChar char="§"/>
            </a:pPr>
            <a:r>
              <a:rPr lang="en-US" dirty="0">
                <a:hlinkClick r:id="rId5"/>
              </a:rPr>
              <a:t>https://code.msdn.microsoft.com/</a:t>
            </a:r>
            <a:endParaRPr lang="en-US" dirty="0"/>
          </a:p>
        </p:txBody>
      </p:sp>
      <p:sp>
        <p:nvSpPr>
          <p:cNvPr id="4" name="Text Placeholder 3"/>
          <p:cNvSpPr>
            <a:spLocks noGrp="1"/>
          </p:cNvSpPr>
          <p:nvPr>
            <p:ph type="body" sz="quarter" idx="10"/>
          </p:nvPr>
        </p:nvSpPr>
        <p:spPr/>
        <p:txBody>
          <a:bodyPr/>
          <a:lstStyle/>
          <a:p>
            <a:r>
              <a:rPr lang="en-US" dirty="0"/>
              <a:t>API reference and Source code</a:t>
            </a:r>
          </a:p>
        </p:txBody>
      </p:sp>
    </p:spTree>
    <p:extLst>
      <p:ext uri="{BB962C8B-B14F-4D97-AF65-F5344CB8AC3E}">
        <p14:creationId xmlns:p14="http://schemas.microsoft.com/office/powerpoint/2010/main" val="411187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F056E2-012F-494B-B4D4-E53374D61943}"/>
              </a:ext>
            </a:extLst>
          </p:cNvPr>
          <p:cNvSpPr>
            <a:spLocks noGrp="1"/>
          </p:cNvSpPr>
          <p:nvPr>
            <p:ph type="title"/>
          </p:nvPr>
        </p:nvSpPr>
        <p:spPr/>
        <p:txBody>
          <a:bodyPr/>
          <a:lstStyle/>
          <a:p>
            <a:r>
              <a:rPr lang="en-US" dirty="0"/>
              <a:t>Contents</a:t>
            </a:r>
          </a:p>
        </p:txBody>
      </p:sp>
      <mc:AlternateContent xmlns:mc="http://schemas.openxmlformats.org/markup-compatibility/2006">
        <mc:Choice xmlns:psuz="http://schemas.microsoft.com/office/powerpoint/2016/summaryzoom" Requires="psuz">
          <p:graphicFrame>
            <p:nvGraphicFramePr>
              <p:cNvPr id="5" name="Summary Zoom 4">
                <a:extLst>
                  <a:ext uri="{FF2B5EF4-FFF2-40B4-BE49-F238E27FC236}">
                    <a16:creationId xmlns:a16="http://schemas.microsoft.com/office/drawing/2014/main" id="{A1DE857D-BDF9-4E52-9DA9-73ECCD3A37BE}"/>
                  </a:ext>
                </a:extLst>
              </p:cNvPr>
              <p:cNvGraphicFramePr>
                <a:graphicFrameLocks noChangeAspect="1"/>
              </p:cNvGraphicFramePr>
              <p:nvPr>
                <p:extLst>
                  <p:ext uri="{D42A27DB-BD31-4B8C-83A1-F6EECF244321}">
                    <p14:modId xmlns:p14="http://schemas.microsoft.com/office/powerpoint/2010/main" val="4272849812"/>
                  </p:ext>
                </p:extLst>
              </p:nvPr>
            </p:nvGraphicFramePr>
            <p:xfrm>
              <a:off x="766763" y="1341438"/>
              <a:ext cx="10829925" cy="4813300"/>
            </p:xfrm>
            <a:graphic>
              <a:graphicData uri="http://schemas.microsoft.com/office/powerpoint/2016/summaryzoom">
                <psuz:summaryZm>
                  <psuz:summaryZmObj sectionId="{090A1CF0-1C3E-48DA-84F6-CBC61F93FDC4}">
                    <psuz:zmPr id="{03A65DEF-ADBB-462A-A9E3-4F2ED5F1BEC2}" transitionDur="1000">
                      <p166:blipFill xmlns:p166="http://schemas.microsoft.com/office/powerpoint/2016/6/main">
                        <a:blip r:embed="rId2"/>
                        <a:stretch>
                          <a:fillRect/>
                        </a:stretch>
                      </p166:blipFill>
                      <p166:spPr xmlns:p166="http://schemas.microsoft.com/office/powerpoint/2016/6/main">
                        <a:xfrm>
                          <a:off x="1492124" y="168465"/>
                          <a:ext cx="3850639" cy="2165985"/>
                        </a:xfrm>
                        <a:prstGeom prst="rect">
                          <a:avLst/>
                        </a:prstGeom>
                        <a:ln w="3175">
                          <a:solidFill>
                            <a:prstClr val="ltGray"/>
                          </a:solidFill>
                        </a:ln>
                      </p166:spPr>
                    </psuz:zmPr>
                  </psuz:summaryZmObj>
                  <psuz:summaryZmObj sectionId="{DACCCC93-1F8B-4D28-BA33-D0FB5CA83842}">
                    <psuz:zmPr id="{7A17AB5F-9034-4012-A5E5-F5BBE792CF44}" transitionDur="1000">
                      <p166:blipFill xmlns:p166="http://schemas.microsoft.com/office/powerpoint/2016/6/main">
                        <a:blip r:embed="rId3"/>
                        <a:stretch>
                          <a:fillRect/>
                        </a:stretch>
                      </p166:blipFill>
                      <p166:spPr xmlns:p166="http://schemas.microsoft.com/office/powerpoint/2016/6/main">
                        <a:xfrm>
                          <a:off x="5487162" y="168465"/>
                          <a:ext cx="3850639" cy="2165985"/>
                        </a:xfrm>
                        <a:prstGeom prst="rect">
                          <a:avLst/>
                        </a:prstGeom>
                        <a:ln w="3175">
                          <a:solidFill>
                            <a:prstClr val="ltGray"/>
                          </a:solidFill>
                        </a:ln>
                      </p166:spPr>
                    </psuz:zmPr>
                  </psuz:summaryZmObj>
                  <psuz:summaryZmObj sectionId="{480940C7-8D2B-4AA9-9534-EE7628D8B664}">
                    <psuz:zmPr id="{83DD7842-70FB-49BB-A731-C17024164B6A}" transitionDur="1000">
                      <p166:blipFill xmlns:p166="http://schemas.microsoft.com/office/powerpoint/2016/6/main">
                        <a:blip r:embed="rId4"/>
                        <a:stretch>
                          <a:fillRect/>
                        </a:stretch>
                      </p166:blipFill>
                      <p166:spPr xmlns:p166="http://schemas.microsoft.com/office/powerpoint/2016/6/main">
                        <a:xfrm>
                          <a:off x="1492124" y="2478849"/>
                          <a:ext cx="3850639" cy="2165985"/>
                        </a:xfrm>
                        <a:prstGeom prst="rect">
                          <a:avLst/>
                        </a:prstGeom>
                        <a:ln w="3175">
                          <a:solidFill>
                            <a:prstClr val="ltGray"/>
                          </a:solidFill>
                        </a:ln>
                      </p166:spPr>
                    </psuz:zmPr>
                  </psuz:summaryZmObj>
                  <psuz:gridLayout/>
                </psuz:summaryZm>
              </a:graphicData>
            </a:graphic>
          </p:graphicFrame>
        </mc:Choice>
        <mc:Fallback>
          <p:grpSp>
            <p:nvGrpSpPr>
              <p:cNvPr id="5" name="Summary Zoom 4">
                <a:extLst>
                  <a:ext uri="{FF2B5EF4-FFF2-40B4-BE49-F238E27FC236}">
                    <a16:creationId xmlns:a16="http://schemas.microsoft.com/office/drawing/2014/main" id="{A1DE857D-BDF9-4E52-9DA9-73ECCD3A37BE}"/>
                  </a:ext>
                </a:extLst>
              </p:cNvPr>
              <p:cNvGrpSpPr>
                <a:grpSpLocks noGrp="1" noUngrp="1" noRot="1" noChangeAspect="1" noMove="1" noResize="1"/>
              </p:cNvGrpSpPr>
              <p:nvPr/>
            </p:nvGrpSpPr>
            <p:grpSpPr>
              <a:xfrm>
                <a:off x="766763" y="1341438"/>
                <a:ext cx="10829925" cy="4813300"/>
                <a:chOff x="766763" y="1341438"/>
                <a:chExt cx="10829925" cy="4813300"/>
              </a:xfrm>
            </p:grpSpPr>
            <p:pic>
              <p:nvPicPr>
                <p:cNvPr id="2" name="Picture 2">
                  <a:hlinkClick r:id="rId5" action="ppaction://hlinksldjump"/>
                </p:cNvPr>
                <p:cNvPicPr>
                  <a:picLocks noSelect="1" noRot="1" noChangeAspect="1" noMove="1" noResize="1" noEditPoints="1" noAdjustHandles="1" noChangeArrowheads="1" noChangeShapeType="1"/>
                </p:cNvPicPr>
                <p:nvPr/>
              </p:nvPicPr>
              <p:blipFill>
                <a:blip r:embed="rId2"/>
                <a:stretch>
                  <a:fillRect/>
                </a:stretch>
              </p:blipFill>
              <p:spPr>
                <a:xfrm>
                  <a:off x="2258887" y="1509903"/>
                  <a:ext cx="3850639" cy="2165985"/>
                </a:xfrm>
                <a:prstGeom prst="rect">
                  <a:avLst/>
                </a:prstGeom>
                <a:ln w="3175">
                  <a:solidFill>
                    <a:prstClr val="ltGray"/>
                  </a:solidFill>
                </a:ln>
              </p:spPr>
            </p:pic>
            <p:pic>
              <p:nvPicPr>
                <p:cNvPr id="4" name="Picture 4">
                  <a:hlinkClick r:id="rId6" action="ppaction://hlinksldjump"/>
                </p:cNvPr>
                <p:cNvPicPr>
                  <a:picLocks noSelect="1" noRot="1" noChangeAspect="1" noMove="1" noResize="1" noEditPoints="1" noAdjustHandles="1" noChangeArrowheads="1" noChangeShapeType="1"/>
                </p:cNvPicPr>
                <p:nvPr/>
              </p:nvPicPr>
              <p:blipFill>
                <a:blip r:embed="rId3"/>
                <a:stretch>
                  <a:fillRect/>
                </a:stretch>
              </p:blipFill>
              <p:spPr>
                <a:xfrm>
                  <a:off x="6253925" y="1509903"/>
                  <a:ext cx="3850639" cy="2165985"/>
                </a:xfrm>
                <a:prstGeom prst="rect">
                  <a:avLst/>
                </a:prstGeom>
                <a:ln w="3175">
                  <a:solidFill>
                    <a:prstClr val="ltGray"/>
                  </a:solidFill>
                </a:ln>
              </p:spPr>
            </p:pic>
            <p:pic>
              <p:nvPicPr>
                <p:cNvPr id="6" name="Picture 6">
                  <a:hlinkClick r:id="rId7" action="ppaction://hlinksldjump"/>
                </p:cNvPr>
                <p:cNvPicPr>
                  <a:picLocks noSelect="1" noRot="1" noChangeAspect="1" noMove="1" noResize="1" noEditPoints="1" noAdjustHandles="1" noChangeArrowheads="1" noChangeShapeType="1"/>
                </p:cNvPicPr>
                <p:nvPr/>
              </p:nvPicPr>
              <p:blipFill>
                <a:blip r:embed="rId4"/>
                <a:stretch>
                  <a:fillRect/>
                </a:stretch>
              </p:blipFill>
              <p:spPr>
                <a:xfrm>
                  <a:off x="2258887" y="3820287"/>
                  <a:ext cx="3850639" cy="2165985"/>
                </a:xfrm>
                <a:prstGeom prst="rect">
                  <a:avLst/>
                </a:prstGeom>
                <a:ln w="3175">
                  <a:solidFill>
                    <a:prstClr val="ltGray"/>
                  </a:solidFill>
                </a:ln>
              </p:spPr>
            </p:pic>
          </p:grpSp>
        </mc:Fallback>
      </mc:AlternateContent>
    </p:spTree>
    <p:extLst>
      <p:ext uri="{BB962C8B-B14F-4D97-AF65-F5344CB8AC3E}">
        <p14:creationId xmlns:p14="http://schemas.microsoft.com/office/powerpoint/2010/main" val="1845000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242E68-E1AF-4FFD-AB0F-BDA691B17B20}"/>
              </a:ext>
            </a:extLst>
          </p:cNvPr>
          <p:cNvSpPr>
            <a:spLocks noGrp="1"/>
          </p:cNvSpPr>
          <p:nvPr>
            <p:ph idx="1"/>
          </p:nvPr>
        </p:nvSpPr>
        <p:spPr/>
        <p:txBody>
          <a:bodyPr/>
          <a:lstStyle/>
          <a:p>
            <a:pPr marL="342900" indent="-342900" algn="just">
              <a:buFont typeface="Wingdings" panose="05000000000000000000" pitchFamily="2" charset="2"/>
              <a:buChar char="§"/>
            </a:pPr>
            <a:r>
              <a:rPr lang="en-US" dirty="0"/>
              <a:t>ASP.NET Core enables developers to easily configure and manage security for their apps. ASP.NET Core contains features for managing authentication, authorization, data protection, SSL enforcement, app secrets, anti-request forgery protection, and CORS management. These security features allow you to build robust yet secure ASP.NET Core apps.</a:t>
            </a:r>
          </a:p>
          <a:p>
            <a:endParaRPr lang="en-US" dirty="0"/>
          </a:p>
          <a:p>
            <a:pPr marL="342900" indent="-342900">
              <a:buFont typeface="Wingdings" panose="05000000000000000000" pitchFamily="2" charset="2"/>
              <a:buChar char="§"/>
            </a:pPr>
            <a:r>
              <a:rPr lang="en-US" dirty="0"/>
              <a:t>Further reading: </a:t>
            </a:r>
            <a:r>
              <a:rPr lang="en-US" dirty="0">
                <a:hlinkClick r:id="rId2"/>
              </a:rPr>
              <a:t>https://docs.microsoft.com/en-us/aspnet/core/security</a:t>
            </a:r>
            <a:endParaRPr lang="en-US" dirty="0"/>
          </a:p>
          <a:p>
            <a:endParaRPr lang="en-US" dirty="0"/>
          </a:p>
        </p:txBody>
      </p:sp>
      <p:sp>
        <p:nvSpPr>
          <p:cNvPr id="3" name="Title 2">
            <a:extLst>
              <a:ext uri="{FF2B5EF4-FFF2-40B4-BE49-F238E27FC236}">
                <a16:creationId xmlns:a16="http://schemas.microsoft.com/office/drawing/2014/main" id="{8A94970F-4B30-4711-972B-3522EA66F04F}"/>
              </a:ext>
            </a:extLst>
          </p:cNvPr>
          <p:cNvSpPr>
            <a:spLocks noGrp="1"/>
          </p:cNvSpPr>
          <p:nvPr>
            <p:ph type="title"/>
          </p:nvPr>
        </p:nvSpPr>
        <p:spPr/>
        <p:txBody>
          <a:bodyPr/>
          <a:lstStyle/>
          <a:p>
            <a:r>
              <a:rPr lang="en-US" dirty="0"/>
              <a:t>Security in ASP.NET Core</a:t>
            </a:r>
          </a:p>
        </p:txBody>
      </p:sp>
    </p:spTree>
    <p:extLst>
      <p:ext uri="{BB962C8B-B14F-4D97-AF65-F5344CB8AC3E}">
        <p14:creationId xmlns:p14="http://schemas.microsoft.com/office/powerpoint/2010/main" val="2966739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Authentication</a:t>
            </a:r>
            <a:endParaRPr lang="ro-RO" dirty="0"/>
          </a:p>
        </p:txBody>
      </p:sp>
    </p:spTree>
    <p:extLst>
      <p:ext uri="{BB962C8B-B14F-4D97-AF65-F5344CB8AC3E}">
        <p14:creationId xmlns:p14="http://schemas.microsoft.com/office/powerpoint/2010/main" val="782001077"/>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F6B669-0DCF-4B8A-A8A9-BADFF8FFDC6A}"/>
              </a:ext>
            </a:extLst>
          </p:cNvPr>
          <p:cNvSpPr>
            <a:spLocks noGrp="1"/>
          </p:cNvSpPr>
          <p:nvPr>
            <p:ph type="title"/>
          </p:nvPr>
        </p:nvSpPr>
        <p:spPr/>
        <p:txBody>
          <a:bodyPr/>
          <a:lstStyle/>
          <a:p>
            <a:r>
              <a:rPr lang="en-US" dirty="0"/>
              <a:t>Authentication</a:t>
            </a:r>
          </a:p>
        </p:txBody>
      </p:sp>
      <p:sp>
        <p:nvSpPr>
          <p:cNvPr id="4" name="Content Placeholder 3">
            <a:extLst>
              <a:ext uri="{FF2B5EF4-FFF2-40B4-BE49-F238E27FC236}">
                <a16:creationId xmlns:a16="http://schemas.microsoft.com/office/drawing/2014/main" id="{A57ED61A-4369-4F9B-A3CD-2D329AA20C41}"/>
              </a:ext>
            </a:extLst>
          </p:cNvPr>
          <p:cNvSpPr>
            <a:spLocks noGrp="1"/>
          </p:cNvSpPr>
          <p:nvPr>
            <p:ph idx="1"/>
          </p:nvPr>
        </p:nvSpPr>
        <p:spPr>
          <a:xfrm>
            <a:off x="551384" y="1556792"/>
            <a:ext cx="7128792" cy="4813995"/>
          </a:xfrm>
        </p:spPr>
        <p:txBody>
          <a:bodyPr/>
          <a:lstStyle/>
          <a:p>
            <a:pPr algn="just"/>
            <a:r>
              <a:rPr lang="en-US" b="1" dirty="0"/>
              <a:t> </a:t>
            </a:r>
          </a:p>
          <a:p>
            <a:pPr algn="just">
              <a:buFont typeface="Wingdings" pitchFamily="2" charset="2"/>
              <a:buChar char="§"/>
            </a:pPr>
            <a:endParaRPr lang="en-US" b="1" dirty="0"/>
          </a:p>
          <a:p>
            <a:pPr marL="342900" indent="-342900" algn="just">
              <a:buFont typeface="Wingdings" panose="05000000000000000000" pitchFamily="2" charset="2"/>
              <a:buChar char="§"/>
            </a:pPr>
            <a:r>
              <a:rPr lang="en-US" b="1" dirty="0"/>
              <a:t>Authentication </a:t>
            </a:r>
            <a:r>
              <a:rPr lang="en-US" dirty="0"/>
              <a:t>- determining the identity of a user.</a:t>
            </a:r>
          </a:p>
          <a:p>
            <a:pPr marL="342900" indent="-342900" algn="just">
              <a:buFont typeface="Wingdings" panose="05000000000000000000" pitchFamily="2" charset="2"/>
              <a:buChar char="§"/>
            </a:pPr>
            <a:endParaRPr lang="en-US" b="1" dirty="0"/>
          </a:p>
          <a:p>
            <a:pPr marL="342900" indent="-342900" algn="just">
              <a:buFont typeface="Wingdings" panose="05000000000000000000" pitchFamily="2" charset="2"/>
              <a:buChar char="§"/>
            </a:pPr>
            <a:r>
              <a:rPr lang="en-US" b="1" dirty="0"/>
              <a:t>Authorization</a:t>
            </a:r>
            <a:r>
              <a:rPr lang="en-US" dirty="0"/>
              <a:t> - determining whether a user is allowed to perform an action</a:t>
            </a:r>
          </a:p>
          <a:p>
            <a:endParaRPr lang="en-US" dirty="0"/>
          </a:p>
        </p:txBody>
      </p:sp>
      <p:pic>
        <p:nvPicPr>
          <p:cNvPr id="6" name="Picture 5" descr="A close up of a logo&#10;&#10;Description generated with very high confidence">
            <a:extLst>
              <a:ext uri="{FF2B5EF4-FFF2-40B4-BE49-F238E27FC236}">
                <a16:creationId xmlns:a16="http://schemas.microsoft.com/office/drawing/2014/main" id="{4F55C710-DAB2-4F98-884D-81E7B8983B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0296" y="1700808"/>
            <a:ext cx="2692063" cy="4050793"/>
          </a:xfrm>
          <a:prstGeom prst="rect">
            <a:avLst/>
          </a:prstGeom>
          <a:ln>
            <a:solidFill>
              <a:schemeClr val="tx1"/>
            </a:solidFill>
          </a:ln>
        </p:spPr>
      </p:pic>
    </p:spTree>
    <p:extLst>
      <p:ext uri="{BB962C8B-B14F-4D97-AF65-F5344CB8AC3E}">
        <p14:creationId xmlns:p14="http://schemas.microsoft.com/office/powerpoint/2010/main" val="2231669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26F00-7D98-43CB-81BC-C8E122DB59D0}"/>
              </a:ext>
            </a:extLst>
          </p:cNvPr>
          <p:cNvSpPr>
            <a:spLocks noGrp="1"/>
          </p:cNvSpPr>
          <p:nvPr>
            <p:ph type="title"/>
          </p:nvPr>
        </p:nvSpPr>
        <p:spPr/>
        <p:txBody>
          <a:bodyPr/>
          <a:lstStyle/>
          <a:p>
            <a:r>
              <a:rPr lang="en-US" dirty="0"/>
              <a:t>Authentication</a:t>
            </a:r>
          </a:p>
        </p:txBody>
      </p:sp>
      <p:sp>
        <p:nvSpPr>
          <p:cNvPr id="4" name="Content Placeholder 3"/>
          <p:cNvSpPr>
            <a:spLocks noGrp="1"/>
          </p:cNvSpPr>
          <p:nvPr>
            <p:ph idx="1"/>
          </p:nvPr>
        </p:nvSpPr>
        <p:spPr/>
        <p:txBody>
          <a:bodyPr/>
          <a:lstStyle/>
          <a:p>
            <a:pPr marL="342900" indent="-342900" algn="just">
              <a:buFont typeface="Wingdings" panose="05000000000000000000" pitchFamily="2" charset="2"/>
              <a:buChar char="§"/>
            </a:pPr>
            <a:r>
              <a:rPr lang="en-US" dirty="0"/>
              <a:t>ASP.NET Core Identity is an API from Microsoft to manage users in ASP.NET applications</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Users can create an account and login with their Active Directory account, with a user name and password or they can use an external login providers such as Facebook, Google, Microsoft Account, Twitter and more</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ASP.NET Core Identity can be configured to use a SQL Server database to store user names, passwords, and profile data. Alternatively, you can use your own persistent store to store data in another persistent storage, such as Azure Table Storage</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OSS alternatives are also available: </a:t>
            </a:r>
            <a:r>
              <a:rPr lang="en-US" dirty="0">
                <a:hlinkClick r:id="rId3"/>
              </a:rPr>
              <a:t>link</a:t>
            </a:r>
            <a:endParaRPr lang="en-US" dirty="0"/>
          </a:p>
        </p:txBody>
      </p:sp>
      <p:sp>
        <p:nvSpPr>
          <p:cNvPr id="6" name="Text Placeholder 5">
            <a:extLst>
              <a:ext uri="{FF2B5EF4-FFF2-40B4-BE49-F238E27FC236}">
                <a16:creationId xmlns:a16="http://schemas.microsoft.com/office/drawing/2014/main" id="{08E8E9ED-7363-4B80-8B3C-447D4BA01213}"/>
              </a:ext>
            </a:extLst>
          </p:cNvPr>
          <p:cNvSpPr>
            <a:spLocks noGrp="1"/>
          </p:cNvSpPr>
          <p:nvPr>
            <p:ph type="body" sz="quarter" idx="10"/>
          </p:nvPr>
        </p:nvSpPr>
        <p:spPr/>
        <p:txBody>
          <a:bodyPr/>
          <a:lstStyle/>
          <a:p>
            <a:r>
              <a:rPr lang="en-US" dirty="0"/>
              <a:t>ASP.NET Core Identity</a:t>
            </a:r>
          </a:p>
        </p:txBody>
      </p:sp>
    </p:spTree>
    <p:extLst>
      <p:ext uri="{BB962C8B-B14F-4D97-AF65-F5344CB8AC3E}">
        <p14:creationId xmlns:p14="http://schemas.microsoft.com/office/powerpoint/2010/main" val="93751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26F00-7D98-43CB-81BC-C8E122DB59D0}"/>
              </a:ext>
            </a:extLst>
          </p:cNvPr>
          <p:cNvSpPr>
            <a:spLocks noGrp="1"/>
          </p:cNvSpPr>
          <p:nvPr>
            <p:ph type="title"/>
          </p:nvPr>
        </p:nvSpPr>
        <p:spPr/>
        <p:txBody>
          <a:bodyPr/>
          <a:lstStyle/>
          <a:p>
            <a:r>
              <a:rPr lang="en-US" dirty="0"/>
              <a:t>Authentication</a:t>
            </a:r>
          </a:p>
        </p:txBody>
      </p:sp>
      <p:sp>
        <p:nvSpPr>
          <p:cNvPr id="4" name="Content Placeholder 3"/>
          <p:cNvSpPr>
            <a:spLocks noGrp="1"/>
          </p:cNvSpPr>
          <p:nvPr>
            <p:ph idx="1"/>
          </p:nvPr>
        </p:nvSpPr>
        <p:spPr/>
        <p:txBody>
          <a:bodyPr/>
          <a:lstStyle/>
          <a:p>
            <a:pPr marL="342900" indent="-342900" algn="just">
              <a:buFont typeface="Wingdings" panose="05000000000000000000" pitchFamily="2" charset="2"/>
              <a:buChar char="§"/>
            </a:pPr>
            <a:r>
              <a:rPr lang="en-US" dirty="0"/>
              <a:t>Why is it useful?</a:t>
            </a:r>
          </a:p>
          <a:p>
            <a:pPr marL="597150" lvl="1" indent="-342900" algn="just">
              <a:buFont typeface="Wingdings" panose="05000000000000000000" pitchFamily="2" charset="2"/>
              <a:buChar char="§"/>
            </a:pPr>
            <a:r>
              <a:rPr lang="en-US" dirty="0"/>
              <a:t>User management is an important feature for most applications, and ASP.NET Core Identity provides a ready-made and well-tested platform that doesn’t require you to create custom versions of commonly demanded functions.</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NuGet Package:</a:t>
            </a:r>
          </a:p>
          <a:p>
            <a:pPr marL="597150" lvl="1" indent="-342900" algn="just">
              <a:buFont typeface="Wingdings" panose="05000000000000000000" pitchFamily="2" charset="2"/>
              <a:buChar char="§"/>
            </a:pPr>
            <a:r>
              <a:rPr lang="en-US" dirty="0" err="1"/>
              <a:t>Microsoft.AspNetCore.Identity.EntityFrameworkCore</a:t>
            </a:r>
            <a:endParaRPr lang="en-US" dirty="0"/>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Documentation: </a:t>
            </a:r>
            <a:r>
              <a:rPr lang="en-US" dirty="0">
                <a:hlinkClick r:id="rId3"/>
              </a:rPr>
              <a:t>link</a:t>
            </a:r>
            <a:endParaRPr lang="en-US" dirty="0"/>
          </a:p>
          <a:p>
            <a:pPr marL="597150" lvl="1" indent="-342900" algn="just">
              <a:buFont typeface="Wingdings" panose="05000000000000000000" pitchFamily="2" charset="2"/>
              <a:buChar char="§"/>
            </a:pPr>
            <a:endParaRPr lang="en-US" dirty="0"/>
          </a:p>
        </p:txBody>
      </p:sp>
      <p:sp>
        <p:nvSpPr>
          <p:cNvPr id="6" name="Text Placeholder 5">
            <a:extLst>
              <a:ext uri="{FF2B5EF4-FFF2-40B4-BE49-F238E27FC236}">
                <a16:creationId xmlns:a16="http://schemas.microsoft.com/office/drawing/2014/main" id="{08E8E9ED-7363-4B80-8B3C-447D4BA01213}"/>
              </a:ext>
            </a:extLst>
          </p:cNvPr>
          <p:cNvSpPr>
            <a:spLocks noGrp="1"/>
          </p:cNvSpPr>
          <p:nvPr>
            <p:ph type="body" sz="quarter" idx="10"/>
          </p:nvPr>
        </p:nvSpPr>
        <p:spPr/>
        <p:txBody>
          <a:bodyPr/>
          <a:lstStyle/>
          <a:p>
            <a:r>
              <a:rPr lang="en-US" dirty="0"/>
              <a:t>ASP.NET Core Identity</a:t>
            </a:r>
          </a:p>
        </p:txBody>
      </p:sp>
    </p:spTree>
    <p:extLst>
      <p:ext uri="{BB962C8B-B14F-4D97-AF65-F5344CB8AC3E}">
        <p14:creationId xmlns:p14="http://schemas.microsoft.com/office/powerpoint/2010/main" val="2872870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Authentication</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474058154"/>
              </p:ext>
            </p:extLst>
          </p:nvPr>
        </p:nvGraphicFramePr>
        <p:xfrm>
          <a:off x="431370" y="1556792"/>
          <a:ext cx="10968142" cy="4721086"/>
        </p:xfrm>
        <a:graphic>
          <a:graphicData uri="http://schemas.openxmlformats.org/drawingml/2006/table">
            <a:tbl>
              <a:tblPr bandRow="1">
                <a:tableStyleId>{793D81CF-94F2-401A-BA57-92F5A7B2D0C5}</a:tableStyleId>
              </a:tblPr>
              <a:tblGrid>
                <a:gridCol w="2304255">
                  <a:extLst>
                    <a:ext uri="{9D8B030D-6E8A-4147-A177-3AD203B41FA5}">
                      <a16:colId xmlns:a16="http://schemas.microsoft.com/office/drawing/2014/main" val="888297048"/>
                    </a:ext>
                  </a:extLst>
                </a:gridCol>
                <a:gridCol w="8663887">
                  <a:extLst>
                    <a:ext uri="{9D8B030D-6E8A-4147-A177-3AD203B41FA5}">
                      <a16:colId xmlns:a16="http://schemas.microsoft.com/office/drawing/2014/main" val="268464170"/>
                    </a:ext>
                  </a:extLst>
                </a:gridCol>
              </a:tblGrid>
              <a:tr h="481677">
                <a:tc>
                  <a:txBody>
                    <a:bodyPr/>
                    <a:lstStyle/>
                    <a:p>
                      <a:r>
                        <a:rPr lang="en-US" sz="2000" dirty="0" err="1">
                          <a:hlinkClick r:id="rId2"/>
                        </a:rPr>
                        <a:t>AccessFailedCount</a:t>
                      </a:r>
                      <a:endParaRPr lang="en-US" sz="2000" dirty="0"/>
                    </a:p>
                  </a:txBody>
                  <a:tcPr marL="21298" marR="21298" marT="10649" marB="10649" anchor="ctr"/>
                </a:tc>
                <a:tc>
                  <a:txBody>
                    <a:bodyPr/>
                    <a:lstStyle/>
                    <a:p>
                      <a:r>
                        <a:rPr lang="en-US" sz="2000" dirty="0"/>
                        <a:t>Gets or sets the number of failures for the purposes of lockout.(Inherited from </a:t>
                      </a:r>
                      <a:r>
                        <a:rPr lang="en-US" sz="2000" dirty="0" err="1">
                          <a:hlinkClick r:id="rId3"/>
                        </a:rPr>
                        <a:t>IdentityUser</a:t>
                      </a:r>
                      <a:r>
                        <a:rPr lang="en-US" sz="2000" dirty="0">
                          <a:hlinkClick r:id="rId3"/>
                        </a:rPr>
                        <a:t>(Of </a:t>
                      </a:r>
                      <a:r>
                        <a:rPr lang="en-US" sz="2000" dirty="0" err="1">
                          <a:hlinkClick r:id="rId3"/>
                        </a:rPr>
                        <a:t>TKey</a:t>
                      </a:r>
                      <a:r>
                        <a:rPr lang="en-US" sz="2000" dirty="0">
                          <a:hlinkClick r:id="rId3"/>
                        </a:rPr>
                        <a:t>, </a:t>
                      </a:r>
                      <a:r>
                        <a:rPr lang="en-US" sz="2000" dirty="0" err="1">
                          <a:hlinkClick r:id="rId3"/>
                        </a:rPr>
                        <a:t>TLogin</a:t>
                      </a:r>
                      <a:r>
                        <a:rPr lang="en-US" sz="2000" dirty="0">
                          <a:hlinkClick r:id="rId3"/>
                        </a:rPr>
                        <a:t>, </a:t>
                      </a:r>
                      <a:r>
                        <a:rPr lang="en-US" sz="2000" dirty="0" err="1">
                          <a:hlinkClick r:id="rId3"/>
                        </a:rPr>
                        <a:t>TRole</a:t>
                      </a:r>
                      <a:r>
                        <a:rPr lang="en-US" sz="2000" dirty="0">
                          <a:hlinkClick r:id="rId3"/>
                        </a:rPr>
                        <a:t>, </a:t>
                      </a:r>
                      <a:r>
                        <a:rPr lang="en-US" sz="2000" dirty="0" err="1">
                          <a:hlinkClick r:id="rId3"/>
                        </a:rPr>
                        <a:t>TClaim</a:t>
                      </a:r>
                      <a:r>
                        <a:rPr lang="en-US" sz="2000" dirty="0">
                          <a:hlinkClick r:id="rId3"/>
                        </a:rPr>
                        <a:t>)</a:t>
                      </a:r>
                      <a:r>
                        <a:rPr lang="en-US" sz="2000" dirty="0"/>
                        <a:t>.)</a:t>
                      </a:r>
                    </a:p>
                  </a:txBody>
                  <a:tcPr marL="21298" marR="21298" marT="10649" marB="10649" anchor="ctr"/>
                </a:tc>
                <a:extLst>
                  <a:ext uri="{0D108BD9-81ED-4DB2-BD59-A6C34878D82A}">
                    <a16:rowId xmlns:a16="http://schemas.microsoft.com/office/drawing/2014/main" val="1397501849"/>
                  </a:ext>
                </a:extLst>
              </a:tr>
              <a:tr h="481677">
                <a:tc>
                  <a:txBody>
                    <a:bodyPr/>
                    <a:lstStyle/>
                    <a:p>
                      <a:r>
                        <a:rPr lang="en-US" sz="2000" dirty="0">
                          <a:hlinkClick r:id="rId4"/>
                        </a:rPr>
                        <a:t>Email</a:t>
                      </a:r>
                      <a:endParaRPr lang="en-US" sz="2000" dirty="0"/>
                    </a:p>
                  </a:txBody>
                  <a:tcPr marL="21298" marR="21298" marT="10649" marB="10649" anchor="ctr"/>
                </a:tc>
                <a:tc>
                  <a:txBody>
                    <a:bodyPr/>
                    <a:lstStyle/>
                    <a:p>
                      <a:r>
                        <a:rPr lang="en-US" sz="2000" dirty="0"/>
                        <a:t>Gets or sets the email for the user.(Inherited from </a:t>
                      </a:r>
                      <a:r>
                        <a:rPr lang="en-US" sz="2000" dirty="0" err="1">
                          <a:hlinkClick r:id="rId3"/>
                        </a:rPr>
                        <a:t>IdentityUser</a:t>
                      </a:r>
                      <a:r>
                        <a:rPr lang="en-US" sz="2000" dirty="0">
                          <a:hlinkClick r:id="rId3"/>
                        </a:rPr>
                        <a:t>(Of </a:t>
                      </a:r>
                      <a:r>
                        <a:rPr lang="en-US" sz="2000" dirty="0" err="1">
                          <a:hlinkClick r:id="rId3"/>
                        </a:rPr>
                        <a:t>TKey</a:t>
                      </a:r>
                      <a:r>
                        <a:rPr lang="en-US" sz="2000" dirty="0">
                          <a:hlinkClick r:id="rId3"/>
                        </a:rPr>
                        <a:t>, </a:t>
                      </a:r>
                      <a:r>
                        <a:rPr lang="en-US" sz="2000" dirty="0" err="1">
                          <a:hlinkClick r:id="rId3"/>
                        </a:rPr>
                        <a:t>TLogin</a:t>
                      </a:r>
                      <a:r>
                        <a:rPr lang="en-US" sz="2000" dirty="0">
                          <a:hlinkClick r:id="rId3"/>
                        </a:rPr>
                        <a:t>, </a:t>
                      </a:r>
                      <a:r>
                        <a:rPr lang="en-US" sz="2000" dirty="0" err="1">
                          <a:hlinkClick r:id="rId3"/>
                        </a:rPr>
                        <a:t>TRole</a:t>
                      </a:r>
                      <a:r>
                        <a:rPr lang="en-US" sz="2000" dirty="0">
                          <a:hlinkClick r:id="rId3"/>
                        </a:rPr>
                        <a:t>, </a:t>
                      </a:r>
                      <a:r>
                        <a:rPr lang="en-US" sz="2000" dirty="0" err="1">
                          <a:hlinkClick r:id="rId3"/>
                        </a:rPr>
                        <a:t>TClaim</a:t>
                      </a:r>
                      <a:r>
                        <a:rPr lang="en-US" sz="2000" dirty="0">
                          <a:hlinkClick r:id="rId3"/>
                        </a:rPr>
                        <a:t>)</a:t>
                      </a:r>
                      <a:r>
                        <a:rPr lang="en-US" sz="2000" dirty="0"/>
                        <a:t>.)</a:t>
                      </a:r>
                    </a:p>
                  </a:txBody>
                  <a:tcPr marL="21298" marR="21298" marT="10649" marB="10649" anchor="ctr"/>
                </a:tc>
                <a:extLst>
                  <a:ext uri="{0D108BD9-81ED-4DB2-BD59-A6C34878D82A}">
                    <a16:rowId xmlns:a16="http://schemas.microsoft.com/office/drawing/2014/main" val="1815772355"/>
                  </a:ext>
                </a:extLst>
              </a:tr>
              <a:tr h="481677">
                <a:tc>
                  <a:txBody>
                    <a:bodyPr/>
                    <a:lstStyle/>
                    <a:p>
                      <a:r>
                        <a:rPr lang="en-US" sz="2000" dirty="0" err="1">
                          <a:hlinkClick r:id="rId5"/>
                        </a:rPr>
                        <a:t>EmailConfirmed</a:t>
                      </a:r>
                      <a:endParaRPr lang="en-US" sz="2000" dirty="0"/>
                    </a:p>
                  </a:txBody>
                  <a:tcPr marL="21298" marR="21298" marT="10649" marB="10649" anchor="ctr"/>
                </a:tc>
                <a:tc>
                  <a:txBody>
                    <a:bodyPr/>
                    <a:lstStyle/>
                    <a:p>
                      <a:r>
                        <a:rPr lang="en-US" sz="2000" dirty="0"/>
                        <a:t>Gets or sets a value that indicates whether the email is confirmed.(Inherited from </a:t>
                      </a:r>
                      <a:r>
                        <a:rPr lang="en-US" sz="2000" dirty="0" err="1">
                          <a:hlinkClick r:id="rId3"/>
                        </a:rPr>
                        <a:t>IdentityUser</a:t>
                      </a:r>
                      <a:r>
                        <a:rPr lang="en-US" sz="2000" dirty="0">
                          <a:hlinkClick r:id="rId3"/>
                        </a:rPr>
                        <a:t>(Of </a:t>
                      </a:r>
                      <a:r>
                        <a:rPr lang="en-US" sz="2000" dirty="0" err="1">
                          <a:hlinkClick r:id="rId3"/>
                        </a:rPr>
                        <a:t>TKey</a:t>
                      </a:r>
                      <a:r>
                        <a:rPr lang="en-US" sz="2000" dirty="0">
                          <a:hlinkClick r:id="rId3"/>
                        </a:rPr>
                        <a:t>, </a:t>
                      </a:r>
                      <a:r>
                        <a:rPr lang="en-US" sz="2000" dirty="0" err="1">
                          <a:hlinkClick r:id="rId3"/>
                        </a:rPr>
                        <a:t>TLogin</a:t>
                      </a:r>
                      <a:r>
                        <a:rPr lang="en-US" sz="2000" dirty="0">
                          <a:hlinkClick r:id="rId3"/>
                        </a:rPr>
                        <a:t>, </a:t>
                      </a:r>
                      <a:r>
                        <a:rPr lang="en-US" sz="2000" dirty="0" err="1">
                          <a:hlinkClick r:id="rId3"/>
                        </a:rPr>
                        <a:t>TRole</a:t>
                      </a:r>
                      <a:r>
                        <a:rPr lang="en-US" sz="2000" dirty="0">
                          <a:hlinkClick r:id="rId3"/>
                        </a:rPr>
                        <a:t>, </a:t>
                      </a:r>
                      <a:r>
                        <a:rPr lang="en-US" sz="2000" dirty="0" err="1">
                          <a:hlinkClick r:id="rId3"/>
                        </a:rPr>
                        <a:t>TClaim</a:t>
                      </a:r>
                      <a:r>
                        <a:rPr lang="en-US" sz="2000" dirty="0">
                          <a:hlinkClick r:id="rId3"/>
                        </a:rPr>
                        <a:t>)</a:t>
                      </a:r>
                      <a:r>
                        <a:rPr lang="en-US" sz="2000" dirty="0"/>
                        <a:t>.)</a:t>
                      </a:r>
                    </a:p>
                  </a:txBody>
                  <a:tcPr marL="21298" marR="21298" marT="10649" marB="10649" anchor="ctr"/>
                </a:tc>
                <a:extLst>
                  <a:ext uri="{0D108BD9-81ED-4DB2-BD59-A6C34878D82A}">
                    <a16:rowId xmlns:a16="http://schemas.microsoft.com/office/drawing/2014/main" val="2315373906"/>
                  </a:ext>
                </a:extLst>
              </a:tr>
              <a:tr h="481677">
                <a:tc>
                  <a:txBody>
                    <a:bodyPr/>
                    <a:lstStyle/>
                    <a:p>
                      <a:r>
                        <a:rPr lang="en-US" sz="2000" dirty="0">
                          <a:hlinkClick r:id="rId6"/>
                        </a:rPr>
                        <a:t>Id</a:t>
                      </a:r>
                      <a:endParaRPr lang="en-US" sz="2000" dirty="0"/>
                    </a:p>
                  </a:txBody>
                  <a:tcPr marL="21298" marR="21298" marT="10649" marB="10649" anchor="ctr"/>
                </a:tc>
                <a:tc>
                  <a:txBody>
                    <a:bodyPr/>
                    <a:lstStyle/>
                    <a:p>
                      <a:r>
                        <a:rPr lang="en-US" sz="2000" dirty="0"/>
                        <a:t>Gets or sets the user identifier.(Inherited from </a:t>
                      </a:r>
                      <a:r>
                        <a:rPr lang="en-US" sz="2000" dirty="0" err="1">
                          <a:hlinkClick r:id="rId3"/>
                        </a:rPr>
                        <a:t>IdentityUser</a:t>
                      </a:r>
                      <a:r>
                        <a:rPr lang="en-US" sz="2000" dirty="0">
                          <a:hlinkClick r:id="rId3"/>
                        </a:rPr>
                        <a:t>(Of </a:t>
                      </a:r>
                      <a:r>
                        <a:rPr lang="en-US" sz="2000" dirty="0" err="1">
                          <a:hlinkClick r:id="rId3"/>
                        </a:rPr>
                        <a:t>TKey</a:t>
                      </a:r>
                      <a:r>
                        <a:rPr lang="en-US" sz="2000" dirty="0">
                          <a:hlinkClick r:id="rId3"/>
                        </a:rPr>
                        <a:t>, </a:t>
                      </a:r>
                      <a:r>
                        <a:rPr lang="en-US" sz="2000" dirty="0" err="1">
                          <a:hlinkClick r:id="rId3"/>
                        </a:rPr>
                        <a:t>TLogin</a:t>
                      </a:r>
                      <a:r>
                        <a:rPr lang="en-US" sz="2000" dirty="0">
                          <a:hlinkClick r:id="rId3"/>
                        </a:rPr>
                        <a:t>, </a:t>
                      </a:r>
                      <a:r>
                        <a:rPr lang="en-US" sz="2000" dirty="0" err="1">
                          <a:hlinkClick r:id="rId3"/>
                        </a:rPr>
                        <a:t>TRole</a:t>
                      </a:r>
                      <a:r>
                        <a:rPr lang="en-US" sz="2000" dirty="0">
                          <a:hlinkClick r:id="rId3"/>
                        </a:rPr>
                        <a:t>, </a:t>
                      </a:r>
                      <a:r>
                        <a:rPr lang="en-US" sz="2000" dirty="0" err="1">
                          <a:hlinkClick r:id="rId3"/>
                        </a:rPr>
                        <a:t>TClaim</a:t>
                      </a:r>
                      <a:r>
                        <a:rPr lang="en-US" sz="2000" dirty="0">
                          <a:hlinkClick r:id="rId3"/>
                        </a:rPr>
                        <a:t>)</a:t>
                      </a:r>
                      <a:r>
                        <a:rPr lang="en-US" sz="2000" dirty="0"/>
                        <a:t>.)</a:t>
                      </a:r>
                    </a:p>
                  </a:txBody>
                  <a:tcPr marL="21298" marR="21298" marT="10649" marB="10649" anchor="ctr"/>
                </a:tc>
                <a:extLst>
                  <a:ext uri="{0D108BD9-81ED-4DB2-BD59-A6C34878D82A}">
                    <a16:rowId xmlns:a16="http://schemas.microsoft.com/office/drawing/2014/main" val="6548781"/>
                  </a:ext>
                </a:extLst>
              </a:tr>
              <a:tr h="481677">
                <a:tc>
                  <a:txBody>
                    <a:bodyPr/>
                    <a:lstStyle/>
                    <a:p>
                      <a:r>
                        <a:rPr lang="en-US" sz="2000" dirty="0" err="1">
                          <a:hlinkClick r:id="rId7"/>
                        </a:rPr>
                        <a:t>LockoutEnabled</a:t>
                      </a:r>
                      <a:endParaRPr lang="en-US" sz="2000" dirty="0"/>
                    </a:p>
                  </a:txBody>
                  <a:tcPr marL="21298" marR="21298" marT="10649" marB="10649" anchor="ctr"/>
                </a:tc>
                <a:tc>
                  <a:txBody>
                    <a:bodyPr/>
                    <a:lstStyle/>
                    <a:p>
                      <a:r>
                        <a:rPr lang="en-US" sz="2000" dirty="0"/>
                        <a:t>Gets or sets a value that indicates whether lockout enabled for this user.(Inherited from </a:t>
                      </a:r>
                      <a:r>
                        <a:rPr lang="en-US" sz="2000" dirty="0" err="1">
                          <a:hlinkClick r:id="rId3"/>
                        </a:rPr>
                        <a:t>IdentityUser</a:t>
                      </a:r>
                      <a:r>
                        <a:rPr lang="en-US" sz="2000" dirty="0">
                          <a:hlinkClick r:id="rId3"/>
                        </a:rPr>
                        <a:t>(Of </a:t>
                      </a:r>
                      <a:r>
                        <a:rPr lang="en-US" sz="2000" dirty="0" err="1">
                          <a:hlinkClick r:id="rId3"/>
                        </a:rPr>
                        <a:t>TKey</a:t>
                      </a:r>
                      <a:r>
                        <a:rPr lang="en-US" sz="2000" dirty="0">
                          <a:hlinkClick r:id="rId3"/>
                        </a:rPr>
                        <a:t>, </a:t>
                      </a:r>
                      <a:r>
                        <a:rPr lang="en-US" sz="2000" dirty="0" err="1">
                          <a:hlinkClick r:id="rId3"/>
                        </a:rPr>
                        <a:t>TLogin</a:t>
                      </a:r>
                      <a:r>
                        <a:rPr lang="en-US" sz="2000" dirty="0">
                          <a:hlinkClick r:id="rId3"/>
                        </a:rPr>
                        <a:t>, </a:t>
                      </a:r>
                      <a:r>
                        <a:rPr lang="en-US" sz="2000" dirty="0" err="1">
                          <a:hlinkClick r:id="rId3"/>
                        </a:rPr>
                        <a:t>TRole</a:t>
                      </a:r>
                      <a:r>
                        <a:rPr lang="en-US" sz="2000" dirty="0">
                          <a:hlinkClick r:id="rId3"/>
                        </a:rPr>
                        <a:t>, </a:t>
                      </a:r>
                      <a:r>
                        <a:rPr lang="en-US" sz="2000" dirty="0" err="1">
                          <a:hlinkClick r:id="rId3"/>
                        </a:rPr>
                        <a:t>TClaim</a:t>
                      </a:r>
                      <a:r>
                        <a:rPr lang="en-US" sz="2000" dirty="0">
                          <a:hlinkClick r:id="rId3"/>
                        </a:rPr>
                        <a:t>)</a:t>
                      </a:r>
                      <a:r>
                        <a:rPr lang="en-US" sz="2000" dirty="0"/>
                        <a:t>.)</a:t>
                      </a:r>
                    </a:p>
                  </a:txBody>
                  <a:tcPr marL="21298" marR="21298" marT="10649" marB="10649" anchor="ctr"/>
                </a:tc>
                <a:extLst>
                  <a:ext uri="{0D108BD9-81ED-4DB2-BD59-A6C34878D82A}">
                    <a16:rowId xmlns:a16="http://schemas.microsoft.com/office/drawing/2014/main" val="1678605319"/>
                  </a:ext>
                </a:extLst>
              </a:tr>
              <a:tr h="714385">
                <a:tc>
                  <a:txBody>
                    <a:bodyPr/>
                    <a:lstStyle/>
                    <a:p>
                      <a:r>
                        <a:rPr lang="en-US" sz="2000">
                          <a:hlinkClick r:id="rId8"/>
                        </a:rPr>
                        <a:t>LockoutEndDateUtc</a:t>
                      </a:r>
                      <a:endParaRPr lang="en-US" sz="2000"/>
                    </a:p>
                  </a:txBody>
                  <a:tcPr marL="21298" marR="21298" marT="10649" marB="10649" anchor="ctr"/>
                </a:tc>
                <a:tc>
                  <a:txBody>
                    <a:bodyPr/>
                    <a:lstStyle/>
                    <a:p>
                      <a:r>
                        <a:rPr lang="en-US" sz="2000" dirty="0"/>
                        <a:t>Gets or sets the date time value (in UTC) when lockout ends, any time in the past is considered not locked out.(Inherited from </a:t>
                      </a:r>
                      <a:r>
                        <a:rPr lang="en-US" sz="2000" dirty="0" err="1">
                          <a:hlinkClick r:id="rId3"/>
                        </a:rPr>
                        <a:t>IdentityUser</a:t>
                      </a:r>
                      <a:r>
                        <a:rPr lang="en-US" sz="2000" dirty="0">
                          <a:hlinkClick r:id="rId3"/>
                        </a:rPr>
                        <a:t>(Of </a:t>
                      </a:r>
                      <a:r>
                        <a:rPr lang="en-US" sz="2000" dirty="0" err="1">
                          <a:hlinkClick r:id="rId3"/>
                        </a:rPr>
                        <a:t>TKey</a:t>
                      </a:r>
                      <a:r>
                        <a:rPr lang="en-US" sz="2000" dirty="0">
                          <a:hlinkClick r:id="rId3"/>
                        </a:rPr>
                        <a:t>, </a:t>
                      </a:r>
                      <a:r>
                        <a:rPr lang="en-US" sz="2000" dirty="0" err="1">
                          <a:hlinkClick r:id="rId3"/>
                        </a:rPr>
                        <a:t>TLogin</a:t>
                      </a:r>
                      <a:r>
                        <a:rPr lang="en-US" sz="2000" dirty="0">
                          <a:hlinkClick r:id="rId3"/>
                        </a:rPr>
                        <a:t>, </a:t>
                      </a:r>
                      <a:r>
                        <a:rPr lang="en-US" sz="2000" dirty="0" err="1">
                          <a:hlinkClick r:id="rId3"/>
                        </a:rPr>
                        <a:t>TRole</a:t>
                      </a:r>
                      <a:r>
                        <a:rPr lang="en-US" sz="2000" dirty="0">
                          <a:hlinkClick r:id="rId3"/>
                        </a:rPr>
                        <a:t>, </a:t>
                      </a:r>
                      <a:r>
                        <a:rPr lang="en-US" sz="2000" dirty="0" err="1">
                          <a:hlinkClick r:id="rId3"/>
                        </a:rPr>
                        <a:t>TClaim</a:t>
                      </a:r>
                      <a:r>
                        <a:rPr lang="en-US" sz="2000" dirty="0">
                          <a:hlinkClick r:id="rId3"/>
                        </a:rPr>
                        <a:t>)</a:t>
                      </a:r>
                      <a:r>
                        <a:rPr lang="en-US" sz="2000" dirty="0"/>
                        <a:t>.)</a:t>
                      </a:r>
                    </a:p>
                  </a:txBody>
                  <a:tcPr marL="21298" marR="21298" marT="10649" marB="10649" anchor="ctr"/>
                </a:tc>
                <a:extLst>
                  <a:ext uri="{0D108BD9-81ED-4DB2-BD59-A6C34878D82A}">
                    <a16:rowId xmlns:a16="http://schemas.microsoft.com/office/drawing/2014/main" val="2121147890"/>
                  </a:ext>
                </a:extLst>
              </a:tr>
              <a:tr h="481677">
                <a:tc>
                  <a:txBody>
                    <a:bodyPr/>
                    <a:lstStyle/>
                    <a:p>
                      <a:r>
                        <a:rPr lang="en-US" sz="2000">
                          <a:hlinkClick r:id="rId9"/>
                        </a:rPr>
                        <a:t>Logins</a:t>
                      </a:r>
                      <a:endParaRPr lang="en-US" sz="2000"/>
                    </a:p>
                  </a:txBody>
                  <a:tcPr marL="21298" marR="21298" marT="10649" marB="10649" anchor="ctr"/>
                </a:tc>
                <a:tc>
                  <a:txBody>
                    <a:bodyPr/>
                    <a:lstStyle/>
                    <a:p>
                      <a:r>
                        <a:rPr lang="en-US" sz="2000" dirty="0"/>
                        <a:t>Gets the collection of logins for the user.(Inherited from </a:t>
                      </a:r>
                      <a:r>
                        <a:rPr lang="en-US" sz="2000" dirty="0" err="1">
                          <a:hlinkClick r:id="rId3"/>
                        </a:rPr>
                        <a:t>IdentityUser</a:t>
                      </a:r>
                      <a:r>
                        <a:rPr lang="en-US" sz="2000" dirty="0">
                          <a:hlinkClick r:id="rId3"/>
                        </a:rPr>
                        <a:t>(Of </a:t>
                      </a:r>
                      <a:r>
                        <a:rPr lang="en-US" sz="2000" dirty="0" err="1">
                          <a:hlinkClick r:id="rId3"/>
                        </a:rPr>
                        <a:t>TKey</a:t>
                      </a:r>
                      <a:r>
                        <a:rPr lang="en-US" sz="2000" dirty="0">
                          <a:hlinkClick r:id="rId3"/>
                        </a:rPr>
                        <a:t>, </a:t>
                      </a:r>
                      <a:r>
                        <a:rPr lang="en-US" sz="2000" dirty="0" err="1">
                          <a:hlinkClick r:id="rId3"/>
                        </a:rPr>
                        <a:t>TLogin</a:t>
                      </a:r>
                      <a:r>
                        <a:rPr lang="en-US" sz="2000" dirty="0">
                          <a:hlinkClick r:id="rId3"/>
                        </a:rPr>
                        <a:t>, </a:t>
                      </a:r>
                      <a:r>
                        <a:rPr lang="en-US" sz="2000" dirty="0" err="1">
                          <a:hlinkClick r:id="rId3"/>
                        </a:rPr>
                        <a:t>TRole</a:t>
                      </a:r>
                      <a:r>
                        <a:rPr lang="en-US" sz="2000" dirty="0">
                          <a:hlinkClick r:id="rId3"/>
                        </a:rPr>
                        <a:t>, </a:t>
                      </a:r>
                      <a:r>
                        <a:rPr lang="en-US" sz="2000" dirty="0" err="1">
                          <a:hlinkClick r:id="rId3"/>
                        </a:rPr>
                        <a:t>TClaim</a:t>
                      </a:r>
                      <a:r>
                        <a:rPr lang="en-US" sz="2000" dirty="0">
                          <a:hlinkClick r:id="rId3"/>
                        </a:rPr>
                        <a:t>)</a:t>
                      </a:r>
                      <a:r>
                        <a:rPr lang="en-US" sz="2000" dirty="0"/>
                        <a:t>.)</a:t>
                      </a:r>
                    </a:p>
                  </a:txBody>
                  <a:tcPr marL="21298" marR="21298" marT="10649" marB="10649" anchor="ctr"/>
                </a:tc>
                <a:extLst>
                  <a:ext uri="{0D108BD9-81ED-4DB2-BD59-A6C34878D82A}">
                    <a16:rowId xmlns:a16="http://schemas.microsoft.com/office/drawing/2014/main" val="3033520017"/>
                  </a:ext>
                </a:extLst>
              </a:tr>
            </a:tbl>
          </a:graphicData>
        </a:graphic>
      </p:graphicFrame>
      <p:sp>
        <p:nvSpPr>
          <p:cNvPr id="5" name="Text Placeholder 4"/>
          <p:cNvSpPr>
            <a:spLocks noGrp="1"/>
          </p:cNvSpPr>
          <p:nvPr>
            <p:ph type="body" sz="quarter" idx="10"/>
          </p:nvPr>
        </p:nvSpPr>
        <p:spPr/>
        <p:txBody>
          <a:bodyPr/>
          <a:lstStyle/>
          <a:p>
            <a:r>
              <a:rPr lang="en-US" dirty="0" err="1"/>
              <a:t>IdentityUser</a:t>
            </a:r>
            <a:r>
              <a:rPr lang="en-US" dirty="0"/>
              <a:t> Class</a:t>
            </a:r>
          </a:p>
        </p:txBody>
      </p:sp>
    </p:spTree>
    <p:extLst>
      <p:ext uri="{BB962C8B-B14F-4D97-AF65-F5344CB8AC3E}">
        <p14:creationId xmlns:p14="http://schemas.microsoft.com/office/powerpoint/2010/main" val="1031351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Authentication</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943164340"/>
              </p:ext>
            </p:extLst>
          </p:nvPr>
        </p:nvGraphicFramePr>
        <p:xfrm>
          <a:off x="527381" y="1772816"/>
          <a:ext cx="10968142" cy="4416286"/>
        </p:xfrm>
        <a:graphic>
          <a:graphicData uri="http://schemas.openxmlformats.org/drawingml/2006/table">
            <a:tbl>
              <a:tblPr bandRow="1">
                <a:tableStyleId>{793D81CF-94F2-401A-BA57-92F5A7B2D0C5}</a:tableStyleId>
              </a:tblPr>
              <a:tblGrid>
                <a:gridCol w="2304255">
                  <a:extLst>
                    <a:ext uri="{9D8B030D-6E8A-4147-A177-3AD203B41FA5}">
                      <a16:colId xmlns:a16="http://schemas.microsoft.com/office/drawing/2014/main" val="888297048"/>
                    </a:ext>
                  </a:extLst>
                </a:gridCol>
                <a:gridCol w="8663887">
                  <a:extLst>
                    <a:ext uri="{9D8B030D-6E8A-4147-A177-3AD203B41FA5}">
                      <a16:colId xmlns:a16="http://schemas.microsoft.com/office/drawing/2014/main" val="268464170"/>
                    </a:ext>
                  </a:extLst>
                </a:gridCol>
              </a:tblGrid>
              <a:tr h="481677">
                <a:tc>
                  <a:txBody>
                    <a:bodyPr/>
                    <a:lstStyle/>
                    <a:p>
                      <a:r>
                        <a:rPr lang="en-US" sz="2000" dirty="0" err="1">
                          <a:hlinkClick r:id="rId2"/>
                        </a:rPr>
                        <a:t>PasswordHash</a:t>
                      </a:r>
                      <a:endParaRPr lang="en-US" sz="2000" dirty="0"/>
                    </a:p>
                  </a:txBody>
                  <a:tcPr marL="21298" marR="21298" marT="10649" marB="10649" anchor="ctr"/>
                </a:tc>
                <a:tc>
                  <a:txBody>
                    <a:bodyPr/>
                    <a:lstStyle/>
                    <a:p>
                      <a:r>
                        <a:rPr lang="en-US" sz="2000" dirty="0"/>
                        <a:t>Gets or sets the salted/hashed form of the user password.(Inherited from </a:t>
                      </a:r>
                      <a:r>
                        <a:rPr lang="en-US" sz="2000" dirty="0" err="1">
                          <a:hlinkClick r:id="rId3"/>
                        </a:rPr>
                        <a:t>IdentityUser</a:t>
                      </a:r>
                      <a:r>
                        <a:rPr lang="en-US" sz="2000" dirty="0">
                          <a:hlinkClick r:id="rId3"/>
                        </a:rPr>
                        <a:t>(Of </a:t>
                      </a:r>
                      <a:r>
                        <a:rPr lang="en-US" sz="2000" dirty="0" err="1">
                          <a:hlinkClick r:id="rId3"/>
                        </a:rPr>
                        <a:t>TKey</a:t>
                      </a:r>
                      <a:r>
                        <a:rPr lang="en-US" sz="2000" dirty="0">
                          <a:hlinkClick r:id="rId3"/>
                        </a:rPr>
                        <a:t>, </a:t>
                      </a:r>
                      <a:r>
                        <a:rPr lang="en-US" sz="2000" dirty="0" err="1">
                          <a:hlinkClick r:id="rId3"/>
                        </a:rPr>
                        <a:t>TLogin</a:t>
                      </a:r>
                      <a:r>
                        <a:rPr lang="en-US" sz="2000" dirty="0">
                          <a:hlinkClick r:id="rId3"/>
                        </a:rPr>
                        <a:t>, </a:t>
                      </a:r>
                      <a:r>
                        <a:rPr lang="en-US" sz="2000" dirty="0" err="1">
                          <a:hlinkClick r:id="rId3"/>
                        </a:rPr>
                        <a:t>TRole</a:t>
                      </a:r>
                      <a:r>
                        <a:rPr lang="en-US" sz="2000" dirty="0">
                          <a:hlinkClick r:id="rId3"/>
                        </a:rPr>
                        <a:t>, </a:t>
                      </a:r>
                      <a:r>
                        <a:rPr lang="en-US" sz="2000" dirty="0" err="1">
                          <a:hlinkClick r:id="rId3"/>
                        </a:rPr>
                        <a:t>TClaim</a:t>
                      </a:r>
                      <a:r>
                        <a:rPr lang="en-US" sz="2000" dirty="0">
                          <a:hlinkClick r:id="rId3"/>
                        </a:rPr>
                        <a:t>)</a:t>
                      </a:r>
                      <a:r>
                        <a:rPr lang="en-US" sz="2000" dirty="0"/>
                        <a:t>.)</a:t>
                      </a:r>
                    </a:p>
                  </a:txBody>
                  <a:tcPr marL="21298" marR="21298" marT="10649" marB="10649" anchor="ctr"/>
                </a:tc>
                <a:extLst>
                  <a:ext uri="{0D108BD9-81ED-4DB2-BD59-A6C34878D82A}">
                    <a16:rowId xmlns:a16="http://schemas.microsoft.com/office/drawing/2014/main" val="1045212536"/>
                  </a:ext>
                </a:extLst>
              </a:tr>
              <a:tr h="481677">
                <a:tc>
                  <a:txBody>
                    <a:bodyPr/>
                    <a:lstStyle/>
                    <a:p>
                      <a:r>
                        <a:rPr lang="en-US" sz="2000">
                          <a:hlinkClick r:id="rId4"/>
                        </a:rPr>
                        <a:t>PhoneNumber</a:t>
                      </a:r>
                      <a:endParaRPr lang="en-US" sz="2000"/>
                    </a:p>
                  </a:txBody>
                  <a:tcPr marL="21298" marR="21298" marT="10649" marB="10649" anchor="ctr"/>
                </a:tc>
                <a:tc>
                  <a:txBody>
                    <a:bodyPr/>
                    <a:lstStyle/>
                    <a:p>
                      <a:r>
                        <a:rPr lang="en-US" sz="2000" dirty="0"/>
                        <a:t>Gets or sets the phone number for the user.(Inherited from </a:t>
                      </a:r>
                      <a:r>
                        <a:rPr lang="en-US" sz="2000" dirty="0" err="1">
                          <a:hlinkClick r:id="rId3"/>
                        </a:rPr>
                        <a:t>IdentityUser</a:t>
                      </a:r>
                      <a:r>
                        <a:rPr lang="en-US" sz="2000" dirty="0">
                          <a:hlinkClick r:id="rId3"/>
                        </a:rPr>
                        <a:t>(Of </a:t>
                      </a:r>
                      <a:r>
                        <a:rPr lang="en-US" sz="2000" dirty="0" err="1">
                          <a:hlinkClick r:id="rId3"/>
                        </a:rPr>
                        <a:t>TKey</a:t>
                      </a:r>
                      <a:r>
                        <a:rPr lang="en-US" sz="2000" dirty="0">
                          <a:hlinkClick r:id="rId3"/>
                        </a:rPr>
                        <a:t>, </a:t>
                      </a:r>
                      <a:r>
                        <a:rPr lang="en-US" sz="2000" dirty="0" err="1">
                          <a:hlinkClick r:id="rId3"/>
                        </a:rPr>
                        <a:t>TLogin</a:t>
                      </a:r>
                      <a:r>
                        <a:rPr lang="en-US" sz="2000" dirty="0">
                          <a:hlinkClick r:id="rId3"/>
                        </a:rPr>
                        <a:t>, </a:t>
                      </a:r>
                      <a:r>
                        <a:rPr lang="en-US" sz="2000" dirty="0" err="1">
                          <a:hlinkClick r:id="rId3"/>
                        </a:rPr>
                        <a:t>TRole</a:t>
                      </a:r>
                      <a:r>
                        <a:rPr lang="en-US" sz="2000" dirty="0">
                          <a:hlinkClick r:id="rId3"/>
                        </a:rPr>
                        <a:t>, </a:t>
                      </a:r>
                      <a:r>
                        <a:rPr lang="en-US" sz="2000" dirty="0" err="1">
                          <a:hlinkClick r:id="rId3"/>
                        </a:rPr>
                        <a:t>TClaim</a:t>
                      </a:r>
                      <a:r>
                        <a:rPr lang="en-US" sz="2000" dirty="0">
                          <a:hlinkClick r:id="rId3"/>
                        </a:rPr>
                        <a:t>)</a:t>
                      </a:r>
                      <a:r>
                        <a:rPr lang="en-US" sz="2000" dirty="0"/>
                        <a:t>.)</a:t>
                      </a:r>
                    </a:p>
                  </a:txBody>
                  <a:tcPr marL="21298" marR="21298" marT="10649" marB="10649" anchor="ctr"/>
                </a:tc>
                <a:extLst>
                  <a:ext uri="{0D108BD9-81ED-4DB2-BD59-A6C34878D82A}">
                    <a16:rowId xmlns:a16="http://schemas.microsoft.com/office/drawing/2014/main" val="1209591255"/>
                  </a:ext>
                </a:extLst>
              </a:tr>
              <a:tr h="481677">
                <a:tc>
                  <a:txBody>
                    <a:bodyPr/>
                    <a:lstStyle/>
                    <a:p>
                      <a:r>
                        <a:rPr lang="en-US" sz="2000">
                          <a:hlinkClick r:id="rId5"/>
                        </a:rPr>
                        <a:t>PhoneNumberConfirmed</a:t>
                      </a:r>
                      <a:endParaRPr lang="en-US" sz="2000"/>
                    </a:p>
                  </a:txBody>
                  <a:tcPr marL="21298" marR="21298" marT="10649" marB="10649" anchor="ctr"/>
                </a:tc>
                <a:tc>
                  <a:txBody>
                    <a:bodyPr/>
                    <a:lstStyle/>
                    <a:p>
                      <a:r>
                        <a:rPr lang="en-US" sz="2000"/>
                        <a:t>Gets or sets the value that indicates whether the phone number is confirmed. The default is false.(Inherited from </a:t>
                      </a:r>
                      <a:r>
                        <a:rPr lang="en-US" sz="2000">
                          <a:hlinkClick r:id="rId3"/>
                        </a:rPr>
                        <a:t>IdentityUser(Of TKey, TLogin, TRole, TClaim)</a:t>
                      </a:r>
                      <a:r>
                        <a:rPr lang="en-US" sz="2000"/>
                        <a:t>.)</a:t>
                      </a:r>
                    </a:p>
                  </a:txBody>
                  <a:tcPr marL="21298" marR="21298" marT="10649" marB="10649" anchor="ctr"/>
                </a:tc>
                <a:extLst>
                  <a:ext uri="{0D108BD9-81ED-4DB2-BD59-A6C34878D82A}">
                    <a16:rowId xmlns:a16="http://schemas.microsoft.com/office/drawing/2014/main" val="3274150069"/>
                  </a:ext>
                </a:extLst>
              </a:tr>
              <a:tr h="481677">
                <a:tc>
                  <a:txBody>
                    <a:bodyPr/>
                    <a:lstStyle/>
                    <a:p>
                      <a:r>
                        <a:rPr lang="en-US" sz="2000" dirty="0">
                          <a:hlinkClick r:id="rId6"/>
                        </a:rPr>
                        <a:t>Roles</a:t>
                      </a:r>
                      <a:endParaRPr lang="en-US" sz="2000" dirty="0"/>
                    </a:p>
                  </a:txBody>
                  <a:tcPr marL="21298" marR="21298" marT="10649" marB="10649" anchor="ctr"/>
                </a:tc>
                <a:tc>
                  <a:txBody>
                    <a:bodyPr/>
                    <a:lstStyle/>
                    <a:p>
                      <a:r>
                        <a:rPr lang="en-US" sz="2000" dirty="0"/>
                        <a:t>Gets the collection of roles for the user.(Inherited from </a:t>
                      </a:r>
                      <a:r>
                        <a:rPr lang="en-US" sz="2000" dirty="0" err="1">
                          <a:hlinkClick r:id="rId3"/>
                        </a:rPr>
                        <a:t>IdentityUser</a:t>
                      </a:r>
                      <a:r>
                        <a:rPr lang="en-US" sz="2000" dirty="0">
                          <a:hlinkClick r:id="rId3"/>
                        </a:rPr>
                        <a:t>(Of </a:t>
                      </a:r>
                      <a:r>
                        <a:rPr lang="en-US" sz="2000" dirty="0" err="1">
                          <a:hlinkClick r:id="rId3"/>
                        </a:rPr>
                        <a:t>TKey</a:t>
                      </a:r>
                      <a:r>
                        <a:rPr lang="en-US" sz="2000" dirty="0">
                          <a:hlinkClick r:id="rId3"/>
                        </a:rPr>
                        <a:t>, </a:t>
                      </a:r>
                      <a:r>
                        <a:rPr lang="en-US" sz="2000" dirty="0" err="1">
                          <a:hlinkClick r:id="rId3"/>
                        </a:rPr>
                        <a:t>TLogin</a:t>
                      </a:r>
                      <a:r>
                        <a:rPr lang="en-US" sz="2000" dirty="0">
                          <a:hlinkClick r:id="rId3"/>
                        </a:rPr>
                        <a:t>, </a:t>
                      </a:r>
                      <a:r>
                        <a:rPr lang="en-US" sz="2000" dirty="0" err="1">
                          <a:hlinkClick r:id="rId3"/>
                        </a:rPr>
                        <a:t>TRole</a:t>
                      </a:r>
                      <a:r>
                        <a:rPr lang="en-US" sz="2000" dirty="0">
                          <a:hlinkClick r:id="rId3"/>
                        </a:rPr>
                        <a:t>, </a:t>
                      </a:r>
                      <a:r>
                        <a:rPr lang="en-US" sz="2000" dirty="0" err="1">
                          <a:hlinkClick r:id="rId3"/>
                        </a:rPr>
                        <a:t>TClaim</a:t>
                      </a:r>
                      <a:r>
                        <a:rPr lang="en-US" sz="2000" dirty="0">
                          <a:hlinkClick r:id="rId3"/>
                        </a:rPr>
                        <a:t>)</a:t>
                      </a:r>
                      <a:r>
                        <a:rPr lang="en-US" sz="2000" dirty="0"/>
                        <a:t>.)</a:t>
                      </a:r>
                    </a:p>
                  </a:txBody>
                  <a:tcPr marL="21298" marR="21298" marT="10649" marB="10649" anchor="ctr"/>
                </a:tc>
                <a:extLst>
                  <a:ext uri="{0D108BD9-81ED-4DB2-BD59-A6C34878D82A}">
                    <a16:rowId xmlns:a16="http://schemas.microsoft.com/office/drawing/2014/main" val="1751276020"/>
                  </a:ext>
                </a:extLst>
              </a:tr>
              <a:tr h="481677">
                <a:tc>
                  <a:txBody>
                    <a:bodyPr/>
                    <a:lstStyle/>
                    <a:p>
                      <a:r>
                        <a:rPr lang="en-US" sz="2000">
                          <a:hlinkClick r:id="rId7"/>
                        </a:rPr>
                        <a:t>SecurityStamp</a:t>
                      </a:r>
                      <a:endParaRPr lang="en-US" sz="2000"/>
                    </a:p>
                  </a:txBody>
                  <a:tcPr marL="21298" marR="21298" marT="10649" marB="10649" anchor="ctr"/>
                </a:tc>
                <a:tc>
                  <a:txBody>
                    <a:bodyPr/>
                    <a:lstStyle/>
                    <a:p>
                      <a:r>
                        <a:rPr lang="en-US" sz="2000"/>
                        <a:t>Gets or sets a random value that changes when a user’s credentials change.(Inherited from </a:t>
                      </a:r>
                      <a:r>
                        <a:rPr lang="en-US" sz="2000">
                          <a:hlinkClick r:id="rId3"/>
                        </a:rPr>
                        <a:t>IdentityUser(Of TKey, TLogin, TRole, TClaim)</a:t>
                      </a:r>
                      <a:r>
                        <a:rPr lang="en-US" sz="2000"/>
                        <a:t>.)</a:t>
                      </a:r>
                    </a:p>
                  </a:txBody>
                  <a:tcPr marL="21298" marR="21298" marT="10649" marB="10649" anchor="ctr"/>
                </a:tc>
                <a:extLst>
                  <a:ext uri="{0D108BD9-81ED-4DB2-BD59-A6C34878D82A}">
                    <a16:rowId xmlns:a16="http://schemas.microsoft.com/office/drawing/2014/main" val="1925388043"/>
                  </a:ext>
                </a:extLst>
              </a:tr>
              <a:tr h="481677">
                <a:tc>
                  <a:txBody>
                    <a:bodyPr/>
                    <a:lstStyle/>
                    <a:p>
                      <a:r>
                        <a:rPr lang="en-US" sz="2000">
                          <a:hlinkClick r:id="rId8"/>
                        </a:rPr>
                        <a:t>TwoFactorEnabled</a:t>
                      </a:r>
                      <a:endParaRPr lang="en-US" sz="2000"/>
                    </a:p>
                  </a:txBody>
                  <a:tcPr marL="21298" marR="21298" marT="10649" marB="10649" anchor="ctr"/>
                </a:tc>
                <a:tc>
                  <a:txBody>
                    <a:bodyPr/>
                    <a:lstStyle/>
                    <a:p>
                      <a:r>
                        <a:rPr lang="en-US" sz="2000" dirty="0"/>
                        <a:t>Gets or sets a value that indicates whether two-factor authentication is enabled for the user.(Inherited from </a:t>
                      </a:r>
                      <a:r>
                        <a:rPr lang="en-US" sz="2000" dirty="0" err="1">
                          <a:hlinkClick r:id="rId3"/>
                        </a:rPr>
                        <a:t>IdentityUser</a:t>
                      </a:r>
                      <a:r>
                        <a:rPr lang="en-US" sz="2000" dirty="0">
                          <a:hlinkClick r:id="rId3"/>
                        </a:rPr>
                        <a:t>(Of </a:t>
                      </a:r>
                      <a:r>
                        <a:rPr lang="en-US" sz="2000" dirty="0" err="1">
                          <a:hlinkClick r:id="rId3"/>
                        </a:rPr>
                        <a:t>TKey</a:t>
                      </a:r>
                      <a:r>
                        <a:rPr lang="en-US" sz="2000" dirty="0">
                          <a:hlinkClick r:id="rId3"/>
                        </a:rPr>
                        <a:t>, </a:t>
                      </a:r>
                      <a:r>
                        <a:rPr lang="en-US" sz="2000" dirty="0" err="1">
                          <a:hlinkClick r:id="rId3"/>
                        </a:rPr>
                        <a:t>TLogin</a:t>
                      </a:r>
                      <a:r>
                        <a:rPr lang="en-US" sz="2000" dirty="0">
                          <a:hlinkClick r:id="rId3"/>
                        </a:rPr>
                        <a:t>, </a:t>
                      </a:r>
                      <a:r>
                        <a:rPr lang="en-US" sz="2000" dirty="0" err="1">
                          <a:hlinkClick r:id="rId3"/>
                        </a:rPr>
                        <a:t>TRole</a:t>
                      </a:r>
                      <a:r>
                        <a:rPr lang="en-US" sz="2000" dirty="0">
                          <a:hlinkClick r:id="rId3"/>
                        </a:rPr>
                        <a:t>, </a:t>
                      </a:r>
                      <a:r>
                        <a:rPr lang="en-US" sz="2000" dirty="0" err="1">
                          <a:hlinkClick r:id="rId3"/>
                        </a:rPr>
                        <a:t>TClaim</a:t>
                      </a:r>
                      <a:r>
                        <a:rPr lang="en-US" sz="2000" dirty="0">
                          <a:hlinkClick r:id="rId3"/>
                        </a:rPr>
                        <a:t>)</a:t>
                      </a:r>
                      <a:r>
                        <a:rPr lang="en-US" sz="2000" dirty="0"/>
                        <a:t>.)</a:t>
                      </a:r>
                    </a:p>
                  </a:txBody>
                  <a:tcPr marL="21298" marR="21298" marT="10649" marB="10649" anchor="ctr"/>
                </a:tc>
                <a:extLst>
                  <a:ext uri="{0D108BD9-81ED-4DB2-BD59-A6C34878D82A}">
                    <a16:rowId xmlns:a16="http://schemas.microsoft.com/office/drawing/2014/main" val="1861930662"/>
                  </a:ext>
                </a:extLst>
              </a:tr>
              <a:tr h="562275">
                <a:tc>
                  <a:txBody>
                    <a:bodyPr/>
                    <a:lstStyle/>
                    <a:p>
                      <a:r>
                        <a:rPr lang="en-US" sz="2000" dirty="0" err="1">
                          <a:hlinkClick r:id="rId9"/>
                        </a:rPr>
                        <a:t>UserName</a:t>
                      </a:r>
                      <a:endParaRPr lang="en-US" sz="2000" dirty="0"/>
                    </a:p>
                  </a:txBody>
                  <a:tcPr marL="21298" marR="21298" marT="10649" marB="10649" anchor="ctr"/>
                </a:tc>
                <a:tc>
                  <a:txBody>
                    <a:bodyPr/>
                    <a:lstStyle/>
                    <a:p>
                      <a:r>
                        <a:rPr lang="en-US" sz="2000" dirty="0"/>
                        <a:t>Gets or sets the user name.(Inherited from </a:t>
                      </a:r>
                      <a:r>
                        <a:rPr lang="en-US" sz="2000" dirty="0" err="1">
                          <a:hlinkClick r:id="rId3"/>
                        </a:rPr>
                        <a:t>IdentityUser</a:t>
                      </a:r>
                      <a:r>
                        <a:rPr lang="en-US" sz="2000" dirty="0">
                          <a:hlinkClick r:id="rId3"/>
                        </a:rPr>
                        <a:t>(Of </a:t>
                      </a:r>
                      <a:r>
                        <a:rPr lang="en-US" sz="2000" dirty="0" err="1">
                          <a:hlinkClick r:id="rId3"/>
                        </a:rPr>
                        <a:t>TKey</a:t>
                      </a:r>
                      <a:r>
                        <a:rPr lang="en-US" sz="2000" dirty="0">
                          <a:hlinkClick r:id="rId3"/>
                        </a:rPr>
                        <a:t>, </a:t>
                      </a:r>
                      <a:r>
                        <a:rPr lang="en-US" sz="2000" dirty="0" err="1">
                          <a:hlinkClick r:id="rId3"/>
                        </a:rPr>
                        <a:t>TLogin</a:t>
                      </a:r>
                      <a:r>
                        <a:rPr lang="en-US" sz="2000" dirty="0">
                          <a:hlinkClick r:id="rId3"/>
                        </a:rPr>
                        <a:t>, </a:t>
                      </a:r>
                      <a:r>
                        <a:rPr lang="en-US" sz="2000" dirty="0" err="1">
                          <a:hlinkClick r:id="rId3"/>
                        </a:rPr>
                        <a:t>TRole</a:t>
                      </a:r>
                      <a:r>
                        <a:rPr lang="en-US" sz="2000" dirty="0">
                          <a:hlinkClick r:id="rId3"/>
                        </a:rPr>
                        <a:t>, </a:t>
                      </a:r>
                      <a:r>
                        <a:rPr lang="en-US" sz="2000" dirty="0" err="1">
                          <a:hlinkClick r:id="rId3"/>
                        </a:rPr>
                        <a:t>TClaim</a:t>
                      </a:r>
                      <a:r>
                        <a:rPr lang="en-US" sz="2000" dirty="0">
                          <a:hlinkClick r:id="rId3"/>
                        </a:rPr>
                        <a:t>)</a:t>
                      </a:r>
                      <a:r>
                        <a:rPr lang="en-US" sz="2000" dirty="0"/>
                        <a:t>.)</a:t>
                      </a:r>
                    </a:p>
                  </a:txBody>
                  <a:tcPr marL="21298" marR="21298" marT="10649" marB="10649" anchor="ctr"/>
                </a:tc>
                <a:extLst>
                  <a:ext uri="{0D108BD9-81ED-4DB2-BD59-A6C34878D82A}">
                    <a16:rowId xmlns:a16="http://schemas.microsoft.com/office/drawing/2014/main" val="3668767659"/>
                  </a:ext>
                </a:extLst>
              </a:tr>
            </a:tbl>
          </a:graphicData>
        </a:graphic>
      </p:graphicFrame>
      <p:sp>
        <p:nvSpPr>
          <p:cNvPr id="5" name="Text Placeholder 4"/>
          <p:cNvSpPr>
            <a:spLocks noGrp="1"/>
          </p:cNvSpPr>
          <p:nvPr>
            <p:ph type="body" sz="quarter" idx="10"/>
          </p:nvPr>
        </p:nvSpPr>
        <p:spPr/>
        <p:txBody>
          <a:bodyPr/>
          <a:lstStyle/>
          <a:p>
            <a:r>
              <a:rPr lang="en-US" dirty="0" err="1"/>
              <a:t>IdentityUser</a:t>
            </a:r>
            <a:r>
              <a:rPr lang="en-US" dirty="0"/>
              <a:t> Class</a:t>
            </a:r>
          </a:p>
        </p:txBody>
      </p:sp>
    </p:spTree>
    <p:extLst>
      <p:ext uri="{BB962C8B-B14F-4D97-AF65-F5344CB8AC3E}">
        <p14:creationId xmlns:p14="http://schemas.microsoft.com/office/powerpoint/2010/main" val="2837003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Authentication</a:t>
            </a:r>
          </a:p>
        </p:txBody>
      </p:sp>
      <p:sp>
        <p:nvSpPr>
          <p:cNvPr id="4" name="Text Placeholder 3"/>
          <p:cNvSpPr>
            <a:spLocks noGrp="1"/>
          </p:cNvSpPr>
          <p:nvPr>
            <p:ph type="body" sz="quarter" idx="10"/>
          </p:nvPr>
        </p:nvSpPr>
        <p:spPr/>
        <p:txBody>
          <a:bodyPr/>
          <a:lstStyle/>
          <a:p>
            <a:r>
              <a:rPr lang="en-US" dirty="0"/>
              <a:t>ASP.NET Core Identity</a:t>
            </a:r>
          </a:p>
        </p:txBody>
      </p:sp>
      <p:sp>
        <p:nvSpPr>
          <p:cNvPr id="5" name="Rectangle 4"/>
          <p:cNvSpPr/>
          <p:nvPr/>
        </p:nvSpPr>
        <p:spPr>
          <a:xfrm>
            <a:off x="1510952" y="2420888"/>
            <a:ext cx="9001000" cy="3416320"/>
          </a:xfrm>
          <a:prstGeom prst="rect">
            <a:avLst/>
          </a:prstGeom>
          <a:solidFill>
            <a:schemeClr val="bg1"/>
          </a:solidFill>
        </p:spPr>
        <p:txBody>
          <a:bodyPr wrap="square">
            <a:spAutoFit/>
          </a:bodyPr>
          <a:lstStyle/>
          <a:p>
            <a:r>
              <a:rPr lang="en-US" dirty="0">
                <a:solidFill>
                  <a:srgbClr val="0000FF"/>
                </a:solidFill>
                <a:latin typeface="Consolas" panose="020B0609020204030204" pitchFamily="49" charset="0"/>
              </a:rPr>
              <a:t>public</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a:t>
            </a:r>
            <a:r>
              <a:rPr lang="en-US" dirty="0" err="1">
                <a:solidFill>
                  <a:srgbClr val="795E26"/>
                </a:solidFill>
                <a:latin typeface="Consolas" panose="020B0609020204030204" pitchFamily="49" charset="0"/>
              </a:rPr>
              <a:t>ConfigureServices</a:t>
            </a:r>
            <a:r>
              <a:rPr lang="en-US" dirty="0">
                <a:solidFill>
                  <a:srgbClr val="000000"/>
                </a:solidFill>
                <a:latin typeface="Consolas" panose="020B0609020204030204" pitchFamily="49" charset="0"/>
              </a:rPr>
              <a:t>(</a:t>
            </a:r>
            <a:r>
              <a:rPr lang="en-US" dirty="0" err="1">
                <a:solidFill>
                  <a:srgbClr val="267F99"/>
                </a:solidFill>
                <a:latin typeface="Consolas" panose="020B0609020204030204" pitchFamily="49" charset="0"/>
              </a:rPr>
              <a:t>IServiceCollection</a:t>
            </a:r>
            <a:r>
              <a:rPr lang="en-US" dirty="0">
                <a:solidFill>
                  <a:srgbClr val="000000"/>
                </a:solidFill>
                <a:latin typeface="Consolas" panose="020B0609020204030204" pitchFamily="49" charset="0"/>
              </a:rPr>
              <a:t> services)</a:t>
            </a:r>
          </a:p>
          <a:p>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err="1">
                <a:solidFill>
                  <a:srgbClr val="001080"/>
                </a:solidFill>
                <a:latin typeface="Consolas" panose="020B0609020204030204" pitchFamily="49" charset="0"/>
              </a:rPr>
              <a:t>services</a:t>
            </a:r>
            <a:r>
              <a:rPr lang="en-US" dirty="0" err="1">
                <a:solidFill>
                  <a:srgbClr val="000000"/>
                </a:solidFill>
                <a:latin typeface="Consolas" panose="020B0609020204030204" pitchFamily="49" charset="0"/>
              </a:rPr>
              <a:t>.</a:t>
            </a:r>
            <a:r>
              <a:rPr lang="en-US" dirty="0" err="1">
                <a:solidFill>
                  <a:srgbClr val="795E26"/>
                </a:solidFill>
                <a:latin typeface="Consolas" panose="020B0609020204030204" pitchFamily="49" charset="0"/>
              </a:rPr>
              <a:t>AddDbContext</a:t>
            </a:r>
            <a:r>
              <a:rPr lang="en-US" dirty="0">
                <a:solidFill>
                  <a:srgbClr val="000000"/>
                </a:solidFill>
                <a:latin typeface="Consolas" panose="020B0609020204030204" pitchFamily="49" charset="0"/>
              </a:rPr>
              <a:t>&lt;</a:t>
            </a:r>
            <a:r>
              <a:rPr lang="en-US" dirty="0" err="1">
                <a:solidFill>
                  <a:srgbClr val="267F99"/>
                </a:solidFill>
                <a:latin typeface="Consolas" panose="020B0609020204030204" pitchFamily="49" charset="0"/>
              </a:rPr>
              <a:t>ApplicationDbContext</a:t>
            </a:r>
            <a:r>
              <a:rPr lang="en-US" dirty="0">
                <a:solidFill>
                  <a:srgbClr val="000000"/>
                </a:solidFill>
                <a:latin typeface="Consolas" panose="020B0609020204030204" pitchFamily="49" charset="0"/>
              </a:rPr>
              <a:t>&gt;(options =&gt;</a:t>
            </a:r>
          </a:p>
          <a:p>
            <a:r>
              <a:rPr lang="en-US" dirty="0">
                <a:solidFill>
                  <a:srgbClr val="000000"/>
                </a:solidFill>
                <a:latin typeface="Consolas" panose="020B0609020204030204" pitchFamily="49" charset="0"/>
              </a:rPr>
              <a:t>    </a:t>
            </a:r>
            <a:r>
              <a:rPr lang="en-US" dirty="0" err="1">
                <a:solidFill>
                  <a:srgbClr val="001080"/>
                </a:solidFill>
                <a:latin typeface="Consolas" panose="020B0609020204030204" pitchFamily="49" charset="0"/>
              </a:rPr>
              <a:t>options</a:t>
            </a:r>
            <a:r>
              <a:rPr lang="en-US" dirty="0" err="1">
                <a:solidFill>
                  <a:srgbClr val="000000"/>
                </a:solidFill>
                <a:latin typeface="Consolas" panose="020B0609020204030204" pitchFamily="49" charset="0"/>
              </a:rPr>
              <a:t>.</a:t>
            </a:r>
            <a:r>
              <a:rPr lang="en-US" dirty="0" err="1">
                <a:solidFill>
                  <a:srgbClr val="795E26"/>
                </a:solidFill>
                <a:latin typeface="Consolas" panose="020B0609020204030204" pitchFamily="49" charset="0"/>
              </a:rPr>
              <a:t>UseSqlServer</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a:solidFill>
                  <a:srgbClr val="001080"/>
                </a:solidFill>
                <a:latin typeface="Consolas" panose="020B0609020204030204" pitchFamily="49" charset="0"/>
              </a:rPr>
              <a:t>Configuration</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Data:Database:ConnectionString</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err="1">
                <a:solidFill>
                  <a:srgbClr val="001080"/>
                </a:solidFill>
                <a:latin typeface="Consolas" panose="020B0609020204030204" pitchFamily="49" charset="0"/>
              </a:rPr>
              <a:t>services</a:t>
            </a:r>
            <a:r>
              <a:rPr lang="en-US" dirty="0" err="1">
                <a:solidFill>
                  <a:srgbClr val="000000"/>
                </a:solidFill>
                <a:latin typeface="Consolas" panose="020B0609020204030204" pitchFamily="49" charset="0"/>
              </a:rPr>
              <a:t>.</a:t>
            </a:r>
            <a:r>
              <a:rPr lang="en-US" dirty="0" err="1">
                <a:solidFill>
                  <a:srgbClr val="795E26"/>
                </a:solidFill>
                <a:latin typeface="Consolas" panose="020B0609020204030204" pitchFamily="49" charset="0"/>
              </a:rPr>
              <a:t>AddTransient</a:t>
            </a:r>
            <a:r>
              <a:rPr lang="en-US" dirty="0">
                <a:solidFill>
                  <a:srgbClr val="000000"/>
                </a:solidFill>
                <a:latin typeface="Consolas" panose="020B0609020204030204" pitchFamily="49" charset="0"/>
              </a:rPr>
              <a:t>&lt;</a:t>
            </a:r>
            <a:r>
              <a:rPr lang="en-US" dirty="0" err="1">
                <a:solidFill>
                  <a:srgbClr val="267F99"/>
                </a:solidFill>
                <a:latin typeface="Consolas" panose="020B0609020204030204" pitchFamily="49" charset="0"/>
              </a:rPr>
              <a:t>IProductRepository</a:t>
            </a:r>
            <a:r>
              <a:rPr lang="en-US" dirty="0">
                <a:solidFill>
                  <a:srgbClr val="000000"/>
                </a:solidFill>
                <a:latin typeface="Consolas" panose="020B0609020204030204" pitchFamily="49" charset="0"/>
              </a:rPr>
              <a:t>, </a:t>
            </a:r>
            <a:r>
              <a:rPr lang="en-US" dirty="0" err="1">
                <a:solidFill>
                  <a:srgbClr val="267F99"/>
                </a:solidFill>
                <a:latin typeface="Consolas" panose="020B0609020204030204" pitchFamily="49" charset="0"/>
              </a:rPr>
              <a:t>EFProductRepository</a:t>
            </a:r>
            <a:r>
              <a:rPr lang="en-US" dirty="0">
                <a:solidFill>
                  <a:srgbClr val="000000"/>
                </a:solidFill>
                <a:latin typeface="Consolas" panose="020B0609020204030204" pitchFamily="49" charset="0"/>
              </a:rPr>
              <a:t>&gt;();</a:t>
            </a:r>
          </a:p>
          <a:p>
            <a:br>
              <a:rPr lang="en-US" dirty="0">
                <a:solidFill>
                  <a:srgbClr val="000000"/>
                </a:solidFill>
                <a:latin typeface="Consolas" panose="020B0609020204030204" pitchFamily="49" charset="0"/>
              </a:rPr>
            </a:br>
            <a:r>
              <a:rPr lang="en-US" dirty="0">
                <a:solidFill>
                  <a:srgbClr val="000000"/>
                </a:solidFill>
                <a:highlight>
                  <a:srgbClr val="FFFF00"/>
                </a:highlight>
                <a:latin typeface="Consolas" panose="020B0609020204030204" pitchFamily="49" charset="0"/>
              </a:rPr>
              <a:t>    </a:t>
            </a:r>
            <a:r>
              <a:rPr lang="en-US" dirty="0" err="1">
                <a:solidFill>
                  <a:srgbClr val="001080"/>
                </a:solidFill>
                <a:highlight>
                  <a:srgbClr val="FFFF00"/>
                </a:highlight>
                <a:latin typeface="Consolas" panose="020B0609020204030204" pitchFamily="49" charset="0"/>
              </a:rPr>
              <a:t>services</a:t>
            </a:r>
            <a:r>
              <a:rPr lang="en-US" dirty="0" err="1">
                <a:solidFill>
                  <a:srgbClr val="000000"/>
                </a:solidFill>
                <a:highlight>
                  <a:srgbClr val="FFFF00"/>
                </a:highlight>
                <a:latin typeface="Consolas" panose="020B0609020204030204" pitchFamily="49" charset="0"/>
              </a:rPr>
              <a:t>.</a:t>
            </a:r>
            <a:r>
              <a:rPr lang="en-US" dirty="0" err="1">
                <a:solidFill>
                  <a:srgbClr val="795E26"/>
                </a:solidFill>
                <a:highlight>
                  <a:srgbClr val="FFFF00"/>
                </a:highlight>
                <a:latin typeface="Consolas" panose="020B0609020204030204" pitchFamily="49" charset="0"/>
              </a:rPr>
              <a:t>AddIdentity</a:t>
            </a:r>
            <a:r>
              <a:rPr lang="en-US" dirty="0">
                <a:solidFill>
                  <a:srgbClr val="000000"/>
                </a:solidFill>
                <a:highlight>
                  <a:srgbClr val="FFFF00"/>
                </a:highlight>
                <a:latin typeface="Consolas" panose="020B0609020204030204" pitchFamily="49" charset="0"/>
              </a:rPr>
              <a:t>&lt;</a:t>
            </a:r>
            <a:r>
              <a:rPr lang="en-US" dirty="0" err="1">
                <a:solidFill>
                  <a:srgbClr val="267F99"/>
                </a:solidFill>
                <a:highlight>
                  <a:srgbClr val="FFFF00"/>
                </a:highlight>
                <a:latin typeface="Consolas" panose="020B0609020204030204" pitchFamily="49" charset="0"/>
              </a:rPr>
              <a:t>IdentityUser</a:t>
            </a:r>
            <a:r>
              <a:rPr lang="en-US" dirty="0">
                <a:solidFill>
                  <a:srgbClr val="000000"/>
                </a:solidFill>
                <a:highlight>
                  <a:srgbClr val="FFFF00"/>
                </a:highlight>
                <a:latin typeface="Consolas" panose="020B0609020204030204" pitchFamily="49" charset="0"/>
              </a:rPr>
              <a:t>, </a:t>
            </a:r>
            <a:r>
              <a:rPr lang="en-US" dirty="0" err="1">
                <a:solidFill>
                  <a:srgbClr val="267F99"/>
                </a:solidFill>
                <a:highlight>
                  <a:srgbClr val="FFFF00"/>
                </a:highlight>
                <a:latin typeface="Consolas" panose="020B0609020204030204" pitchFamily="49" charset="0"/>
              </a:rPr>
              <a:t>IdentityRole</a:t>
            </a:r>
            <a:r>
              <a:rPr lang="en-US" dirty="0">
                <a:solidFill>
                  <a:srgbClr val="000000"/>
                </a:solidFill>
                <a:highlight>
                  <a:srgbClr val="FFFF00"/>
                </a:highlight>
                <a:latin typeface="Consolas" panose="020B0609020204030204" pitchFamily="49" charset="0"/>
              </a:rPr>
              <a:t>&gt;()</a:t>
            </a:r>
          </a:p>
          <a:p>
            <a:r>
              <a:rPr lang="en-US" dirty="0">
                <a:solidFill>
                  <a:srgbClr val="000000"/>
                </a:solidFill>
                <a:highlight>
                  <a:srgbClr val="FFFF00"/>
                </a:highlight>
                <a:latin typeface="Consolas" panose="020B0609020204030204" pitchFamily="49" charset="0"/>
              </a:rPr>
              <a:t>        .</a:t>
            </a:r>
            <a:r>
              <a:rPr lang="en-US" dirty="0" err="1">
                <a:solidFill>
                  <a:srgbClr val="795E26"/>
                </a:solidFill>
                <a:highlight>
                  <a:srgbClr val="FFFF00"/>
                </a:highlight>
                <a:latin typeface="Consolas" panose="020B0609020204030204" pitchFamily="49" charset="0"/>
              </a:rPr>
              <a:t>AddEntityFrameworkStores</a:t>
            </a:r>
            <a:r>
              <a:rPr lang="en-US" dirty="0">
                <a:solidFill>
                  <a:srgbClr val="000000"/>
                </a:solidFill>
                <a:highlight>
                  <a:srgbClr val="FFFF00"/>
                </a:highlight>
                <a:latin typeface="Consolas" panose="020B0609020204030204" pitchFamily="49" charset="0"/>
              </a:rPr>
              <a:t>&lt;</a:t>
            </a:r>
            <a:r>
              <a:rPr lang="en-US" dirty="0" err="1">
                <a:solidFill>
                  <a:srgbClr val="267F99"/>
                </a:solidFill>
                <a:highlight>
                  <a:srgbClr val="FFFF00"/>
                </a:highlight>
                <a:latin typeface="Consolas" panose="020B0609020204030204" pitchFamily="49" charset="0"/>
              </a:rPr>
              <a:t>ApplicationDbContext</a:t>
            </a:r>
            <a:r>
              <a:rPr lang="en-US" dirty="0">
                <a:solidFill>
                  <a:srgbClr val="000000"/>
                </a:solidFill>
                <a:highlight>
                  <a:srgbClr val="FFFF00"/>
                </a:highlight>
                <a:latin typeface="Consolas" panose="020B0609020204030204" pitchFamily="49" charset="0"/>
              </a:rPr>
              <a:t>&gt;();</a:t>
            </a:r>
          </a:p>
          <a:p>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    </a:t>
            </a:r>
            <a:r>
              <a:rPr lang="en-US" dirty="0" err="1">
                <a:solidFill>
                  <a:srgbClr val="001080"/>
                </a:solidFill>
                <a:latin typeface="Consolas" panose="020B0609020204030204" pitchFamily="49" charset="0"/>
              </a:rPr>
              <a:t>services</a:t>
            </a:r>
            <a:r>
              <a:rPr lang="en-US" dirty="0" err="1">
                <a:solidFill>
                  <a:srgbClr val="000000"/>
                </a:solidFill>
                <a:latin typeface="Consolas" panose="020B0609020204030204" pitchFamily="49" charset="0"/>
              </a:rPr>
              <a:t>.</a:t>
            </a:r>
            <a:r>
              <a:rPr lang="en-US" dirty="0" err="1">
                <a:solidFill>
                  <a:srgbClr val="795E26"/>
                </a:solidFill>
                <a:latin typeface="Consolas" panose="020B0609020204030204" pitchFamily="49" charset="0"/>
              </a:rPr>
              <a:t>AddMvc</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3A791603-40E1-4595-97C0-16FE008FBF83}"/>
              </a:ext>
            </a:extLst>
          </p:cNvPr>
          <p:cNvSpPr txBox="1"/>
          <p:nvPr/>
        </p:nvSpPr>
        <p:spPr>
          <a:xfrm>
            <a:off x="551384" y="1628800"/>
            <a:ext cx="10734285" cy="369332"/>
          </a:xfrm>
          <a:prstGeom prst="rect">
            <a:avLst/>
          </a:prstGeom>
          <a:noFill/>
        </p:spPr>
        <p:txBody>
          <a:bodyPr wrap="none" rtlCol="0">
            <a:spAutoFit/>
          </a:bodyPr>
          <a:lstStyle/>
          <a:p>
            <a:pPr marL="285750" indent="-285750">
              <a:buFont typeface="Wingdings" panose="05000000000000000000" pitchFamily="2" charset="2"/>
              <a:buChar char="§"/>
            </a:pPr>
            <a:r>
              <a:rPr lang="en-US" dirty="0"/>
              <a:t>The identity services should be added to the application in the </a:t>
            </a:r>
            <a:r>
              <a:rPr lang="en-US" dirty="0" err="1"/>
              <a:t>ConfigureServices</a:t>
            </a:r>
            <a:r>
              <a:rPr lang="en-US" dirty="0"/>
              <a:t> method in the Startup class:</a:t>
            </a:r>
          </a:p>
        </p:txBody>
      </p:sp>
    </p:spTree>
    <p:extLst>
      <p:ext uri="{BB962C8B-B14F-4D97-AF65-F5344CB8AC3E}">
        <p14:creationId xmlns:p14="http://schemas.microsoft.com/office/powerpoint/2010/main" val="344016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2709E-E7EC-4A41-9521-2ADA82A4A553}"/>
              </a:ext>
            </a:extLst>
          </p:cNvPr>
          <p:cNvSpPr>
            <a:spLocks noGrp="1"/>
          </p:cNvSpPr>
          <p:nvPr>
            <p:ph type="title"/>
          </p:nvPr>
        </p:nvSpPr>
        <p:spPr/>
        <p:txBody>
          <a:bodyPr/>
          <a:lstStyle/>
          <a:p>
            <a:r>
              <a:rPr lang="en-US" dirty="0"/>
              <a:t>Authentication</a:t>
            </a:r>
          </a:p>
        </p:txBody>
      </p:sp>
      <p:sp>
        <p:nvSpPr>
          <p:cNvPr id="3" name="Content Placeholder 2">
            <a:extLst>
              <a:ext uri="{FF2B5EF4-FFF2-40B4-BE49-F238E27FC236}">
                <a16:creationId xmlns:a16="http://schemas.microsoft.com/office/drawing/2014/main" id="{6CEC54AF-25C6-4CE4-AB12-A84DD9E13849}"/>
              </a:ext>
            </a:extLst>
          </p:cNvPr>
          <p:cNvSpPr>
            <a:spLocks noGrp="1"/>
          </p:cNvSpPr>
          <p:nvPr>
            <p:ph idx="1"/>
          </p:nvPr>
        </p:nvSpPr>
        <p:spPr/>
        <p:txBody>
          <a:bodyPr/>
          <a:lstStyle/>
          <a:p>
            <a:pPr marL="342900" indent="-342900">
              <a:buFont typeface="Wingdings" panose="05000000000000000000" pitchFamily="2" charset="2"/>
              <a:buChar char="§"/>
            </a:pPr>
            <a:r>
              <a:rPr lang="en-US" dirty="0"/>
              <a:t>Password policy:</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User's lockout:</a:t>
            </a:r>
          </a:p>
        </p:txBody>
      </p:sp>
      <p:sp>
        <p:nvSpPr>
          <p:cNvPr id="4" name="Text Placeholder 3">
            <a:extLst>
              <a:ext uri="{FF2B5EF4-FFF2-40B4-BE49-F238E27FC236}">
                <a16:creationId xmlns:a16="http://schemas.microsoft.com/office/drawing/2014/main" id="{57356351-5AC5-4CC9-A74C-767473EAE758}"/>
              </a:ext>
            </a:extLst>
          </p:cNvPr>
          <p:cNvSpPr>
            <a:spLocks noGrp="1"/>
          </p:cNvSpPr>
          <p:nvPr>
            <p:ph type="body" sz="quarter" idx="10"/>
          </p:nvPr>
        </p:nvSpPr>
        <p:spPr/>
        <p:txBody>
          <a:bodyPr/>
          <a:lstStyle/>
          <a:p>
            <a:r>
              <a:rPr lang="en-US" dirty="0"/>
              <a:t>Configure Identity</a:t>
            </a:r>
          </a:p>
        </p:txBody>
      </p:sp>
      <p:sp>
        <p:nvSpPr>
          <p:cNvPr id="6" name="Rectangle 5">
            <a:extLst>
              <a:ext uri="{FF2B5EF4-FFF2-40B4-BE49-F238E27FC236}">
                <a16:creationId xmlns:a16="http://schemas.microsoft.com/office/drawing/2014/main" id="{2816C845-27CF-4FD5-A55B-FEA97B56D471}"/>
              </a:ext>
            </a:extLst>
          </p:cNvPr>
          <p:cNvSpPr/>
          <p:nvPr/>
        </p:nvSpPr>
        <p:spPr>
          <a:xfrm>
            <a:off x="2279576" y="1997495"/>
            <a:ext cx="6408712" cy="1477328"/>
          </a:xfrm>
          <a:prstGeom prst="rect">
            <a:avLst/>
          </a:prstGeom>
          <a:solidFill>
            <a:schemeClr val="bg1"/>
          </a:solidFill>
        </p:spPr>
        <p:txBody>
          <a:bodyPr wrap="square">
            <a:spAutoFit/>
          </a:bodyPr>
          <a:lstStyle/>
          <a:p>
            <a:r>
              <a:rPr lang="en-US" dirty="0" err="1">
                <a:solidFill>
                  <a:srgbClr val="001080"/>
                </a:solidFill>
                <a:latin typeface="Consolas" panose="020B0609020204030204" pitchFamily="49" charset="0"/>
              </a:rPr>
              <a:t>options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Password</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RequireDigit</a:t>
            </a:r>
            <a:r>
              <a:rPr lang="en-US" dirty="0">
                <a:solidFill>
                  <a:srgbClr val="000000"/>
                </a:solidFill>
                <a:latin typeface="Consolas" panose="020B0609020204030204" pitchFamily="49" charset="0"/>
              </a:rPr>
              <a:t> = </a:t>
            </a:r>
            <a:r>
              <a:rPr lang="en-US" dirty="0">
                <a:solidFill>
                  <a:srgbClr val="0000FF"/>
                </a:solidFill>
                <a:latin typeface="Consolas" panose="020B0609020204030204" pitchFamily="49" charset="0"/>
              </a:rPr>
              <a:t>true</a:t>
            </a:r>
            <a:r>
              <a:rPr lang="en-US" dirty="0">
                <a:solidFill>
                  <a:srgbClr val="000000"/>
                </a:solidFill>
                <a:latin typeface="Consolas" panose="020B0609020204030204" pitchFamily="49" charset="0"/>
              </a:rPr>
              <a:t>;</a:t>
            </a:r>
          </a:p>
          <a:p>
            <a:r>
              <a:rPr lang="en-US" dirty="0" err="1">
                <a:solidFill>
                  <a:srgbClr val="001080"/>
                </a:solidFill>
                <a:latin typeface="Consolas" panose="020B0609020204030204" pitchFamily="49" charset="0"/>
              </a:rPr>
              <a:t>options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Password</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RequiredLength</a:t>
            </a:r>
            <a:r>
              <a:rPr lang="en-US" dirty="0">
                <a:solidFill>
                  <a:srgbClr val="000000"/>
                </a:solidFill>
                <a:latin typeface="Consolas" panose="020B0609020204030204" pitchFamily="49" charset="0"/>
              </a:rPr>
              <a:t> = </a:t>
            </a:r>
            <a:r>
              <a:rPr lang="en-US" dirty="0">
                <a:solidFill>
                  <a:srgbClr val="09885A"/>
                </a:solidFill>
                <a:latin typeface="Consolas" panose="020B0609020204030204" pitchFamily="49" charset="0"/>
              </a:rPr>
              <a:t>8</a:t>
            </a:r>
            <a:r>
              <a:rPr lang="en-US" dirty="0">
                <a:solidFill>
                  <a:srgbClr val="000000"/>
                </a:solidFill>
                <a:latin typeface="Consolas" panose="020B0609020204030204" pitchFamily="49" charset="0"/>
              </a:rPr>
              <a:t>;</a:t>
            </a:r>
          </a:p>
          <a:p>
            <a:r>
              <a:rPr lang="en-US" dirty="0" err="1">
                <a:solidFill>
                  <a:srgbClr val="001080"/>
                </a:solidFill>
                <a:latin typeface="Consolas" panose="020B0609020204030204" pitchFamily="49" charset="0"/>
              </a:rPr>
              <a:t>options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Password</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RequireNonAlphanumeric</a:t>
            </a:r>
            <a:r>
              <a:rPr lang="en-US" dirty="0">
                <a:solidFill>
                  <a:srgbClr val="000000"/>
                </a:solidFill>
                <a:latin typeface="Consolas" panose="020B0609020204030204" pitchFamily="49" charset="0"/>
              </a:rPr>
              <a:t> = </a:t>
            </a:r>
            <a:r>
              <a:rPr lang="en-US" dirty="0">
                <a:solidFill>
                  <a:srgbClr val="0000FF"/>
                </a:solidFill>
                <a:latin typeface="Consolas" panose="020B0609020204030204" pitchFamily="49" charset="0"/>
              </a:rPr>
              <a:t>false</a:t>
            </a:r>
            <a:r>
              <a:rPr lang="en-US" dirty="0">
                <a:solidFill>
                  <a:srgbClr val="000000"/>
                </a:solidFill>
                <a:latin typeface="Consolas" panose="020B0609020204030204" pitchFamily="49" charset="0"/>
              </a:rPr>
              <a:t>;</a:t>
            </a:r>
          </a:p>
          <a:p>
            <a:r>
              <a:rPr lang="en-US" dirty="0" err="1">
                <a:solidFill>
                  <a:srgbClr val="001080"/>
                </a:solidFill>
                <a:latin typeface="Consolas" panose="020B0609020204030204" pitchFamily="49" charset="0"/>
              </a:rPr>
              <a:t>options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Password</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RequireUppercase</a:t>
            </a:r>
            <a:r>
              <a:rPr lang="en-US" dirty="0">
                <a:solidFill>
                  <a:srgbClr val="000000"/>
                </a:solidFill>
                <a:latin typeface="Consolas" panose="020B0609020204030204" pitchFamily="49" charset="0"/>
              </a:rPr>
              <a:t> = </a:t>
            </a:r>
            <a:r>
              <a:rPr lang="en-US" dirty="0">
                <a:solidFill>
                  <a:srgbClr val="0000FF"/>
                </a:solidFill>
                <a:latin typeface="Consolas" panose="020B0609020204030204" pitchFamily="49" charset="0"/>
              </a:rPr>
              <a:t>true</a:t>
            </a:r>
            <a:r>
              <a:rPr lang="en-US" dirty="0">
                <a:solidFill>
                  <a:srgbClr val="000000"/>
                </a:solidFill>
                <a:latin typeface="Consolas" panose="020B0609020204030204" pitchFamily="49" charset="0"/>
              </a:rPr>
              <a:t>;</a:t>
            </a:r>
          </a:p>
          <a:p>
            <a:r>
              <a:rPr lang="en-US" dirty="0" err="1">
                <a:solidFill>
                  <a:srgbClr val="001080"/>
                </a:solidFill>
                <a:latin typeface="Consolas" panose="020B0609020204030204" pitchFamily="49" charset="0"/>
              </a:rPr>
              <a:t>options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Password</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RequireLowercase</a:t>
            </a:r>
            <a:r>
              <a:rPr lang="en-US" dirty="0">
                <a:solidFill>
                  <a:srgbClr val="000000"/>
                </a:solidFill>
                <a:latin typeface="Consolas" panose="020B0609020204030204" pitchFamily="49" charset="0"/>
              </a:rPr>
              <a:t> = </a:t>
            </a:r>
            <a:r>
              <a:rPr lang="en-US" dirty="0">
                <a:solidFill>
                  <a:srgbClr val="0000FF"/>
                </a:solidFill>
                <a:latin typeface="Consolas" panose="020B0609020204030204" pitchFamily="49" charset="0"/>
              </a:rPr>
              <a:t>false</a:t>
            </a:r>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
        <p:nvSpPr>
          <p:cNvPr id="8" name="Rectangle 7">
            <a:extLst>
              <a:ext uri="{FF2B5EF4-FFF2-40B4-BE49-F238E27FC236}">
                <a16:creationId xmlns:a16="http://schemas.microsoft.com/office/drawing/2014/main" id="{4A75D23F-80EB-451B-90D6-15BA0DE6FE7C}"/>
              </a:ext>
            </a:extLst>
          </p:cNvPr>
          <p:cNvSpPr/>
          <p:nvPr/>
        </p:nvSpPr>
        <p:spPr>
          <a:xfrm>
            <a:off x="2435932" y="4581128"/>
            <a:ext cx="6096000" cy="1477328"/>
          </a:xfrm>
          <a:prstGeom prst="rect">
            <a:avLst/>
          </a:prstGeom>
          <a:solidFill>
            <a:schemeClr val="bg1"/>
          </a:solidFill>
        </p:spPr>
        <p:txBody>
          <a:bodyPr>
            <a:spAutoFit/>
          </a:bodyPr>
          <a:lstStyle/>
          <a:p>
            <a:r>
              <a:rPr lang="en-US" dirty="0">
                <a:solidFill>
                  <a:srgbClr val="008000"/>
                </a:solidFill>
                <a:latin typeface="Consolas" panose="020B0609020204030204" pitchFamily="49" charset="0"/>
              </a:rPr>
              <a:t>// Lockout settings</a:t>
            </a:r>
            <a:endParaRPr lang="en-US" dirty="0">
              <a:solidFill>
                <a:srgbClr val="000000"/>
              </a:solidFill>
              <a:latin typeface="Consolas" panose="020B0609020204030204" pitchFamily="49" charset="0"/>
            </a:endParaRPr>
          </a:p>
          <a:p>
            <a:r>
              <a:rPr lang="en-US" dirty="0" err="1">
                <a:solidFill>
                  <a:srgbClr val="001080"/>
                </a:solidFill>
                <a:latin typeface="Consolas" panose="020B0609020204030204" pitchFamily="49" charset="0"/>
              </a:rPr>
              <a:t>options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Lockout</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DefaultLockoutTimeSpan</a:t>
            </a:r>
            <a:r>
              <a:rPr lang="en-US" dirty="0">
                <a:solidFill>
                  <a:srgbClr val="000000"/>
                </a:solidFill>
                <a:latin typeface="Consolas" panose="020B0609020204030204" pitchFamily="49" charset="0"/>
              </a:rPr>
              <a:t> = </a:t>
            </a:r>
            <a:r>
              <a:rPr lang="en-US" dirty="0" err="1">
                <a:solidFill>
                  <a:srgbClr val="001080"/>
                </a:solidFill>
                <a:latin typeface="Consolas" panose="020B0609020204030204" pitchFamily="49" charset="0"/>
              </a:rPr>
              <a:t>TimeSpan</a:t>
            </a:r>
            <a:r>
              <a:rPr lang="en-US" dirty="0" err="1">
                <a:solidFill>
                  <a:srgbClr val="000000"/>
                </a:solidFill>
                <a:latin typeface="Consolas" panose="020B0609020204030204" pitchFamily="49" charset="0"/>
              </a:rPr>
              <a:t>.</a:t>
            </a:r>
            <a:r>
              <a:rPr lang="en-US" dirty="0" err="1">
                <a:solidFill>
                  <a:srgbClr val="795E26"/>
                </a:solidFill>
                <a:latin typeface="Consolas" panose="020B0609020204030204" pitchFamily="49" charset="0"/>
              </a:rPr>
              <a:t>FromMinutes</a:t>
            </a:r>
            <a:r>
              <a:rPr lang="en-US" dirty="0">
                <a:solidFill>
                  <a:srgbClr val="000000"/>
                </a:solidFill>
                <a:latin typeface="Consolas" panose="020B0609020204030204" pitchFamily="49" charset="0"/>
              </a:rPr>
              <a:t>(</a:t>
            </a:r>
            <a:r>
              <a:rPr lang="en-US" dirty="0">
                <a:solidFill>
                  <a:srgbClr val="09885A"/>
                </a:solidFill>
                <a:latin typeface="Consolas" panose="020B0609020204030204" pitchFamily="49" charset="0"/>
              </a:rPr>
              <a:t>30</a:t>
            </a:r>
            <a:r>
              <a:rPr lang="en-US" dirty="0">
                <a:solidFill>
                  <a:srgbClr val="000000"/>
                </a:solidFill>
                <a:latin typeface="Consolas" panose="020B0609020204030204" pitchFamily="49" charset="0"/>
              </a:rPr>
              <a:t>);</a:t>
            </a:r>
          </a:p>
          <a:p>
            <a:r>
              <a:rPr lang="en-US" dirty="0" err="1">
                <a:solidFill>
                  <a:srgbClr val="001080"/>
                </a:solidFill>
                <a:latin typeface="Consolas" panose="020B0609020204030204" pitchFamily="49" charset="0"/>
              </a:rPr>
              <a:t>options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Lockout</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MaxFailedAccessAttempts</a:t>
            </a:r>
            <a:r>
              <a:rPr lang="en-US" dirty="0">
                <a:solidFill>
                  <a:srgbClr val="000000"/>
                </a:solidFill>
                <a:latin typeface="Consolas" panose="020B0609020204030204" pitchFamily="49" charset="0"/>
              </a:rPr>
              <a:t> = </a:t>
            </a:r>
            <a:r>
              <a:rPr lang="en-US" dirty="0">
                <a:solidFill>
                  <a:srgbClr val="09885A"/>
                </a:solidFill>
                <a:latin typeface="Consolas" panose="020B0609020204030204" pitchFamily="49" charset="0"/>
              </a:rPr>
              <a:t>10</a:t>
            </a:r>
            <a:r>
              <a:rPr lang="en-US" dirty="0">
                <a:solidFill>
                  <a:srgbClr val="000000"/>
                </a:solidFill>
                <a:latin typeface="Consolas" panose="020B0609020204030204" pitchFamily="49" charset="0"/>
              </a:rPr>
              <a:t>;</a:t>
            </a:r>
          </a:p>
          <a:p>
            <a:r>
              <a:rPr lang="en-US" dirty="0" err="1">
                <a:solidFill>
                  <a:srgbClr val="001080"/>
                </a:solidFill>
                <a:latin typeface="Consolas" panose="020B0609020204030204" pitchFamily="49" charset="0"/>
              </a:rPr>
              <a:t>options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Lockout</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AllowedForNewUsers</a:t>
            </a:r>
            <a:r>
              <a:rPr lang="en-US" dirty="0">
                <a:solidFill>
                  <a:srgbClr val="000000"/>
                </a:solidFill>
                <a:latin typeface="Consolas" panose="020B0609020204030204" pitchFamily="49" charset="0"/>
              </a:rPr>
              <a:t> = </a:t>
            </a:r>
            <a:r>
              <a:rPr lang="en-US" dirty="0">
                <a:solidFill>
                  <a:srgbClr val="0000FF"/>
                </a:solidFill>
                <a:latin typeface="Consolas" panose="020B0609020204030204" pitchFamily="49" charset="0"/>
              </a:rPr>
              <a:t>true</a:t>
            </a:r>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392771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2709E-E7EC-4A41-9521-2ADA82A4A553}"/>
              </a:ext>
            </a:extLst>
          </p:cNvPr>
          <p:cNvSpPr>
            <a:spLocks noGrp="1"/>
          </p:cNvSpPr>
          <p:nvPr>
            <p:ph type="title"/>
          </p:nvPr>
        </p:nvSpPr>
        <p:spPr/>
        <p:txBody>
          <a:bodyPr/>
          <a:lstStyle/>
          <a:p>
            <a:r>
              <a:rPr lang="en-US" dirty="0"/>
              <a:t>Authentication</a:t>
            </a:r>
          </a:p>
        </p:txBody>
      </p:sp>
      <p:sp>
        <p:nvSpPr>
          <p:cNvPr id="3" name="Content Placeholder 2">
            <a:extLst>
              <a:ext uri="{FF2B5EF4-FFF2-40B4-BE49-F238E27FC236}">
                <a16:creationId xmlns:a16="http://schemas.microsoft.com/office/drawing/2014/main" id="{6CEC54AF-25C6-4CE4-AB12-A84DD9E13849}"/>
              </a:ext>
            </a:extLst>
          </p:cNvPr>
          <p:cNvSpPr>
            <a:spLocks noGrp="1"/>
          </p:cNvSpPr>
          <p:nvPr>
            <p:ph idx="1"/>
          </p:nvPr>
        </p:nvSpPr>
        <p:spPr/>
        <p:txBody>
          <a:bodyPr/>
          <a:lstStyle/>
          <a:p>
            <a:pPr marL="342900" indent="-342900">
              <a:buFont typeface="Wingdings" panose="05000000000000000000" pitchFamily="2" charset="2"/>
              <a:buChar char="§"/>
            </a:pPr>
            <a:r>
              <a:rPr lang="en-US" dirty="0"/>
              <a:t>Application's cookie settings:</a:t>
            </a:r>
          </a:p>
        </p:txBody>
      </p:sp>
      <p:sp>
        <p:nvSpPr>
          <p:cNvPr id="4" name="Text Placeholder 3">
            <a:extLst>
              <a:ext uri="{FF2B5EF4-FFF2-40B4-BE49-F238E27FC236}">
                <a16:creationId xmlns:a16="http://schemas.microsoft.com/office/drawing/2014/main" id="{57356351-5AC5-4CC9-A74C-767473EAE758}"/>
              </a:ext>
            </a:extLst>
          </p:cNvPr>
          <p:cNvSpPr>
            <a:spLocks noGrp="1"/>
          </p:cNvSpPr>
          <p:nvPr>
            <p:ph type="body" sz="quarter" idx="10"/>
          </p:nvPr>
        </p:nvSpPr>
        <p:spPr/>
        <p:txBody>
          <a:bodyPr/>
          <a:lstStyle/>
          <a:p>
            <a:r>
              <a:rPr lang="en-US" dirty="0"/>
              <a:t>Configure Identity</a:t>
            </a:r>
          </a:p>
        </p:txBody>
      </p:sp>
      <p:sp>
        <p:nvSpPr>
          <p:cNvPr id="7" name="Rectangle 6">
            <a:extLst>
              <a:ext uri="{FF2B5EF4-FFF2-40B4-BE49-F238E27FC236}">
                <a16:creationId xmlns:a16="http://schemas.microsoft.com/office/drawing/2014/main" id="{F897484F-7406-46C3-8D47-90D248EAACB0}"/>
              </a:ext>
            </a:extLst>
          </p:cNvPr>
          <p:cNvSpPr/>
          <p:nvPr/>
        </p:nvSpPr>
        <p:spPr>
          <a:xfrm>
            <a:off x="898883" y="1901105"/>
            <a:ext cx="10692651" cy="3693319"/>
          </a:xfrm>
          <a:prstGeom prst="rect">
            <a:avLst/>
          </a:prstGeom>
          <a:solidFill>
            <a:schemeClr val="bg1"/>
          </a:solidFill>
        </p:spPr>
        <p:txBody>
          <a:bodyPr wrap="square">
            <a:spAutoFit/>
          </a:bodyPr>
          <a:lstStyle/>
          <a:p>
            <a:r>
              <a:rPr lang="en-US" dirty="0">
                <a:solidFill>
                  <a:srgbClr val="008000"/>
                </a:solidFill>
                <a:latin typeface="Consolas" panose="020B0609020204030204" pitchFamily="49" charset="0"/>
              </a:rPr>
              <a:t>// Cookie settings</a:t>
            </a:r>
            <a:endParaRPr lang="en-US" dirty="0">
              <a:solidFill>
                <a:srgbClr val="000000"/>
              </a:solidFill>
              <a:latin typeface="Consolas" panose="020B0609020204030204" pitchFamily="49" charset="0"/>
            </a:endParaRPr>
          </a:p>
          <a:p>
            <a:r>
              <a:rPr lang="en-US" dirty="0" err="1">
                <a:solidFill>
                  <a:srgbClr val="001080"/>
                </a:solidFill>
                <a:latin typeface="Consolas" panose="020B0609020204030204" pitchFamily="49" charset="0"/>
              </a:rPr>
              <a:t>options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Cookies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ApplicationCookie</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CookieName</a:t>
            </a:r>
            <a:r>
              <a:rPr lang="en-US" dirty="0">
                <a:solidFill>
                  <a:srgbClr val="000000"/>
                </a:solidFill>
                <a:latin typeface="Consolas" panose="020B0609020204030204" pitchFamily="49" charset="0"/>
              </a:rPr>
              <a:t> =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YouAppCookieName</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p>
          <a:p>
            <a:r>
              <a:rPr lang="en-US" dirty="0" err="1">
                <a:solidFill>
                  <a:srgbClr val="001080"/>
                </a:solidFill>
                <a:latin typeface="Consolas" panose="020B0609020204030204" pitchFamily="49" charset="0"/>
              </a:rPr>
              <a:t>options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Cookies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ApplicationCookie</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ExpireTimeSpan</a:t>
            </a:r>
            <a:r>
              <a:rPr lang="en-US" dirty="0">
                <a:solidFill>
                  <a:srgbClr val="000000"/>
                </a:solidFill>
                <a:latin typeface="Consolas" panose="020B0609020204030204" pitchFamily="49" charset="0"/>
              </a:rPr>
              <a:t> = </a:t>
            </a:r>
            <a:r>
              <a:rPr lang="en-US" dirty="0" err="1">
                <a:solidFill>
                  <a:srgbClr val="001080"/>
                </a:solidFill>
                <a:latin typeface="Consolas" panose="020B0609020204030204" pitchFamily="49" charset="0"/>
              </a:rPr>
              <a:t>TimeSpan</a:t>
            </a:r>
            <a:r>
              <a:rPr lang="en-US" dirty="0" err="1">
                <a:solidFill>
                  <a:srgbClr val="000000"/>
                </a:solidFill>
                <a:latin typeface="Consolas" panose="020B0609020204030204" pitchFamily="49" charset="0"/>
              </a:rPr>
              <a:t>.</a:t>
            </a:r>
            <a:r>
              <a:rPr lang="en-US" dirty="0" err="1">
                <a:solidFill>
                  <a:srgbClr val="795E26"/>
                </a:solidFill>
                <a:latin typeface="Consolas" panose="020B0609020204030204" pitchFamily="49" charset="0"/>
              </a:rPr>
              <a:t>FromDays</a:t>
            </a:r>
            <a:r>
              <a:rPr lang="en-US" dirty="0">
                <a:solidFill>
                  <a:srgbClr val="000000"/>
                </a:solidFill>
                <a:latin typeface="Consolas" panose="020B0609020204030204" pitchFamily="49" charset="0"/>
              </a:rPr>
              <a:t>(</a:t>
            </a:r>
            <a:r>
              <a:rPr lang="en-US" dirty="0">
                <a:solidFill>
                  <a:srgbClr val="09885A"/>
                </a:solidFill>
                <a:latin typeface="Consolas" panose="020B0609020204030204" pitchFamily="49" charset="0"/>
              </a:rPr>
              <a:t>150</a:t>
            </a:r>
            <a:r>
              <a:rPr lang="en-US" dirty="0">
                <a:solidFill>
                  <a:srgbClr val="000000"/>
                </a:solidFill>
                <a:latin typeface="Consolas" panose="020B0609020204030204" pitchFamily="49" charset="0"/>
              </a:rPr>
              <a:t>);</a:t>
            </a:r>
          </a:p>
          <a:p>
            <a:r>
              <a:rPr lang="en-US" dirty="0" err="1">
                <a:solidFill>
                  <a:srgbClr val="001080"/>
                </a:solidFill>
                <a:latin typeface="Consolas" panose="020B0609020204030204" pitchFamily="49" charset="0"/>
              </a:rPr>
              <a:t>options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Cookies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ApplicationCookie</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LoginPath</a:t>
            </a:r>
            <a:r>
              <a:rPr lang="en-US" dirty="0">
                <a:solidFill>
                  <a:srgbClr val="000000"/>
                </a:solidFill>
                <a:latin typeface="Consolas" panose="020B0609020204030204" pitchFamily="49" charset="0"/>
              </a:rPr>
              <a:t> = </a:t>
            </a:r>
            <a:r>
              <a:rPr lang="en-US" dirty="0">
                <a:solidFill>
                  <a:srgbClr val="A31515"/>
                </a:solidFill>
                <a:latin typeface="Consolas" panose="020B0609020204030204" pitchFamily="49" charset="0"/>
              </a:rPr>
              <a:t>"/Account/</a:t>
            </a:r>
            <a:r>
              <a:rPr lang="en-US" dirty="0" err="1">
                <a:solidFill>
                  <a:srgbClr val="A31515"/>
                </a:solidFill>
                <a:latin typeface="Consolas" panose="020B0609020204030204" pitchFamily="49" charset="0"/>
              </a:rPr>
              <a:t>LogIn</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p>
          <a:p>
            <a:r>
              <a:rPr lang="en-US" dirty="0" err="1">
                <a:solidFill>
                  <a:srgbClr val="001080"/>
                </a:solidFill>
                <a:latin typeface="Consolas" panose="020B0609020204030204" pitchFamily="49" charset="0"/>
              </a:rPr>
              <a:t>options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Cookies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ApplicationCookie</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LogoutPath</a:t>
            </a:r>
            <a:r>
              <a:rPr lang="en-US" dirty="0">
                <a:solidFill>
                  <a:srgbClr val="000000"/>
                </a:solidFill>
                <a:latin typeface="Consolas" panose="020B0609020204030204" pitchFamily="49" charset="0"/>
              </a:rPr>
              <a:t> = </a:t>
            </a:r>
            <a:r>
              <a:rPr lang="en-US" dirty="0">
                <a:solidFill>
                  <a:srgbClr val="A31515"/>
                </a:solidFill>
                <a:latin typeface="Consolas" panose="020B0609020204030204" pitchFamily="49" charset="0"/>
              </a:rPr>
              <a:t>"/Account/</a:t>
            </a:r>
            <a:r>
              <a:rPr lang="en-US" dirty="0" err="1">
                <a:solidFill>
                  <a:srgbClr val="A31515"/>
                </a:solidFill>
                <a:latin typeface="Consolas" panose="020B0609020204030204" pitchFamily="49" charset="0"/>
              </a:rPr>
              <a:t>LogOff</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p>
          <a:p>
            <a:r>
              <a:rPr lang="en-US" dirty="0" err="1">
                <a:solidFill>
                  <a:srgbClr val="001080"/>
                </a:solidFill>
                <a:latin typeface="Consolas" panose="020B0609020204030204" pitchFamily="49" charset="0"/>
              </a:rPr>
              <a:t>options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Cookies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ApplicationCookie</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AccessDeniedPath</a:t>
            </a:r>
            <a:r>
              <a:rPr lang="en-US" dirty="0">
                <a:solidFill>
                  <a:srgbClr val="000000"/>
                </a:solidFill>
                <a:latin typeface="Consolas" panose="020B0609020204030204" pitchFamily="49" charset="0"/>
              </a:rPr>
              <a:t> = </a:t>
            </a:r>
            <a:r>
              <a:rPr lang="en-US" dirty="0">
                <a:solidFill>
                  <a:srgbClr val="A31515"/>
                </a:solidFill>
                <a:latin typeface="Consolas" panose="020B0609020204030204" pitchFamily="49" charset="0"/>
              </a:rPr>
              <a:t>"/Account/</a:t>
            </a:r>
            <a:r>
              <a:rPr lang="en-US" dirty="0" err="1">
                <a:solidFill>
                  <a:srgbClr val="A31515"/>
                </a:solidFill>
                <a:latin typeface="Consolas" panose="020B0609020204030204" pitchFamily="49" charset="0"/>
              </a:rPr>
              <a:t>AccessDenied</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p>
          <a:p>
            <a:r>
              <a:rPr lang="en-US" dirty="0" err="1">
                <a:solidFill>
                  <a:srgbClr val="001080"/>
                </a:solidFill>
                <a:latin typeface="Consolas" panose="020B0609020204030204" pitchFamily="49" charset="0"/>
              </a:rPr>
              <a:t>options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Cookies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ApplicationCookie</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AutomaticAuthenticate</a:t>
            </a:r>
            <a:r>
              <a:rPr lang="en-US" dirty="0">
                <a:solidFill>
                  <a:srgbClr val="000000"/>
                </a:solidFill>
                <a:latin typeface="Consolas" panose="020B0609020204030204" pitchFamily="49" charset="0"/>
              </a:rPr>
              <a:t> = </a:t>
            </a:r>
            <a:r>
              <a:rPr lang="en-US" dirty="0">
                <a:solidFill>
                  <a:srgbClr val="0000FF"/>
                </a:solidFill>
                <a:latin typeface="Consolas" panose="020B0609020204030204" pitchFamily="49" charset="0"/>
              </a:rPr>
              <a:t>true</a:t>
            </a:r>
            <a:r>
              <a:rPr lang="en-US" dirty="0">
                <a:solidFill>
                  <a:srgbClr val="000000"/>
                </a:solidFill>
                <a:latin typeface="Consolas" panose="020B0609020204030204" pitchFamily="49" charset="0"/>
              </a:rPr>
              <a:t>;</a:t>
            </a:r>
          </a:p>
          <a:p>
            <a:r>
              <a:rPr lang="en-US" dirty="0" err="1">
                <a:solidFill>
                  <a:srgbClr val="001080"/>
                </a:solidFill>
                <a:latin typeface="Consolas" panose="020B0609020204030204" pitchFamily="49" charset="0"/>
              </a:rPr>
              <a:t>options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Cookies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ApplicationCookie</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AuthenticationScheme</a:t>
            </a:r>
            <a:r>
              <a:rPr lang="en-US" dirty="0">
                <a:solidFill>
                  <a:srgbClr val="000000"/>
                </a:solidFill>
                <a:latin typeface="Consolas" panose="020B0609020204030204" pitchFamily="49" charset="0"/>
              </a:rPr>
              <a:t> = </a:t>
            </a:r>
            <a:r>
              <a:rPr lang="en-US" dirty="0">
                <a:solidFill>
                  <a:srgbClr val="001080"/>
                </a:solidFill>
                <a:latin typeface="Consolas" panose="020B0609020204030204" pitchFamily="49" charset="0"/>
              </a:rPr>
              <a:t>Microsoft</a:t>
            </a:r>
            <a:r>
              <a:rPr lang="en-US" dirty="0">
                <a:solidFill>
                  <a:srgbClr val="000000"/>
                </a:solidFill>
                <a:latin typeface="Consolas" panose="020B0609020204030204" pitchFamily="49" charset="0"/>
              </a:rPr>
              <a:t>.</a:t>
            </a:r>
            <a:r>
              <a:rPr lang="en-US" dirty="0">
                <a:solidFill>
                  <a:srgbClr val="001080"/>
                </a:solidFill>
                <a:latin typeface="Consolas" panose="020B0609020204030204" pitchFamily="49" charset="0"/>
              </a:rPr>
              <a:t>AspNetCore</a:t>
            </a:r>
            <a:r>
              <a:rPr lang="en-US" dirty="0">
                <a:solidFill>
                  <a:srgbClr val="000000"/>
                </a:solidFill>
                <a:latin typeface="Consolas" panose="020B0609020204030204" pitchFamily="49" charset="0"/>
              </a:rPr>
              <a:t>.</a:t>
            </a:r>
            <a:r>
              <a:rPr lang="en-US" dirty="0">
                <a:solidFill>
                  <a:srgbClr val="001080"/>
                </a:solidFill>
                <a:latin typeface="Consolas" panose="020B0609020204030204" pitchFamily="49" charset="0"/>
              </a:rPr>
              <a:t>Authentication</a:t>
            </a:r>
            <a:r>
              <a:rPr lang="en-US" dirty="0">
                <a:solidFill>
                  <a:srgbClr val="000000"/>
                </a:solidFill>
                <a:latin typeface="Consolas" panose="020B0609020204030204" pitchFamily="49" charset="0"/>
              </a:rPr>
              <a:t>.</a:t>
            </a:r>
            <a:r>
              <a:rPr lang="en-US" dirty="0">
                <a:solidFill>
                  <a:srgbClr val="001080"/>
                </a:solidFill>
                <a:latin typeface="Consolas" panose="020B0609020204030204" pitchFamily="49" charset="0"/>
              </a:rPr>
              <a:t>Cookies</a:t>
            </a:r>
            <a:r>
              <a:rPr lang="en-US" dirty="0">
                <a:solidFill>
                  <a:srgbClr val="000000"/>
                </a:solidFill>
                <a:latin typeface="Consolas" panose="020B0609020204030204" pitchFamily="49" charset="0"/>
              </a:rPr>
              <a:t>.</a:t>
            </a:r>
            <a:r>
              <a:rPr lang="en-US" dirty="0">
                <a:solidFill>
                  <a:srgbClr val="001080"/>
                </a:solidFill>
                <a:latin typeface="Consolas" panose="020B0609020204030204" pitchFamily="49" charset="0"/>
              </a:rPr>
              <a:t>CookieAuthenticationDefaults</a:t>
            </a:r>
            <a:r>
              <a:rPr lang="en-US" dirty="0">
                <a:solidFill>
                  <a:srgbClr val="000000"/>
                </a:solidFill>
                <a:latin typeface="Consolas" panose="020B0609020204030204" pitchFamily="49" charset="0"/>
              </a:rPr>
              <a:t>.</a:t>
            </a:r>
            <a:r>
              <a:rPr lang="en-US" dirty="0">
                <a:solidFill>
                  <a:srgbClr val="001080"/>
                </a:solidFill>
                <a:latin typeface="Consolas" panose="020B0609020204030204" pitchFamily="49" charset="0"/>
              </a:rPr>
              <a:t>AuthenticationScheme</a:t>
            </a:r>
            <a:r>
              <a:rPr lang="en-US" dirty="0">
                <a:solidFill>
                  <a:srgbClr val="000000"/>
                </a:solidFill>
                <a:latin typeface="Consolas" panose="020B0609020204030204" pitchFamily="49" charset="0"/>
              </a:rPr>
              <a:t>;</a:t>
            </a:r>
          </a:p>
          <a:p>
            <a:r>
              <a:rPr lang="en-US" dirty="0" err="1">
                <a:solidFill>
                  <a:srgbClr val="001080"/>
                </a:solidFill>
                <a:latin typeface="Consolas" panose="020B0609020204030204" pitchFamily="49" charset="0"/>
              </a:rPr>
              <a:t>options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Cookies</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ApplicationCookie</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ReturnUrlParameter</a:t>
            </a:r>
            <a:r>
              <a:rPr lang="en-US" dirty="0">
                <a:solidFill>
                  <a:srgbClr val="000000"/>
                </a:solidFill>
                <a:latin typeface="Consolas" panose="020B0609020204030204" pitchFamily="49" charset="0"/>
              </a:rPr>
              <a:t> = </a:t>
            </a:r>
            <a:r>
              <a:rPr lang="en-US" dirty="0">
                <a:solidFill>
                  <a:srgbClr val="001080"/>
                </a:solidFill>
                <a:latin typeface="Consolas" panose="020B0609020204030204" pitchFamily="49" charset="0"/>
              </a:rPr>
              <a:t>Microsoft</a:t>
            </a:r>
            <a:r>
              <a:rPr lang="en-US" dirty="0">
                <a:solidFill>
                  <a:srgbClr val="000000"/>
                </a:solidFill>
                <a:latin typeface="Consolas" panose="020B0609020204030204" pitchFamily="49" charset="0"/>
              </a:rPr>
              <a:t>.</a:t>
            </a:r>
            <a:r>
              <a:rPr lang="en-US" dirty="0">
                <a:solidFill>
                  <a:srgbClr val="001080"/>
                </a:solidFill>
                <a:latin typeface="Consolas" panose="020B0609020204030204" pitchFamily="49" charset="0"/>
              </a:rPr>
              <a:t>AspNetCore</a:t>
            </a:r>
            <a:r>
              <a:rPr lang="en-US" dirty="0">
                <a:solidFill>
                  <a:srgbClr val="000000"/>
                </a:solidFill>
                <a:latin typeface="Consolas" panose="020B0609020204030204" pitchFamily="49" charset="0"/>
              </a:rPr>
              <a:t>.</a:t>
            </a:r>
            <a:r>
              <a:rPr lang="en-US" dirty="0">
                <a:solidFill>
                  <a:srgbClr val="001080"/>
                </a:solidFill>
                <a:latin typeface="Consolas" panose="020B0609020204030204" pitchFamily="49" charset="0"/>
              </a:rPr>
              <a:t>Authentication</a:t>
            </a:r>
            <a:r>
              <a:rPr lang="en-US" dirty="0">
                <a:solidFill>
                  <a:srgbClr val="000000"/>
                </a:solidFill>
                <a:latin typeface="Consolas" panose="020B0609020204030204" pitchFamily="49" charset="0"/>
              </a:rPr>
              <a:t>.</a:t>
            </a:r>
            <a:r>
              <a:rPr lang="en-US" dirty="0">
                <a:solidFill>
                  <a:srgbClr val="001080"/>
                </a:solidFill>
                <a:latin typeface="Consolas" panose="020B0609020204030204" pitchFamily="49" charset="0"/>
              </a:rPr>
              <a:t>Cookies</a:t>
            </a:r>
            <a:r>
              <a:rPr lang="en-US" dirty="0">
                <a:solidFill>
                  <a:srgbClr val="000000"/>
                </a:solidFill>
                <a:latin typeface="Consolas" panose="020B0609020204030204" pitchFamily="49" charset="0"/>
              </a:rPr>
              <a:t>.</a:t>
            </a:r>
            <a:r>
              <a:rPr lang="en-US" dirty="0">
                <a:solidFill>
                  <a:srgbClr val="001080"/>
                </a:solidFill>
                <a:latin typeface="Consolas" panose="020B0609020204030204" pitchFamily="49" charset="0"/>
              </a:rPr>
              <a:t>CookieAuthenticationDefaults</a:t>
            </a:r>
            <a:r>
              <a:rPr lang="en-US" dirty="0">
                <a:solidFill>
                  <a:srgbClr val="000000"/>
                </a:solidFill>
                <a:latin typeface="Consolas" panose="020B0609020204030204" pitchFamily="49" charset="0"/>
              </a:rPr>
              <a:t>.</a:t>
            </a:r>
            <a:r>
              <a:rPr lang="en-US" dirty="0">
                <a:solidFill>
                  <a:srgbClr val="001080"/>
                </a:solidFill>
                <a:latin typeface="Consolas" panose="020B0609020204030204" pitchFamily="49" charset="0"/>
              </a:rPr>
              <a:t>ReturnUrlParameter</a:t>
            </a:r>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184336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2709E-E7EC-4A41-9521-2ADA82A4A553}"/>
              </a:ext>
            </a:extLst>
          </p:cNvPr>
          <p:cNvSpPr>
            <a:spLocks noGrp="1"/>
          </p:cNvSpPr>
          <p:nvPr>
            <p:ph type="title"/>
          </p:nvPr>
        </p:nvSpPr>
        <p:spPr/>
        <p:txBody>
          <a:bodyPr/>
          <a:lstStyle/>
          <a:p>
            <a:r>
              <a:rPr lang="en-US" dirty="0"/>
              <a:t>Authentication</a:t>
            </a:r>
          </a:p>
        </p:txBody>
      </p:sp>
      <p:sp>
        <p:nvSpPr>
          <p:cNvPr id="3" name="Content Placeholder 2">
            <a:extLst>
              <a:ext uri="{FF2B5EF4-FFF2-40B4-BE49-F238E27FC236}">
                <a16:creationId xmlns:a16="http://schemas.microsoft.com/office/drawing/2014/main" id="{6CEC54AF-25C6-4CE4-AB12-A84DD9E13849}"/>
              </a:ext>
            </a:extLst>
          </p:cNvPr>
          <p:cNvSpPr>
            <a:spLocks noGrp="1"/>
          </p:cNvSpPr>
          <p:nvPr>
            <p:ph idx="1"/>
          </p:nvPr>
        </p:nvSpPr>
        <p:spPr>
          <a:xfrm>
            <a:off x="767408" y="1340768"/>
            <a:ext cx="7776864" cy="4813995"/>
          </a:xfrm>
        </p:spPr>
        <p:txBody>
          <a:bodyPr/>
          <a:lstStyle/>
          <a:p>
            <a:pPr marL="342900" indent="-342900" algn="just">
              <a:buFont typeface="Wingdings" panose="05000000000000000000" pitchFamily="2" charset="2"/>
              <a:buChar char="§"/>
            </a:pPr>
            <a:r>
              <a:rPr lang="en-US" dirty="0"/>
              <a:t>Enabling users to sign in with their existing credentials is convenient for the users and shifts many of the complexities of managing the sign-in process onto a third party. </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How to implement: </a:t>
            </a:r>
            <a:r>
              <a:rPr lang="en-US" dirty="0">
                <a:hlinkClick r:id="rId2"/>
              </a:rPr>
              <a:t>link</a:t>
            </a:r>
            <a:endParaRPr lang="en-US" dirty="0"/>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Introduction to OAuth 2: </a:t>
            </a:r>
            <a:r>
              <a:rPr lang="en-US" dirty="0">
                <a:hlinkClick r:id="rId3"/>
              </a:rPr>
              <a:t>link</a:t>
            </a:r>
            <a:endParaRPr lang="en-US" dirty="0"/>
          </a:p>
        </p:txBody>
      </p:sp>
      <p:sp>
        <p:nvSpPr>
          <p:cNvPr id="4" name="Text Placeholder 3">
            <a:extLst>
              <a:ext uri="{FF2B5EF4-FFF2-40B4-BE49-F238E27FC236}">
                <a16:creationId xmlns:a16="http://schemas.microsoft.com/office/drawing/2014/main" id="{57356351-5AC5-4CC9-A74C-767473EAE758}"/>
              </a:ext>
            </a:extLst>
          </p:cNvPr>
          <p:cNvSpPr>
            <a:spLocks noGrp="1"/>
          </p:cNvSpPr>
          <p:nvPr>
            <p:ph type="body" sz="quarter" idx="10"/>
          </p:nvPr>
        </p:nvSpPr>
        <p:spPr/>
        <p:txBody>
          <a:bodyPr/>
          <a:lstStyle/>
          <a:p>
            <a:r>
              <a:rPr lang="en-US" dirty="0"/>
              <a:t>Authentication using Facebook, Google</a:t>
            </a:r>
          </a:p>
        </p:txBody>
      </p:sp>
      <p:pic>
        <p:nvPicPr>
          <p:cNvPr id="6" name="Picture 5">
            <a:extLst>
              <a:ext uri="{FF2B5EF4-FFF2-40B4-BE49-F238E27FC236}">
                <a16:creationId xmlns:a16="http://schemas.microsoft.com/office/drawing/2014/main" id="{C7B5CFDC-E27E-4500-B8CC-4C3657ECD7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69982" y="3400102"/>
            <a:ext cx="2914650" cy="695325"/>
          </a:xfrm>
          <a:prstGeom prst="rect">
            <a:avLst/>
          </a:prstGeom>
        </p:spPr>
      </p:pic>
    </p:spTree>
    <p:extLst>
      <p:ext uri="{BB962C8B-B14F-4D97-AF65-F5344CB8AC3E}">
        <p14:creationId xmlns:p14="http://schemas.microsoft.com/office/powerpoint/2010/main" val="1495756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Authentication</a:t>
            </a:r>
          </a:p>
        </p:txBody>
      </p:sp>
      <p:pic>
        <p:nvPicPr>
          <p:cNvPr id="9" name="Content Placeholder 8"/>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81888" y="3248250"/>
            <a:ext cx="999675" cy="999675"/>
          </a:xfrm>
          <a:prstGeom prst="rect">
            <a:avLst/>
          </a:prstGeom>
        </p:spPr>
      </p:pic>
      <p:sp>
        <p:nvSpPr>
          <p:cNvPr id="6" name="Text Placeholder 5"/>
          <p:cNvSpPr>
            <a:spLocks noGrp="1"/>
          </p:cNvSpPr>
          <p:nvPr>
            <p:ph type="body" sz="quarter" idx="10"/>
          </p:nvPr>
        </p:nvSpPr>
        <p:spPr/>
        <p:txBody>
          <a:bodyPr/>
          <a:lstStyle/>
          <a:p>
            <a:r>
              <a:rPr lang="en-US" dirty="0"/>
              <a:t>Demo</a:t>
            </a:r>
          </a:p>
        </p:txBody>
      </p:sp>
      <p:sp>
        <p:nvSpPr>
          <p:cNvPr id="7" name="Rectangle 6"/>
          <p:cNvSpPr/>
          <p:nvPr/>
        </p:nvSpPr>
        <p:spPr>
          <a:xfrm>
            <a:off x="623391" y="1412776"/>
            <a:ext cx="10968143" cy="830997"/>
          </a:xfrm>
          <a:prstGeom prst="rect">
            <a:avLst/>
          </a:prstGeom>
        </p:spPr>
        <p:txBody>
          <a:bodyPr wrap="square">
            <a:spAutoFit/>
          </a:bodyPr>
          <a:lstStyle/>
          <a:p>
            <a:r>
              <a:rPr lang="en-US" sz="2400" dirty="0">
                <a:hlinkClick r:id="rId3"/>
              </a:rPr>
              <a:t>https://github.com/liviucotfas/ase-web-and-cloud-applications-security/blob/master/6%20-%20MVCStore%20-%20Security.md</a:t>
            </a:r>
            <a:endParaRPr lang="en-US" sz="2400" dirty="0"/>
          </a:p>
        </p:txBody>
      </p:sp>
    </p:spTree>
    <p:extLst>
      <p:ext uri="{BB962C8B-B14F-4D97-AF65-F5344CB8AC3E}">
        <p14:creationId xmlns:p14="http://schemas.microsoft.com/office/powerpoint/2010/main" val="3976343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C0B84-DAC7-49E9-9501-1DD4D188B16D}"/>
              </a:ext>
            </a:extLst>
          </p:cNvPr>
          <p:cNvSpPr>
            <a:spLocks noGrp="1"/>
          </p:cNvSpPr>
          <p:nvPr>
            <p:ph type="title"/>
          </p:nvPr>
        </p:nvSpPr>
        <p:spPr/>
        <p:txBody>
          <a:bodyPr/>
          <a:lstStyle/>
          <a:p>
            <a:r>
              <a:rPr lang="en-US" dirty="0"/>
              <a:t>Authentication</a:t>
            </a:r>
          </a:p>
        </p:txBody>
      </p:sp>
      <p:sp>
        <p:nvSpPr>
          <p:cNvPr id="3" name="Content Placeholder 2">
            <a:extLst>
              <a:ext uri="{FF2B5EF4-FFF2-40B4-BE49-F238E27FC236}">
                <a16:creationId xmlns:a16="http://schemas.microsoft.com/office/drawing/2014/main" id="{93A22E3B-F7A5-4296-8DEC-A50873920EEB}"/>
              </a:ext>
            </a:extLst>
          </p:cNvPr>
          <p:cNvSpPr>
            <a:spLocks noGrp="1"/>
          </p:cNvSpPr>
          <p:nvPr>
            <p:ph idx="1"/>
          </p:nvPr>
        </p:nvSpPr>
        <p:spPr/>
        <p:txBody>
          <a:bodyPr/>
          <a:lstStyle/>
          <a:p>
            <a:pPr marL="342900" indent="-342900">
              <a:buFont typeface="Wingdings" panose="05000000000000000000" pitchFamily="2" charset="2"/>
              <a:buChar char="§"/>
            </a:pPr>
            <a:r>
              <a:rPr lang="en-US" dirty="0"/>
              <a:t>Configure Identity primary keys data type: </a:t>
            </a:r>
            <a:r>
              <a:rPr lang="en-US" dirty="0">
                <a:hlinkClick r:id="rId2"/>
              </a:rPr>
              <a:t>link</a:t>
            </a:r>
            <a:endParaRPr lang="en-US" dirty="0"/>
          </a:p>
          <a:p>
            <a:pPr marL="342900" indent="-342900">
              <a:buFont typeface="Wingdings" panose="05000000000000000000" pitchFamily="2" charset="2"/>
              <a:buChar char="§"/>
            </a:pPr>
            <a:endParaRPr lang="en-US" b="1" dirty="0"/>
          </a:p>
          <a:p>
            <a:pPr marL="342900" indent="-342900">
              <a:buFont typeface="Wingdings" panose="05000000000000000000" pitchFamily="2" charset="2"/>
              <a:buChar char="§"/>
            </a:pPr>
            <a:r>
              <a:rPr lang="en-US" dirty="0"/>
              <a:t>Two-factor authentication with </a:t>
            </a:r>
            <a:r>
              <a:rPr lang="en-US" b="1" dirty="0"/>
              <a:t>SMS</a:t>
            </a:r>
            <a:r>
              <a:rPr lang="en-US" dirty="0"/>
              <a:t>: </a:t>
            </a:r>
            <a:r>
              <a:rPr lang="en-US" dirty="0">
                <a:hlinkClick r:id="rId3"/>
              </a:rPr>
              <a:t>link</a:t>
            </a:r>
            <a:endParaRPr lang="en-US" dirty="0"/>
          </a:p>
          <a:p>
            <a:pPr marL="342900" indent="-342900">
              <a:buFont typeface="Wingdings" panose="05000000000000000000" pitchFamily="2" charset="2"/>
              <a:buChar char="§"/>
            </a:pPr>
            <a:endParaRPr lang="en-US" b="1" dirty="0"/>
          </a:p>
          <a:p>
            <a:pPr marL="342900" indent="-342900">
              <a:buFont typeface="Wingdings" panose="05000000000000000000" pitchFamily="2" charset="2"/>
              <a:buChar char="§"/>
            </a:pPr>
            <a:r>
              <a:rPr lang="en-US" b="1" dirty="0"/>
              <a:t>Azure Active Directory: </a:t>
            </a:r>
            <a:r>
              <a:rPr lang="en-US" dirty="0">
                <a:hlinkClick r:id="rId4"/>
              </a:rPr>
              <a:t>link</a:t>
            </a:r>
            <a:endParaRPr lang="en-US" dirty="0"/>
          </a:p>
          <a:p>
            <a:pPr marL="342900" indent="-342900">
              <a:buFont typeface="Wingdings" panose="05000000000000000000" pitchFamily="2" charset="2"/>
              <a:buChar char="§"/>
            </a:pPr>
            <a:endParaRPr lang="en-US" dirty="0"/>
          </a:p>
        </p:txBody>
      </p:sp>
      <p:sp>
        <p:nvSpPr>
          <p:cNvPr id="4" name="Text Placeholder 3">
            <a:extLst>
              <a:ext uri="{FF2B5EF4-FFF2-40B4-BE49-F238E27FC236}">
                <a16:creationId xmlns:a16="http://schemas.microsoft.com/office/drawing/2014/main" id="{D472A82C-6229-4D35-B26B-F4237D1A5972}"/>
              </a:ext>
            </a:extLst>
          </p:cNvPr>
          <p:cNvSpPr>
            <a:spLocks noGrp="1"/>
          </p:cNvSpPr>
          <p:nvPr>
            <p:ph type="body" sz="quarter" idx="10"/>
          </p:nvPr>
        </p:nvSpPr>
        <p:spPr/>
        <p:txBody>
          <a:bodyPr/>
          <a:lstStyle/>
          <a:p>
            <a:r>
              <a:rPr lang="en-US" dirty="0"/>
              <a:t>Recommended reading</a:t>
            </a:r>
          </a:p>
        </p:txBody>
      </p:sp>
    </p:spTree>
    <p:extLst>
      <p:ext uri="{BB962C8B-B14F-4D97-AF65-F5344CB8AC3E}">
        <p14:creationId xmlns:p14="http://schemas.microsoft.com/office/powerpoint/2010/main" val="2142124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Authorization</a:t>
            </a:r>
            <a:endParaRPr lang="ro-RO" dirty="0"/>
          </a:p>
        </p:txBody>
      </p:sp>
    </p:spTree>
    <p:extLst>
      <p:ext uri="{BB962C8B-B14F-4D97-AF65-F5344CB8AC3E}">
        <p14:creationId xmlns:p14="http://schemas.microsoft.com/office/powerpoint/2010/main" val="3977295684"/>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F9E635F-EF5A-48A9-A70F-6BE75E66D2B5}"/>
              </a:ext>
            </a:extLst>
          </p:cNvPr>
          <p:cNvSpPr>
            <a:spLocks noGrp="1"/>
          </p:cNvSpPr>
          <p:nvPr>
            <p:ph idx="1"/>
          </p:nvPr>
        </p:nvSpPr>
        <p:spPr>
          <a:xfrm>
            <a:off x="767408" y="1340768"/>
            <a:ext cx="7632848" cy="4813995"/>
          </a:xfrm>
        </p:spPr>
        <p:txBody>
          <a:bodyPr/>
          <a:lstStyle/>
          <a:p>
            <a:pPr marL="342900" indent="-342900" algn="just">
              <a:buFont typeface="Wingdings" panose="05000000000000000000" pitchFamily="2" charset="2"/>
              <a:buChar char="§"/>
            </a:pPr>
            <a:r>
              <a:rPr lang="en-US" b="1" dirty="0"/>
              <a:t>Authorization</a:t>
            </a:r>
            <a:r>
              <a:rPr lang="en-US" dirty="0"/>
              <a:t> - determining whether a user is allowed to perform an action</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Example: an administrative user is allowed to create a document library, add documents, edit documents, and delete them. A non-administrative user working with the library is only authorized to read the documents.</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Authorization is orthogonal and independent from authentication, which is the process of ascertaining who a user is. Authentication may create one or more identities for the current user.</a:t>
            </a:r>
          </a:p>
        </p:txBody>
      </p:sp>
      <p:sp>
        <p:nvSpPr>
          <p:cNvPr id="3" name="Title 2">
            <a:extLst>
              <a:ext uri="{FF2B5EF4-FFF2-40B4-BE49-F238E27FC236}">
                <a16:creationId xmlns:a16="http://schemas.microsoft.com/office/drawing/2014/main" id="{3B8C1B21-1692-4C24-928C-2462E22C2186}"/>
              </a:ext>
            </a:extLst>
          </p:cNvPr>
          <p:cNvSpPr>
            <a:spLocks noGrp="1"/>
          </p:cNvSpPr>
          <p:nvPr>
            <p:ph type="title"/>
          </p:nvPr>
        </p:nvSpPr>
        <p:spPr/>
        <p:txBody>
          <a:bodyPr/>
          <a:lstStyle/>
          <a:p>
            <a:r>
              <a:rPr lang="en-US" dirty="0"/>
              <a:t>Authorization</a:t>
            </a:r>
          </a:p>
        </p:txBody>
      </p:sp>
      <p:pic>
        <p:nvPicPr>
          <p:cNvPr id="5" name="Picture 4" descr="A close up of a logo&#10;&#10;Description generated with very high confidence">
            <a:extLst>
              <a:ext uri="{FF2B5EF4-FFF2-40B4-BE49-F238E27FC236}">
                <a16:creationId xmlns:a16="http://schemas.microsoft.com/office/drawing/2014/main" id="{59874AA3-85DC-4AD9-BBA7-33B57BE84A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0296" y="1700808"/>
            <a:ext cx="2692063" cy="4050793"/>
          </a:xfrm>
          <a:prstGeom prst="rect">
            <a:avLst/>
          </a:prstGeom>
          <a:ln>
            <a:solidFill>
              <a:schemeClr val="tx1"/>
            </a:solidFill>
          </a:ln>
        </p:spPr>
      </p:pic>
    </p:spTree>
    <p:extLst>
      <p:ext uri="{BB962C8B-B14F-4D97-AF65-F5344CB8AC3E}">
        <p14:creationId xmlns:p14="http://schemas.microsoft.com/office/powerpoint/2010/main" val="3095986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F9E635F-EF5A-48A9-A70F-6BE75E66D2B5}"/>
              </a:ext>
            </a:extLst>
          </p:cNvPr>
          <p:cNvSpPr>
            <a:spLocks noGrp="1"/>
          </p:cNvSpPr>
          <p:nvPr>
            <p:ph idx="1"/>
          </p:nvPr>
        </p:nvSpPr>
        <p:spPr/>
        <p:txBody>
          <a:bodyPr/>
          <a:lstStyle/>
          <a:p>
            <a:pPr marL="342900" indent="-342900" algn="just">
              <a:buFont typeface="Wingdings" panose="05000000000000000000" pitchFamily="2" charset="2"/>
              <a:buChar char="§"/>
            </a:pPr>
            <a:r>
              <a:rPr lang="en-US" dirty="0"/>
              <a:t>ASP.NET Core authorization provides a simple declarative </a:t>
            </a:r>
            <a:r>
              <a:rPr lang="en-US" b="1" dirty="0"/>
              <a:t>role</a:t>
            </a:r>
            <a:r>
              <a:rPr lang="en-US" dirty="0"/>
              <a:t> and a </a:t>
            </a:r>
            <a:r>
              <a:rPr lang="en-US" b="1" dirty="0"/>
              <a:t>policy based model</a:t>
            </a:r>
            <a:r>
              <a:rPr lang="en-US" dirty="0"/>
              <a:t>. </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Authorization is expressed in requirements, and handlers evaluate a user's claims against requirements. Imperative checks can be based on simple policies or policies which evaluate both the user identity and properties of the resource that the user is attempting to access.</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Namespace: </a:t>
            </a:r>
            <a:r>
              <a:rPr lang="en-US" dirty="0" err="1"/>
              <a:t>Microsoft.AspNetCore.Authorization</a:t>
            </a:r>
            <a:endParaRPr lang="en-US" dirty="0"/>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Further reading: </a:t>
            </a:r>
            <a:r>
              <a:rPr lang="en-US" dirty="0">
                <a:hlinkClick r:id="rId3"/>
              </a:rPr>
              <a:t>link</a:t>
            </a:r>
            <a:endParaRPr lang="en-US" dirty="0"/>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endParaRPr lang="en-US" dirty="0"/>
          </a:p>
        </p:txBody>
      </p:sp>
      <p:sp>
        <p:nvSpPr>
          <p:cNvPr id="3" name="Title 2">
            <a:extLst>
              <a:ext uri="{FF2B5EF4-FFF2-40B4-BE49-F238E27FC236}">
                <a16:creationId xmlns:a16="http://schemas.microsoft.com/office/drawing/2014/main" id="{3B8C1B21-1692-4C24-928C-2462E22C2186}"/>
              </a:ext>
            </a:extLst>
          </p:cNvPr>
          <p:cNvSpPr>
            <a:spLocks noGrp="1"/>
          </p:cNvSpPr>
          <p:nvPr>
            <p:ph type="title"/>
          </p:nvPr>
        </p:nvSpPr>
        <p:spPr/>
        <p:txBody>
          <a:bodyPr/>
          <a:lstStyle/>
          <a:p>
            <a:r>
              <a:rPr lang="en-US" dirty="0"/>
              <a:t>Authorization</a:t>
            </a:r>
          </a:p>
        </p:txBody>
      </p:sp>
    </p:spTree>
    <p:extLst>
      <p:ext uri="{BB962C8B-B14F-4D97-AF65-F5344CB8AC3E}">
        <p14:creationId xmlns:p14="http://schemas.microsoft.com/office/powerpoint/2010/main" val="2787306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Authorization</a:t>
            </a:r>
          </a:p>
        </p:txBody>
      </p:sp>
      <p:sp>
        <p:nvSpPr>
          <p:cNvPr id="10" name="Content Placeholder 9">
            <a:extLst>
              <a:ext uri="{FF2B5EF4-FFF2-40B4-BE49-F238E27FC236}">
                <a16:creationId xmlns:a16="http://schemas.microsoft.com/office/drawing/2014/main" id="{13B20F70-6AA9-497B-B8C5-96BED9BC408B}"/>
              </a:ext>
            </a:extLst>
          </p:cNvPr>
          <p:cNvSpPr>
            <a:spLocks noGrp="1"/>
          </p:cNvSpPr>
          <p:nvPr>
            <p:ph idx="1"/>
          </p:nvPr>
        </p:nvSpPr>
        <p:spPr/>
        <p:txBody>
          <a:bodyPr/>
          <a:lstStyle/>
          <a:p>
            <a:pPr marL="342900" indent="-342900" algn="just">
              <a:buFont typeface="Wingdings" panose="05000000000000000000" pitchFamily="2" charset="2"/>
              <a:buChar char="§"/>
            </a:pPr>
            <a:r>
              <a:rPr lang="en-US" b="1" dirty="0"/>
              <a:t>[</a:t>
            </a:r>
            <a:r>
              <a:rPr lang="en-US" b="1" dirty="0" err="1"/>
              <a:t>AuthorizeAttribute</a:t>
            </a:r>
            <a:r>
              <a:rPr lang="en-US" b="1" dirty="0"/>
              <a:t>]</a:t>
            </a:r>
          </a:p>
          <a:p>
            <a:pPr marL="597150" lvl="1" indent="-342900" algn="just">
              <a:buFont typeface="Wingdings" panose="05000000000000000000" pitchFamily="2" charset="2"/>
              <a:buChar char="§"/>
            </a:pPr>
            <a:r>
              <a:rPr lang="en-US" dirty="0"/>
              <a:t>tells MVC that only requests from authenticated users should be processed</a:t>
            </a:r>
          </a:p>
          <a:p>
            <a:pPr marL="597150" lvl="1" indent="-342900" algn="just">
              <a:buFont typeface="Wingdings" panose="05000000000000000000" pitchFamily="2" charset="2"/>
              <a:buChar char="§"/>
            </a:pPr>
            <a:r>
              <a:rPr lang="en-US" dirty="0"/>
              <a:t>properties: Roles, Policy</a:t>
            </a:r>
          </a:p>
          <a:p>
            <a:pPr marL="597150" lvl="1" indent="-342900" algn="just">
              <a:buFont typeface="Wingdings" panose="05000000000000000000" pitchFamily="2" charset="2"/>
              <a:buChar char="§"/>
            </a:pPr>
            <a:r>
              <a:rPr lang="en-US" dirty="0"/>
              <a:t>can be applied both at action and at controller level</a:t>
            </a:r>
          </a:p>
          <a:p>
            <a:pPr marL="597150" lvl="1" indent="-342900" algn="just">
              <a:buFont typeface="Wingdings" panose="05000000000000000000" pitchFamily="2" charset="2"/>
              <a:buChar char="§"/>
            </a:pPr>
            <a:endParaRPr lang="en-US" dirty="0"/>
          </a:p>
          <a:p>
            <a:pPr marL="597150" lvl="1" indent="-342900" algn="just">
              <a:buFont typeface="Wingdings" panose="05000000000000000000" pitchFamily="2" charset="2"/>
              <a:buChar char="§"/>
            </a:pPr>
            <a:r>
              <a:rPr lang="en-US" dirty="0"/>
              <a:t>The ASP.NET platform provides information about the user through the </a:t>
            </a:r>
            <a:r>
              <a:rPr lang="en-US" dirty="0" err="1"/>
              <a:t>HttpContext</a:t>
            </a:r>
            <a:r>
              <a:rPr lang="en-US" dirty="0"/>
              <a:t> object, which is used by the Authorize attribute to check the status of the current request and see whether the user has been authenticated. The </a:t>
            </a:r>
            <a:r>
              <a:rPr lang="en-US" dirty="0" err="1"/>
              <a:t>HttpContext.User</a:t>
            </a:r>
            <a:r>
              <a:rPr lang="en-US" dirty="0"/>
              <a:t> property returns an implementation of the </a:t>
            </a:r>
            <a:r>
              <a:rPr lang="en-US" dirty="0" err="1"/>
              <a:t>IPrincipal</a:t>
            </a:r>
            <a:r>
              <a:rPr lang="en-US" dirty="0"/>
              <a:t> interface, which is defined in the </a:t>
            </a:r>
            <a:r>
              <a:rPr lang="en-US" dirty="0" err="1"/>
              <a:t>System.Security.Principal</a:t>
            </a:r>
            <a:r>
              <a:rPr lang="en-US" dirty="0"/>
              <a:t> namespace.</a:t>
            </a:r>
          </a:p>
          <a:p>
            <a:pPr marL="597150" lvl="1" indent="-342900" algn="just">
              <a:buFont typeface="Wingdings" panose="05000000000000000000" pitchFamily="2" charset="2"/>
              <a:buChar char="§"/>
            </a:pPr>
            <a:endParaRPr lang="en-US" dirty="0"/>
          </a:p>
        </p:txBody>
      </p:sp>
      <p:sp>
        <p:nvSpPr>
          <p:cNvPr id="9" name="Text Placeholder 8">
            <a:extLst>
              <a:ext uri="{FF2B5EF4-FFF2-40B4-BE49-F238E27FC236}">
                <a16:creationId xmlns:a16="http://schemas.microsoft.com/office/drawing/2014/main" id="{3F0BE0C6-B142-47FC-A931-7E63A66EA5D4}"/>
              </a:ext>
            </a:extLst>
          </p:cNvPr>
          <p:cNvSpPr>
            <a:spLocks noGrp="1"/>
          </p:cNvSpPr>
          <p:nvPr>
            <p:ph type="body" sz="quarter" idx="10"/>
          </p:nvPr>
        </p:nvSpPr>
        <p:spPr/>
        <p:txBody>
          <a:bodyPr/>
          <a:lstStyle/>
          <a:p>
            <a:r>
              <a:rPr lang="en-US" dirty="0"/>
              <a:t>[Authorize]</a:t>
            </a:r>
          </a:p>
        </p:txBody>
      </p:sp>
    </p:spTree>
    <p:extLst>
      <p:ext uri="{BB962C8B-B14F-4D97-AF65-F5344CB8AC3E}">
        <p14:creationId xmlns:p14="http://schemas.microsoft.com/office/powerpoint/2010/main" val="1075925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Authorization</a:t>
            </a:r>
          </a:p>
        </p:txBody>
      </p:sp>
      <p:sp>
        <p:nvSpPr>
          <p:cNvPr id="10" name="Content Placeholder 9">
            <a:extLst>
              <a:ext uri="{FF2B5EF4-FFF2-40B4-BE49-F238E27FC236}">
                <a16:creationId xmlns:a16="http://schemas.microsoft.com/office/drawing/2014/main" id="{13B20F70-6AA9-497B-B8C5-96BED9BC408B}"/>
              </a:ext>
            </a:extLst>
          </p:cNvPr>
          <p:cNvSpPr>
            <a:spLocks noGrp="1"/>
          </p:cNvSpPr>
          <p:nvPr>
            <p:ph idx="1"/>
          </p:nvPr>
        </p:nvSpPr>
        <p:spPr/>
        <p:txBody>
          <a:bodyPr/>
          <a:lstStyle/>
          <a:p>
            <a:pPr marL="342900" indent="-342900">
              <a:buFont typeface="Wingdings" panose="05000000000000000000" pitchFamily="2" charset="2"/>
              <a:buChar char="§"/>
            </a:pPr>
            <a:r>
              <a:rPr lang="en-US" b="1" dirty="0"/>
              <a:t>action level</a:t>
            </a:r>
          </a:p>
          <a:p>
            <a:pPr marL="342900" indent="-342900">
              <a:buFont typeface="Wingdings" panose="05000000000000000000" pitchFamily="2" charset="2"/>
              <a:buChar char="§"/>
            </a:pPr>
            <a:endParaRPr lang="en-US" b="1" dirty="0"/>
          </a:p>
          <a:p>
            <a:pPr marL="342900" indent="-342900">
              <a:buFont typeface="Wingdings" panose="05000000000000000000" pitchFamily="2" charset="2"/>
              <a:buChar char="§"/>
            </a:pPr>
            <a:endParaRPr lang="en-US" b="1" dirty="0"/>
          </a:p>
          <a:p>
            <a:pPr marL="342900" indent="-342900">
              <a:buFont typeface="Wingdings" panose="05000000000000000000" pitchFamily="2" charset="2"/>
              <a:buChar char="§"/>
            </a:pPr>
            <a:endParaRPr lang="en-US" b="1" dirty="0"/>
          </a:p>
          <a:p>
            <a:pPr marL="342900" indent="-342900">
              <a:buFont typeface="Wingdings" panose="05000000000000000000" pitchFamily="2" charset="2"/>
              <a:buChar char="§"/>
            </a:pPr>
            <a:endParaRPr lang="en-US" b="1" dirty="0"/>
          </a:p>
          <a:p>
            <a:pPr marL="342900" indent="-342900">
              <a:buFont typeface="Wingdings" panose="05000000000000000000" pitchFamily="2" charset="2"/>
              <a:buChar char="§"/>
            </a:pPr>
            <a:endParaRPr lang="en-US" b="1" dirty="0"/>
          </a:p>
          <a:p>
            <a:pPr marL="342900" indent="-342900">
              <a:buFont typeface="Wingdings" panose="05000000000000000000" pitchFamily="2" charset="2"/>
              <a:buChar char="§"/>
            </a:pPr>
            <a:r>
              <a:rPr lang="en-US" b="1" dirty="0"/>
              <a:t>controller level</a:t>
            </a:r>
          </a:p>
          <a:p>
            <a:pPr marL="342900" indent="-342900">
              <a:buFont typeface="Wingdings" panose="05000000000000000000" pitchFamily="2" charset="2"/>
              <a:buChar char="§"/>
            </a:pPr>
            <a:endParaRPr lang="en-US" b="1" dirty="0"/>
          </a:p>
        </p:txBody>
      </p:sp>
      <p:sp>
        <p:nvSpPr>
          <p:cNvPr id="9" name="Text Placeholder 8">
            <a:extLst>
              <a:ext uri="{FF2B5EF4-FFF2-40B4-BE49-F238E27FC236}">
                <a16:creationId xmlns:a16="http://schemas.microsoft.com/office/drawing/2014/main" id="{3F0BE0C6-B142-47FC-A931-7E63A66EA5D4}"/>
              </a:ext>
            </a:extLst>
          </p:cNvPr>
          <p:cNvSpPr>
            <a:spLocks noGrp="1"/>
          </p:cNvSpPr>
          <p:nvPr>
            <p:ph type="body" sz="quarter" idx="10"/>
          </p:nvPr>
        </p:nvSpPr>
        <p:spPr/>
        <p:txBody>
          <a:bodyPr/>
          <a:lstStyle/>
          <a:p>
            <a:r>
              <a:rPr lang="en-US" dirty="0"/>
              <a:t>[Authorize]</a:t>
            </a:r>
          </a:p>
        </p:txBody>
      </p:sp>
      <p:sp>
        <p:nvSpPr>
          <p:cNvPr id="11" name="Rectangle 10">
            <a:extLst>
              <a:ext uri="{FF2B5EF4-FFF2-40B4-BE49-F238E27FC236}">
                <a16:creationId xmlns:a16="http://schemas.microsoft.com/office/drawing/2014/main" id="{A58D34A7-5305-4AE0-A6BD-591D26841893}"/>
              </a:ext>
            </a:extLst>
          </p:cNvPr>
          <p:cNvSpPr/>
          <p:nvPr/>
        </p:nvSpPr>
        <p:spPr>
          <a:xfrm>
            <a:off x="2783632" y="1844824"/>
            <a:ext cx="5760640" cy="1754326"/>
          </a:xfrm>
          <a:prstGeom prst="rect">
            <a:avLst/>
          </a:prstGeom>
          <a:solidFill>
            <a:schemeClr val="bg1"/>
          </a:solidFill>
        </p:spPr>
        <p:txBody>
          <a:bodyPr wrap="square">
            <a:spAutoFit/>
          </a:bodyPr>
          <a:lstStyle/>
          <a:p>
            <a:r>
              <a:rPr lang="en-US" dirty="0">
                <a:solidFill>
                  <a:srgbClr val="0000FF"/>
                </a:solidFill>
                <a:latin typeface="Consolas" panose="020B0609020204030204" pitchFamily="49" charset="0"/>
              </a:rPr>
              <a:t>public</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class</a:t>
            </a:r>
            <a:r>
              <a:rPr lang="en-US" dirty="0">
                <a:solidFill>
                  <a:srgbClr val="000000"/>
                </a:solidFill>
                <a:latin typeface="Consolas" panose="020B0609020204030204" pitchFamily="49" charset="0"/>
              </a:rPr>
              <a:t> </a:t>
            </a:r>
            <a:r>
              <a:rPr lang="en-US" dirty="0" err="1">
                <a:solidFill>
                  <a:srgbClr val="267F99"/>
                </a:solidFill>
                <a:latin typeface="Consolas" panose="020B0609020204030204" pitchFamily="49" charset="0"/>
              </a:rPr>
              <a:t>HomeController</a:t>
            </a:r>
            <a:r>
              <a:rPr lang="en-US" dirty="0">
                <a:solidFill>
                  <a:srgbClr val="000000"/>
                </a:solidFill>
                <a:latin typeface="Consolas" panose="020B0609020204030204" pitchFamily="49" charset="0"/>
              </a:rPr>
              <a:t> : </a:t>
            </a:r>
            <a:r>
              <a:rPr lang="en-US" dirty="0">
                <a:solidFill>
                  <a:srgbClr val="267F99"/>
                </a:solidFill>
                <a:latin typeface="Consolas" panose="020B0609020204030204" pitchFamily="49" charset="0"/>
              </a:rPr>
              <a:t>Controller</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a:solidFill>
                  <a:srgbClr val="267F99"/>
                </a:solidFill>
                <a:latin typeface="Consolas" panose="020B0609020204030204" pitchFamily="49" charset="0"/>
              </a:rPr>
              <a:t>Authorize</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public</a:t>
            </a:r>
            <a:r>
              <a:rPr lang="en-US" dirty="0">
                <a:solidFill>
                  <a:srgbClr val="000000"/>
                </a:solidFill>
                <a:latin typeface="Consolas" panose="020B0609020204030204" pitchFamily="49" charset="0"/>
              </a:rPr>
              <a:t> </a:t>
            </a:r>
            <a:r>
              <a:rPr lang="en-US" dirty="0" err="1">
                <a:solidFill>
                  <a:srgbClr val="267F99"/>
                </a:solidFill>
                <a:latin typeface="Consolas" panose="020B0609020204030204" pitchFamily="49" charset="0"/>
              </a:rPr>
              <a:t>ViewResult</a:t>
            </a:r>
            <a:r>
              <a:rPr lang="en-US" dirty="0">
                <a:solidFill>
                  <a:srgbClr val="000000"/>
                </a:solidFill>
                <a:latin typeface="Consolas" panose="020B0609020204030204" pitchFamily="49" charset="0"/>
              </a:rPr>
              <a:t> </a:t>
            </a:r>
            <a:r>
              <a:rPr lang="en-US" dirty="0">
                <a:solidFill>
                  <a:srgbClr val="795E26"/>
                </a:solidFill>
                <a:latin typeface="Consolas" panose="020B0609020204030204" pitchFamily="49" charset="0"/>
              </a:rPr>
              <a:t>Index</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a:solidFill>
                  <a:srgbClr val="AF00DB"/>
                </a:solidFill>
                <a:latin typeface="Consolas" panose="020B0609020204030204" pitchFamily="49" charset="0"/>
              </a:rPr>
              <a:t>return</a:t>
            </a:r>
            <a:r>
              <a:rPr lang="en-US" dirty="0">
                <a:solidFill>
                  <a:srgbClr val="000000"/>
                </a:solidFill>
                <a:latin typeface="Consolas" panose="020B0609020204030204" pitchFamily="49" charset="0"/>
              </a:rPr>
              <a:t> </a:t>
            </a:r>
            <a:r>
              <a:rPr lang="en-US" dirty="0">
                <a:solidFill>
                  <a:srgbClr val="795E26"/>
                </a:solidFill>
                <a:latin typeface="Consolas" panose="020B0609020204030204" pitchFamily="49" charset="0"/>
              </a:rPr>
              <a:t>View</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
        <p:nvSpPr>
          <p:cNvPr id="6" name="Rectangle 5">
            <a:extLst>
              <a:ext uri="{FF2B5EF4-FFF2-40B4-BE49-F238E27FC236}">
                <a16:creationId xmlns:a16="http://schemas.microsoft.com/office/drawing/2014/main" id="{4365853E-4B51-458B-80A4-268515527DCE}"/>
              </a:ext>
            </a:extLst>
          </p:cNvPr>
          <p:cNvSpPr/>
          <p:nvPr/>
        </p:nvSpPr>
        <p:spPr>
          <a:xfrm>
            <a:off x="2927648" y="4653136"/>
            <a:ext cx="5760640" cy="1754326"/>
          </a:xfrm>
          <a:prstGeom prst="rect">
            <a:avLst/>
          </a:prstGeom>
          <a:solidFill>
            <a:schemeClr val="bg1"/>
          </a:solidFill>
        </p:spPr>
        <p:txBody>
          <a:bodyPr wrap="square">
            <a:spAutoFit/>
          </a:bodyPr>
          <a:lstStyle/>
          <a:p>
            <a:r>
              <a:rPr lang="en-US" dirty="0">
                <a:solidFill>
                  <a:srgbClr val="000000"/>
                </a:solidFill>
                <a:latin typeface="Consolas" panose="020B0609020204030204" pitchFamily="49" charset="0"/>
              </a:rPr>
              <a:t>[</a:t>
            </a:r>
            <a:r>
              <a:rPr lang="en-US" dirty="0">
                <a:solidFill>
                  <a:srgbClr val="267F99"/>
                </a:solidFill>
                <a:latin typeface="Consolas" panose="020B0609020204030204" pitchFamily="49" charset="0"/>
              </a:rPr>
              <a:t>Authorize</a:t>
            </a:r>
            <a:r>
              <a:rPr lang="en-US" dirty="0">
                <a:solidFill>
                  <a:srgbClr val="000000"/>
                </a:solidFill>
                <a:latin typeface="Consolas" panose="020B0609020204030204" pitchFamily="49" charset="0"/>
              </a:rPr>
              <a:t>]</a:t>
            </a:r>
          </a:p>
          <a:p>
            <a:r>
              <a:rPr lang="en-US" dirty="0">
                <a:solidFill>
                  <a:srgbClr val="0000FF"/>
                </a:solidFill>
                <a:latin typeface="Consolas" panose="020B0609020204030204" pitchFamily="49" charset="0"/>
              </a:rPr>
              <a:t>public</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class</a:t>
            </a:r>
            <a:r>
              <a:rPr lang="en-US" dirty="0">
                <a:solidFill>
                  <a:srgbClr val="000000"/>
                </a:solidFill>
                <a:latin typeface="Consolas" panose="020B0609020204030204" pitchFamily="49" charset="0"/>
              </a:rPr>
              <a:t> </a:t>
            </a:r>
            <a:r>
              <a:rPr lang="en-US" dirty="0" err="1">
                <a:solidFill>
                  <a:srgbClr val="267F99"/>
                </a:solidFill>
                <a:latin typeface="Consolas" panose="020B0609020204030204" pitchFamily="49" charset="0"/>
              </a:rPr>
              <a:t>HomeController</a:t>
            </a:r>
            <a:r>
              <a:rPr lang="en-US" dirty="0">
                <a:solidFill>
                  <a:srgbClr val="000000"/>
                </a:solidFill>
                <a:latin typeface="Consolas" panose="020B0609020204030204" pitchFamily="49" charset="0"/>
              </a:rPr>
              <a:t> : </a:t>
            </a:r>
            <a:r>
              <a:rPr lang="en-US" dirty="0">
                <a:solidFill>
                  <a:srgbClr val="267F99"/>
                </a:solidFill>
                <a:latin typeface="Consolas" panose="020B0609020204030204" pitchFamily="49" charset="0"/>
              </a:rPr>
              <a:t>Controller</a:t>
            </a:r>
            <a:r>
              <a:rPr lang="en-US" dirty="0">
                <a:solidFill>
                  <a:srgbClr val="000000"/>
                </a:solidFill>
                <a:latin typeface="Consolas" panose="020B0609020204030204" pitchFamily="49" charset="0"/>
              </a:rPr>
              <a:t> {</a:t>
            </a:r>
          </a:p>
          <a:p>
            <a:r>
              <a:rPr lang="en-US" dirty="0">
                <a:solidFill>
                  <a:srgbClr val="0000FF"/>
                </a:solidFill>
                <a:latin typeface="Consolas" panose="020B0609020204030204" pitchFamily="49" charset="0"/>
              </a:rPr>
              <a:t>    public</a:t>
            </a:r>
            <a:r>
              <a:rPr lang="en-US" dirty="0">
                <a:solidFill>
                  <a:srgbClr val="000000"/>
                </a:solidFill>
                <a:latin typeface="Consolas" panose="020B0609020204030204" pitchFamily="49" charset="0"/>
              </a:rPr>
              <a:t> </a:t>
            </a:r>
            <a:r>
              <a:rPr lang="en-US" dirty="0" err="1">
                <a:solidFill>
                  <a:srgbClr val="267F99"/>
                </a:solidFill>
                <a:latin typeface="Consolas" panose="020B0609020204030204" pitchFamily="49" charset="0"/>
              </a:rPr>
              <a:t>ViewResult</a:t>
            </a:r>
            <a:r>
              <a:rPr lang="en-US" dirty="0">
                <a:solidFill>
                  <a:srgbClr val="000000"/>
                </a:solidFill>
                <a:latin typeface="Consolas" panose="020B0609020204030204" pitchFamily="49" charset="0"/>
              </a:rPr>
              <a:t> </a:t>
            </a:r>
            <a:r>
              <a:rPr lang="en-US" dirty="0">
                <a:solidFill>
                  <a:srgbClr val="795E26"/>
                </a:solidFill>
                <a:latin typeface="Consolas" panose="020B0609020204030204" pitchFamily="49" charset="0"/>
              </a:rPr>
              <a:t>Index</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a:solidFill>
                  <a:srgbClr val="AF00DB"/>
                </a:solidFill>
                <a:latin typeface="Consolas" panose="020B0609020204030204" pitchFamily="49" charset="0"/>
              </a:rPr>
              <a:t>return</a:t>
            </a:r>
            <a:r>
              <a:rPr lang="en-US" dirty="0">
                <a:solidFill>
                  <a:srgbClr val="000000"/>
                </a:solidFill>
                <a:latin typeface="Consolas" panose="020B0609020204030204" pitchFamily="49" charset="0"/>
              </a:rPr>
              <a:t> </a:t>
            </a:r>
            <a:r>
              <a:rPr lang="en-US" dirty="0">
                <a:solidFill>
                  <a:srgbClr val="795E26"/>
                </a:solidFill>
                <a:latin typeface="Consolas" panose="020B0609020204030204" pitchFamily="49" charset="0"/>
              </a:rPr>
              <a:t>View</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266516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Authorization</a:t>
            </a:r>
          </a:p>
        </p:txBody>
      </p:sp>
      <p:sp>
        <p:nvSpPr>
          <p:cNvPr id="9" name="Text Placeholder 8">
            <a:extLst>
              <a:ext uri="{FF2B5EF4-FFF2-40B4-BE49-F238E27FC236}">
                <a16:creationId xmlns:a16="http://schemas.microsoft.com/office/drawing/2014/main" id="{3F0BE0C6-B142-47FC-A931-7E63A66EA5D4}"/>
              </a:ext>
            </a:extLst>
          </p:cNvPr>
          <p:cNvSpPr>
            <a:spLocks noGrp="1"/>
          </p:cNvSpPr>
          <p:nvPr>
            <p:ph type="body" sz="quarter" idx="10"/>
          </p:nvPr>
        </p:nvSpPr>
        <p:spPr/>
        <p:txBody>
          <a:bodyPr/>
          <a:lstStyle/>
          <a:p>
            <a:r>
              <a:rPr lang="en-US" dirty="0"/>
              <a:t>[Authorize]</a:t>
            </a:r>
          </a:p>
        </p:txBody>
      </p:sp>
      <p:sp>
        <p:nvSpPr>
          <p:cNvPr id="4" name="TextBox 3"/>
          <p:cNvSpPr txBox="1"/>
          <p:nvPr/>
        </p:nvSpPr>
        <p:spPr>
          <a:xfrm>
            <a:off x="956930" y="3997863"/>
            <a:ext cx="4755148" cy="2031325"/>
          </a:xfrm>
          <a:prstGeom prst="rect">
            <a:avLst/>
          </a:prstGeom>
          <a:noFill/>
        </p:spPr>
        <p:txBody>
          <a:bodyPr wrap="none" rtlCol="0">
            <a:spAutoFit/>
          </a:bodyPr>
          <a:lstStyle/>
          <a:p>
            <a:r>
              <a:rPr lang="en-US" dirty="0"/>
              <a:t>public </a:t>
            </a:r>
            <a:r>
              <a:rPr lang="en-US" dirty="0" err="1"/>
              <a:t>ActionResult</a:t>
            </a:r>
            <a:r>
              <a:rPr lang="en-US" dirty="0"/>
              <a:t> Details(</a:t>
            </a:r>
            <a:r>
              <a:rPr lang="en-US" dirty="0" err="1"/>
              <a:t>int</a:t>
            </a:r>
            <a:r>
              <a:rPr lang="en-US" dirty="0"/>
              <a:t> id)</a:t>
            </a:r>
          </a:p>
          <a:p>
            <a:r>
              <a:rPr lang="en-US" dirty="0"/>
              <a:t> {</a:t>
            </a:r>
          </a:p>
          <a:p>
            <a:pPr lvl="1"/>
            <a:r>
              <a:rPr lang="en-US" dirty="0">
                <a:highlight>
                  <a:srgbClr val="FFFF00"/>
                </a:highlight>
              </a:rPr>
              <a:t> </a:t>
            </a:r>
            <a:r>
              <a:rPr lang="en-US" b="1" dirty="0">
                <a:highlight>
                  <a:srgbClr val="FFFF00"/>
                </a:highlight>
              </a:rPr>
              <a:t>if (!</a:t>
            </a:r>
            <a:r>
              <a:rPr lang="en-US" b="1" dirty="0" err="1">
                <a:highlight>
                  <a:srgbClr val="FFFF00"/>
                </a:highlight>
              </a:rPr>
              <a:t>User.IsInRole</a:t>
            </a:r>
            <a:r>
              <a:rPr lang="en-US" b="1" dirty="0">
                <a:highlight>
                  <a:srgbClr val="FFFF00"/>
                </a:highlight>
              </a:rPr>
              <a:t>("</a:t>
            </a:r>
            <a:r>
              <a:rPr lang="en-US" b="1" dirty="0" err="1">
                <a:highlight>
                  <a:srgbClr val="FFFF00"/>
                </a:highlight>
              </a:rPr>
              <a:t>EmployeeViewer</a:t>
            </a:r>
            <a:r>
              <a:rPr lang="en-US" b="1" dirty="0">
                <a:highlight>
                  <a:srgbClr val="FFFF00"/>
                </a:highlight>
              </a:rPr>
              <a:t>")) </a:t>
            </a:r>
          </a:p>
          <a:p>
            <a:pPr lvl="1"/>
            <a:r>
              <a:rPr lang="en-US" b="1" dirty="0">
                <a:highlight>
                  <a:srgbClr val="FFFF00"/>
                </a:highlight>
              </a:rPr>
              <a:t>	return new </a:t>
            </a:r>
            <a:r>
              <a:rPr lang="en-US" b="1" dirty="0" err="1">
                <a:highlight>
                  <a:srgbClr val="FFFF00"/>
                </a:highlight>
              </a:rPr>
              <a:t>HttpUnauthorizedResult</a:t>
            </a:r>
            <a:r>
              <a:rPr lang="en-US" b="1" dirty="0">
                <a:highlight>
                  <a:srgbClr val="FFFF00"/>
                </a:highlight>
              </a:rPr>
              <a:t>();</a:t>
            </a:r>
          </a:p>
          <a:p>
            <a:pPr lvl="1"/>
            <a:r>
              <a:rPr lang="en-US" dirty="0"/>
              <a:t> </a:t>
            </a:r>
          </a:p>
          <a:p>
            <a:pPr lvl="1"/>
            <a:r>
              <a:rPr lang="en-US" dirty="0"/>
              <a:t>// Action logic </a:t>
            </a:r>
          </a:p>
          <a:p>
            <a:r>
              <a:rPr lang="en-US" dirty="0"/>
              <a:t>}</a:t>
            </a:r>
          </a:p>
        </p:txBody>
      </p:sp>
      <p:sp>
        <p:nvSpPr>
          <p:cNvPr id="5" name="TextBox 4"/>
          <p:cNvSpPr txBox="1"/>
          <p:nvPr/>
        </p:nvSpPr>
        <p:spPr>
          <a:xfrm>
            <a:off x="7368361" y="4008495"/>
            <a:ext cx="4005455" cy="1477328"/>
          </a:xfrm>
          <a:prstGeom prst="rect">
            <a:avLst/>
          </a:prstGeom>
          <a:noFill/>
        </p:spPr>
        <p:txBody>
          <a:bodyPr wrap="none" rtlCol="0">
            <a:spAutoFit/>
          </a:bodyPr>
          <a:lstStyle/>
          <a:p>
            <a:r>
              <a:rPr lang="en-US" dirty="0">
                <a:highlight>
                  <a:srgbClr val="FFFF00"/>
                </a:highlight>
              </a:rPr>
              <a:t>[</a:t>
            </a:r>
            <a:r>
              <a:rPr lang="en-US" b="1" dirty="0">
                <a:highlight>
                  <a:srgbClr val="FFFF00"/>
                </a:highlight>
              </a:rPr>
              <a:t>Authorize(Roles = "</a:t>
            </a:r>
            <a:r>
              <a:rPr lang="en-US" b="1" dirty="0" err="1">
                <a:highlight>
                  <a:srgbClr val="FFFF00"/>
                </a:highlight>
              </a:rPr>
              <a:t>EmployeeViewer</a:t>
            </a:r>
            <a:r>
              <a:rPr lang="en-US" b="1" dirty="0">
                <a:highlight>
                  <a:srgbClr val="FFFF00"/>
                </a:highlight>
              </a:rPr>
              <a:t>")] </a:t>
            </a:r>
            <a:endParaRPr lang="ro-RO" b="1" dirty="0">
              <a:highlight>
                <a:srgbClr val="FFFF00"/>
              </a:highlight>
            </a:endParaRPr>
          </a:p>
          <a:p>
            <a:r>
              <a:rPr lang="en-US" dirty="0"/>
              <a:t>public </a:t>
            </a:r>
            <a:r>
              <a:rPr lang="en-US" dirty="0" err="1"/>
              <a:t>ActionResult</a:t>
            </a:r>
            <a:r>
              <a:rPr lang="en-US" dirty="0"/>
              <a:t> Details(</a:t>
            </a:r>
            <a:r>
              <a:rPr lang="en-US" dirty="0" err="1"/>
              <a:t>int</a:t>
            </a:r>
            <a:r>
              <a:rPr lang="en-US" dirty="0"/>
              <a:t> id) </a:t>
            </a:r>
            <a:endParaRPr lang="ro-RO" dirty="0"/>
          </a:p>
          <a:p>
            <a:r>
              <a:rPr lang="en-US" dirty="0"/>
              <a:t>{ </a:t>
            </a:r>
            <a:endParaRPr lang="ro-RO" dirty="0"/>
          </a:p>
          <a:p>
            <a:r>
              <a:rPr lang="ro-RO" dirty="0"/>
              <a:t>	</a:t>
            </a:r>
            <a:r>
              <a:rPr lang="en-US" dirty="0"/>
              <a:t>// Action logic</a:t>
            </a:r>
            <a:endParaRPr lang="ro-RO" dirty="0"/>
          </a:p>
          <a:p>
            <a:r>
              <a:rPr lang="en-US" dirty="0"/>
              <a:t> }</a:t>
            </a:r>
          </a:p>
        </p:txBody>
      </p:sp>
      <p:cxnSp>
        <p:nvCxnSpPr>
          <p:cNvPr id="7" name="Straight Connector 6"/>
          <p:cNvCxnSpPr/>
          <p:nvPr/>
        </p:nvCxnSpPr>
        <p:spPr>
          <a:xfrm>
            <a:off x="6432701" y="3870241"/>
            <a:ext cx="0" cy="2254124"/>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A0BFC8B-2DD1-4EFC-AB63-5D458CCA1735}"/>
              </a:ext>
            </a:extLst>
          </p:cNvPr>
          <p:cNvSpPr txBox="1"/>
          <p:nvPr/>
        </p:nvSpPr>
        <p:spPr>
          <a:xfrm>
            <a:off x="7824192" y="2564904"/>
            <a:ext cx="2804357" cy="369332"/>
          </a:xfrm>
          <a:prstGeom prst="rect">
            <a:avLst/>
          </a:prstGeom>
          <a:noFill/>
        </p:spPr>
        <p:txBody>
          <a:bodyPr wrap="none" rtlCol="0">
            <a:spAutoFit/>
          </a:bodyPr>
          <a:lstStyle/>
          <a:p>
            <a:r>
              <a:rPr lang="en-US" b="1" dirty="0"/>
              <a:t>Declarative</a:t>
            </a:r>
            <a:r>
              <a:rPr lang="en-US" dirty="0"/>
              <a:t> (recommended)</a:t>
            </a:r>
          </a:p>
        </p:txBody>
      </p:sp>
      <p:sp>
        <p:nvSpPr>
          <p:cNvPr id="8" name="TextBox 7">
            <a:extLst>
              <a:ext uri="{FF2B5EF4-FFF2-40B4-BE49-F238E27FC236}">
                <a16:creationId xmlns:a16="http://schemas.microsoft.com/office/drawing/2014/main" id="{48F1CA77-C1EE-4822-A749-D1FFA41F563F}"/>
              </a:ext>
            </a:extLst>
          </p:cNvPr>
          <p:cNvSpPr txBox="1"/>
          <p:nvPr/>
        </p:nvSpPr>
        <p:spPr>
          <a:xfrm>
            <a:off x="2495600" y="2564904"/>
            <a:ext cx="1218923" cy="369332"/>
          </a:xfrm>
          <a:prstGeom prst="rect">
            <a:avLst/>
          </a:prstGeom>
          <a:noFill/>
        </p:spPr>
        <p:txBody>
          <a:bodyPr wrap="none" rtlCol="0">
            <a:spAutoFit/>
          </a:bodyPr>
          <a:lstStyle/>
          <a:p>
            <a:r>
              <a:rPr lang="en-US" b="1" dirty="0"/>
              <a:t>Imperative</a:t>
            </a:r>
            <a:endParaRPr lang="en-US" dirty="0"/>
          </a:p>
        </p:txBody>
      </p:sp>
    </p:spTree>
    <p:extLst>
      <p:ext uri="{BB962C8B-B14F-4D97-AF65-F5344CB8AC3E}">
        <p14:creationId xmlns:p14="http://schemas.microsoft.com/office/powerpoint/2010/main" val="774530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Authorization</a:t>
            </a:r>
          </a:p>
        </p:txBody>
      </p:sp>
      <p:sp>
        <p:nvSpPr>
          <p:cNvPr id="3" name="Content Placeholder 2"/>
          <p:cNvSpPr>
            <a:spLocks noGrp="1"/>
          </p:cNvSpPr>
          <p:nvPr>
            <p:ph idx="1"/>
          </p:nvPr>
        </p:nvSpPr>
        <p:spPr/>
        <p:txBody>
          <a:bodyPr/>
          <a:lstStyle/>
          <a:p>
            <a:pPr marL="342900" indent="-342900">
              <a:buFont typeface="Wingdings" panose="05000000000000000000" pitchFamily="2" charset="2"/>
              <a:buChar char="§"/>
            </a:pPr>
            <a:r>
              <a:rPr lang="en-US" b="1" dirty="0"/>
              <a:t>[</a:t>
            </a:r>
            <a:r>
              <a:rPr lang="en-US" b="1" dirty="0" err="1"/>
              <a:t>AllowAnonymous</a:t>
            </a:r>
            <a:r>
              <a:rPr lang="en-US" b="1" dirty="0"/>
              <a:t>]</a:t>
            </a:r>
          </a:p>
          <a:p>
            <a:pPr marL="597150" lvl="1" indent="-342900">
              <a:buFont typeface="Wingdings" panose="05000000000000000000" pitchFamily="2" charset="2"/>
              <a:buChar char="§"/>
            </a:pPr>
            <a:r>
              <a:rPr lang="en-US" dirty="0"/>
              <a:t>Specifies that actions and controllers are skipped by </a:t>
            </a:r>
            <a:r>
              <a:rPr lang="en-US" dirty="0" err="1"/>
              <a:t>AuthorizeAttribute</a:t>
            </a:r>
            <a:r>
              <a:rPr lang="en-US" dirty="0"/>
              <a:t> during authorization.</a:t>
            </a:r>
          </a:p>
          <a:p>
            <a:pPr marL="597150" lvl="1" indent="-342900">
              <a:buFont typeface="Wingdings" panose="05000000000000000000" pitchFamily="2" charset="2"/>
              <a:buChar char="§"/>
            </a:pPr>
            <a:r>
              <a:rPr lang="en-US" dirty="0"/>
              <a:t>Example: the login action</a:t>
            </a:r>
          </a:p>
        </p:txBody>
      </p:sp>
      <p:sp>
        <p:nvSpPr>
          <p:cNvPr id="4" name="Text Placeholder 3">
            <a:extLst>
              <a:ext uri="{FF2B5EF4-FFF2-40B4-BE49-F238E27FC236}">
                <a16:creationId xmlns:a16="http://schemas.microsoft.com/office/drawing/2014/main" id="{73B65929-C278-425A-AA00-3D95A197EE3E}"/>
              </a:ext>
            </a:extLst>
          </p:cNvPr>
          <p:cNvSpPr>
            <a:spLocks noGrp="1"/>
          </p:cNvSpPr>
          <p:nvPr>
            <p:ph type="body" sz="quarter" idx="10"/>
          </p:nvPr>
        </p:nvSpPr>
        <p:spPr/>
        <p:txBody>
          <a:bodyPr/>
          <a:lstStyle/>
          <a:p>
            <a:r>
              <a:rPr lang="en-US" dirty="0"/>
              <a:t>Security Attributes</a:t>
            </a:r>
          </a:p>
        </p:txBody>
      </p:sp>
      <p:sp>
        <p:nvSpPr>
          <p:cNvPr id="5" name="Rectangle 4">
            <a:extLst>
              <a:ext uri="{FF2B5EF4-FFF2-40B4-BE49-F238E27FC236}">
                <a16:creationId xmlns:a16="http://schemas.microsoft.com/office/drawing/2014/main" id="{D47AB982-807B-4668-A149-90F0295015FE}"/>
              </a:ext>
            </a:extLst>
          </p:cNvPr>
          <p:cNvSpPr/>
          <p:nvPr/>
        </p:nvSpPr>
        <p:spPr>
          <a:xfrm>
            <a:off x="1775520" y="3212976"/>
            <a:ext cx="9289032" cy="3539430"/>
          </a:xfrm>
          <a:prstGeom prst="rect">
            <a:avLst/>
          </a:prstGeom>
          <a:solidFill>
            <a:schemeClr val="bg1"/>
          </a:solidFill>
        </p:spPr>
        <p:txBody>
          <a:bodyPr wrap="square">
            <a:spAutoFit/>
          </a:bodyPr>
          <a:lstStyle/>
          <a:p>
            <a:r>
              <a:rPr lang="en-US" sz="1600" dirty="0">
                <a:solidFill>
                  <a:srgbClr val="000000"/>
                </a:solidFill>
                <a:highlight>
                  <a:srgbClr val="FFFF00"/>
                </a:highlight>
                <a:latin typeface="Consolas" panose="020B0609020204030204" pitchFamily="49" charset="0"/>
              </a:rPr>
              <a:t>[</a:t>
            </a:r>
            <a:r>
              <a:rPr lang="en-US" sz="1600" dirty="0">
                <a:solidFill>
                  <a:srgbClr val="267F99"/>
                </a:solidFill>
                <a:highlight>
                  <a:srgbClr val="FFFF00"/>
                </a:highlight>
                <a:latin typeface="Consolas" panose="020B0609020204030204" pitchFamily="49" charset="0"/>
              </a:rPr>
              <a:t>Authorize</a:t>
            </a:r>
            <a:r>
              <a:rPr lang="en-US" sz="1600" dirty="0">
                <a:solidFill>
                  <a:srgbClr val="000000"/>
                </a:solidFill>
                <a:highlight>
                  <a:srgbClr val="FFFF00"/>
                </a:highlight>
                <a:latin typeface="Consolas" panose="020B0609020204030204" pitchFamily="49" charset="0"/>
              </a:rPr>
              <a:t>]</a:t>
            </a:r>
          </a:p>
          <a:p>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class</a:t>
            </a:r>
            <a:r>
              <a:rPr lang="en-US" sz="1600" dirty="0">
                <a:solidFill>
                  <a:srgbClr val="000000"/>
                </a:solidFill>
                <a:latin typeface="Consolas" panose="020B0609020204030204" pitchFamily="49" charset="0"/>
              </a:rPr>
              <a:t> </a:t>
            </a:r>
            <a:r>
              <a:rPr lang="en-US" sz="1600" dirty="0" err="1">
                <a:solidFill>
                  <a:srgbClr val="267F99"/>
                </a:solidFill>
                <a:latin typeface="Consolas" panose="020B0609020204030204" pitchFamily="49" charset="0"/>
              </a:rPr>
              <a:t>AccountController</a:t>
            </a:r>
            <a:r>
              <a:rPr lang="en-US" sz="1600" dirty="0">
                <a:solidFill>
                  <a:srgbClr val="000000"/>
                </a:solidFill>
                <a:latin typeface="Consolas" panose="020B0609020204030204" pitchFamily="49" charset="0"/>
              </a:rPr>
              <a:t> : </a:t>
            </a:r>
            <a:r>
              <a:rPr lang="en-US" sz="1600" dirty="0">
                <a:solidFill>
                  <a:srgbClr val="267F99"/>
                </a:solidFill>
                <a:latin typeface="Consolas" panose="020B0609020204030204" pitchFamily="49" charset="0"/>
              </a:rPr>
              <a:t>Controller</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0000"/>
                </a:solidFill>
                <a:highlight>
                  <a:srgbClr val="FFFF00"/>
                </a:highlight>
                <a:latin typeface="Consolas" panose="020B0609020204030204" pitchFamily="49" charset="0"/>
              </a:rPr>
              <a:t>[</a:t>
            </a:r>
            <a:r>
              <a:rPr lang="en-US" sz="1600" dirty="0" err="1">
                <a:solidFill>
                  <a:srgbClr val="267F99"/>
                </a:solidFill>
                <a:highlight>
                  <a:srgbClr val="FFFF00"/>
                </a:highlight>
                <a:latin typeface="Consolas" panose="020B0609020204030204" pitchFamily="49" charset="0"/>
              </a:rPr>
              <a:t>AllowAnonymous</a:t>
            </a:r>
            <a:r>
              <a:rPr lang="en-US" sz="1600" dirty="0">
                <a:solidFill>
                  <a:srgbClr val="000000"/>
                </a:solidFill>
                <a:highlight>
                  <a:srgbClr val="FFFF00"/>
                </a:highlight>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err="1">
                <a:solidFill>
                  <a:srgbClr val="267F99"/>
                </a:solidFill>
                <a:latin typeface="Consolas" panose="020B0609020204030204" pitchFamily="49" charset="0"/>
              </a:rPr>
              <a:t>IActionResult</a:t>
            </a:r>
            <a:r>
              <a:rPr lang="en-US" sz="1600" dirty="0">
                <a:solidFill>
                  <a:srgbClr val="000000"/>
                </a:solidFill>
                <a:latin typeface="Consolas" panose="020B0609020204030204" pitchFamily="49" charset="0"/>
              </a:rPr>
              <a:t> </a:t>
            </a:r>
            <a:r>
              <a:rPr lang="en-US" sz="1600" dirty="0">
                <a:solidFill>
                  <a:srgbClr val="795E26"/>
                </a:solidFill>
                <a:latin typeface="Consolas" panose="020B0609020204030204" pitchFamily="49" charset="0"/>
              </a:rPr>
              <a:t>Login</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795E26"/>
                </a:solidFill>
                <a:latin typeface="Consolas" panose="020B0609020204030204" pitchFamily="49" charset="0"/>
              </a:rPr>
              <a:t>View</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br>
              <a:rPr lang="en-US" sz="1600" dirty="0">
                <a:solidFill>
                  <a:srgbClr val="000000"/>
                </a:solidFill>
                <a:latin typeface="Consolas" panose="020B0609020204030204" pitchFamily="49" charset="0"/>
              </a:rPr>
            </a:br>
            <a:r>
              <a:rPr lang="en-US" sz="1600" dirty="0">
                <a:solidFill>
                  <a:srgbClr val="000000"/>
                </a:solidFill>
                <a:latin typeface="Consolas" panose="020B0609020204030204" pitchFamily="49" charset="0"/>
              </a:rPr>
              <a:t>    [</a:t>
            </a:r>
            <a:r>
              <a:rPr lang="en-US" sz="1600" dirty="0" err="1">
                <a:solidFill>
                  <a:srgbClr val="267F99"/>
                </a:solidFill>
                <a:latin typeface="Consolas" panose="020B0609020204030204" pitchFamily="49" charset="0"/>
              </a:rPr>
              <a:t>HttpPost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0000"/>
                </a:solidFill>
                <a:highlight>
                  <a:srgbClr val="FFFF00"/>
                </a:highlight>
                <a:latin typeface="Consolas" panose="020B0609020204030204" pitchFamily="49" charset="0"/>
              </a:rPr>
              <a:t> [</a:t>
            </a:r>
            <a:r>
              <a:rPr lang="en-US" sz="1600" dirty="0" err="1">
                <a:solidFill>
                  <a:srgbClr val="267F99"/>
                </a:solidFill>
                <a:highlight>
                  <a:srgbClr val="FFFF00"/>
                </a:highlight>
                <a:latin typeface="Consolas" panose="020B0609020204030204" pitchFamily="49" charset="0"/>
              </a:rPr>
              <a:t>AllowAnonymous</a:t>
            </a:r>
            <a:r>
              <a:rPr lang="en-US" sz="1600" dirty="0">
                <a:solidFill>
                  <a:srgbClr val="000000"/>
                </a:solidFill>
                <a:highlight>
                  <a:srgbClr val="FFFF00"/>
                </a:highlight>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267F99"/>
                </a:solidFill>
                <a:latin typeface="Consolas" panose="020B0609020204030204" pitchFamily="49" charset="0"/>
              </a:rPr>
              <a:t>ValidateAntiForgeryToken</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err="1">
                <a:solidFill>
                  <a:srgbClr val="0000FF"/>
                </a:solidFill>
                <a:latin typeface="Consolas" panose="020B0609020204030204" pitchFamily="49" charset="0"/>
              </a:rPr>
              <a:t>async</a:t>
            </a:r>
            <a:r>
              <a:rPr lang="en-US" sz="1600" dirty="0">
                <a:solidFill>
                  <a:srgbClr val="000000"/>
                </a:solidFill>
                <a:latin typeface="Consolas" panose="020B0609020204030204" pitchFamily="49" charset="0"/>
              </a:rPr>
              <a:t> </a:t>
            </a:r>
            <a:r>
              <a:rPr lang="en-US" sz="1600" dirty="0">
                <a:solidFill>
                  <a:srgbClr val="267F99"/>
                </a:solidFill>
                <a:latin typeface="Consolas" panose="020B0609020204030204" pitchFamily="49" charset="0"/>
              </a:rPr>
              <a:t>Task</a:t>
            </a:r>
            <a:r>
              <a:rPr lang="en-US" sz="1600" dirty="0">
                <a:solidFill>
                  <a:srgbClr val="000000"/>
                </a:solidFill>
                <a:latin typeface="Consolas" panose="020B0609020204030204" pitchFamily="49" charset="0"/>
              </a:rPr>
              <a:t>&lt;</a:t>
            </a:r>
            <a:r>
              <a:rPr lang="en-US" sz="1600" dirty="0" err="1">
                <a:solidFill>
                  <a:srgbClr val="267F99"/>
                </a:solidFill>
                <a:latin typeface="Consolas" panose="020B0609020204030204" pitchFamily="49" charset="0"/>
              </a:rPr>
              <a:t>IActionResult</a:t>
            </a:r>
            <a:r>
              <a:rPr lang="en-US" sz="1600" dirty="0">
                <a:solidFill>
                  <a:srgbClr val="000000"/>
                </a:solidFill>
                <a:latin typeface="Consolas" panose="020B0609020204030204" pitchFamily="49" charset="0"/>
              </a:rPr>
              <a:t>&gt; </a:t>
            </a:r>
            <a:r>
              <a:rPr lang="en-US" sz="1600" dirty="0">
                <a:solidFill>
                  <a:srgbClr val="795E26"/>
                </a:solidFill>
                <a:latin typeface="Consolas" panose="020B0609020204030204" pitchFamily="49" charset="0"/>
              </a:rPr>
              <a:t>Login</a:t>
            </a:r>
            <a:r>
              <a:rPr lang="en-US" sz="1600" dirty="0">
                <a:solidFill>
                  <a:srgbClr val="000000"/>
                </a:solidFill>
                <a:latin typeface="Consolas" panose="020B0609020204030204" pitchFamily="49" charset="0"/>
              </a:rPr>
              <a:t>(</a:t>
            </a:r>
            <a:r>
              <a:rPr lang="en-US" sz="1600" dirty="0" err="1">
                <a:solidFill>
                  <a:srgbClr val="267F99"/>
                </a:solidFill>
                <a:latin typeface="Consolas" panose="020B0609020204030204" pitchFamily="49" charset="0"/>
              </a:rPr>
              <a:t>LoginModel</a:t>
            </a:r>
            <a:r>
              <a:rPr lang="en-US" sz="1600" dirty="0">
                <a:solidFill>
                  <a:srgbClr val="000000"/>
                </a:solidFill>
                <a:latin typeface="Consolas" panose="020B0609020204030204" pitchFamily="49" charset="0"/>
              </a:rPr>
              <a:t> details) {</a:t>
            </a:r>
          </a:p>
          <a:p>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795E26"/>
                </a:solidFill>
                <a:latin typeface="Consolas" panose="020B0609020204030204" pitchFamily="49" charset="0"/>
              </a:rPr>
              <a:t>View</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details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819500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7B84BCA-A57A-4C53-9310-47EFE355A3C2}"/>
              </a:ext>
            </a:extLst>
          </p:cNvPr>
          <p:cNvSpPr>
            <a:spLocks noGrp="1"/>
          </p:cNvSpPr>
          <p:nvPr>
            <p:ph type="title"/>
          </p:nvPr>
        </p:nvSpPr>
        <p:spPr/>
        <p:txBody>
          <a:bodyPr/>
          <a:lstStyle/>
          <a:p>
            <a:r>
              <a:rPr lang="en-US" dirty="0"/>
              <a:t>Enforcing SSL </a:t>
            </a:r>
          </a:p>
        </p:txBody>
      </p:sp>
    </p:spTree>
    <p:extLst>
      <p:ext uri="{BB962C8B-B14F-4D97-AF65-F5344CB8AC3E}">
        <p14:creationId xmlns:p14="http://schemas.microsoft.com/office/powerpoint/2010/main" val="1599318437"/>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Authorization</a:t>
            </a:r>
          </a:p>
        </p:txBody>
      </p:sp>
      <p:sp>
        <p:nvSpPr>
          <p:cNvPr id="3" name="Content Placeholder 2"/>
          <p:cNvSpPr>
            <a:spLocks noGrp="1"/>
          </p:cNvSpPr>
          <p:nvPr>
            <p:ph idx="1"/>
          </p:nvPr>
        </p:nvSpPr>
        <p:spPr/>
        <p:txBody>
          <a:bodyPr/>
          <a:lstStyle/>
          <a:p>
            <a:pPr marL="342900" indent="-342900">
              <a:buFont typeface="Wingdings" panose="05000000000000000000" pitchFamily="2" charset="2"/>
              <a:buChar char="§"/>
            </a:pPr>
            <a:r>
              <a:rPr lang="en-US" b="1" dirty="0"/>
              <a:t>[</a:t>
            </a:r>
            <a:r>
              <a:rPr lang="en-US" b="1" dirty="0" err="1"/>
              <a:t>RequireHttpsAttribute</a:t>
            </a:r>
            <a:r>
              <a:rPr lang="en-US" b="1" dirty="0"/>
              <a:t>]</a:t>
            </a:r>
            <a:endParaRPr lang="ro-RO" b="1" dirty="0"/>
          </a:p>
          <a:p>
            <a:pPr marL="597150" lvl="1" indent="-342900">
              <a:buFont typeface="Wingdings" panose="05000000000000000000" pitchFamily="2" charset="2"/>
              <a:buChar char="§"/>
            </a:pPr>
            <a:r>
              <a:rPr lang="en-US" dirty="0"/>
              <a:t>can be used to decorate controllers or actions;</a:t>
            </a:r>
          </a:p>
          <a:p>
            <a:pPr marL="597150" lvl="1"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Can also be configured globally:</a:t>
            </a:r>
          </a:p>
          <a:p>
            <a:pPr marL="342900" indent="-342900">
              <a:buFont typeface="Wingdings" panose="05000000000000000000" pitchFamily="2" charset="2"/>
              <a:buChar char="§"/>
            </a:pPr>
            <a:endParaRPr lang="en-US" dirty="0"/>
          </a:p>
          <a:p>
            <a:endParaRPr lang="en-US" dirty="0"/>
          </a:p>
          <a:p>
            <a:endParaRPr lang="en-US" dirty="0"/>
          </a:p>
          <a:p>
            <a:endParaRPr lang="en-US" dirty="0"/>
          </a:p>
          <a:p>
            <a:endParaRPr lang="en-US" dirty="0"/>
          </a:p>
          <a:p>
            <a:pPr marL="342900" indent="-342900">
              <a:buFont typeface="Wingdings" panose="05000000000000000000" pitchFamily="2" charset="2"/>
              <a:buChar char="§"/>
            </a:pPr>
            <a:r>
              <a:rPr lang="en-US" b="1" dirty="0"/>
              <a:t>Note</a:t>
            </a:r>
            <a:r>
              <a:rPr lang="en-US" dirty="0"/>
              <a:t>: The highlighted code above requires all requests to use HTTPS, therefore HTTP requests are ignored. </a:t>
            </a:r>
          </a:p>
          <a:p>
            <a:endParaRPr lang="en-US" dirty="0"/>
          </a:p>
        </p:txBody>
      </p:sp>
      <p:sp>
        <p:nvSpPr>
          <p:cNvPr id="7" name="Text Placeholder 6">
            <a:extLst>
              <a:ext uri="{FF2B5EF4-FFF2-40B4-BE49-F238E27FC236}">
                <a16:creationId xmlns:a16="http://schemas.microsoft.com/office/drawing/2014/main" id="{84636B64-81FE-4CEC-AF73-3F463C128453}"/>
              </a:ext>
            </a:extLst>
          </p:cNvPr>
          <p:cNvSpPr>
            <a:spLocks noGrp="1"/>
          </p:cNvSpPr>
          <p:nvPr>
            <p:ph type="body" sz="quarter" idx="10"/>
          </p:nvPr>
        </p:nvSpPr>
        <p:spPr/>
        <p:txBody>
          <a:bodyPr/>
          <a:lstStyle/>
          <a:p>
            <a:r>
              <a:rPr lang="en-US" dirty="0"/>
              <a:t>Enforcing SSL </a:t>
            </a:r>
          </a:p>
        </p:txBody>
      </p:sp>
      <p:sp>
        <p:nvSpPr>
          <p:cNvPr id="8" name="Rectangle 7">
            <a:extLst>
              <a:ext uri="{FF2B5EF4-FFF2-40B4-BE49-F238E27FC236}">
                <a16:creationId xmlns:a16="http://schemas.microsoft.com/office/drawing/2014/main" id="{1E873B15-4260-4A4A-80A2-CC6C0CA74DD4}"/>
              </a:ext>
            </a:extLst>
          </p:cNvPr>
          <p:cNvSpPr/>
          <p:nvPr/>
        </p:nvSpPr>
        <p:spPr>
          <a:xfrm>
            <a:off x="2279576" y="3212976"/>
            <a:ext cx="8604248" cy="1754326"/>
          </a:xfrm>
          <a:prstGeom prst="rect">
            <a:avLst/>
          </a:prstGeom>
          <a:solidFill>
            <a:schemeClr val="bg1"/>
          </a:solidFill>
        </p:spPr>
        <p:txBody>
          <a:bodyPr wrap="square">
            <a:spAutoFit/>
          </a:bodyPr>
          <a:lstStyle/>
          <a:p>
            <a:r>
              <a:rPr lang="en-US" dirty="0">
                <a:solidFill>
                  <a:srgbClr val="008000"/>
                </a:solidFill>
                <a:latin typeface="Consolas" panose="020B0609020204030204" pitchFamily="49" charset="0"/>
              </a:rPr>
              <a:t>// Requires using </a:t>
            </a:r>
            <a:r>
              <a:rPr lang="en-US" dirty="0" err="1">
                <a:solidFill>
                  <a:srgbClr val="008000"/>
                </a:solidFill>
                <a:latin typeface="Consolas" panose="020B0609020204030204" pitchFamily="49" charset="0"/>
              </a:rPr>
              <a:t>Microsoft.AspNetCore.Mvc</a:t>
            </a:r>
            <a:r>
              <a:rPr lang="en-US" dirty="0">
                <a:solidFill>
                  <a:srgbClr val="008000"/>
                </a:solidFill>
                <a:latin typeface="Consolas" panose="020B0609020204030204" pitchFamily="49" charset="0"/>
              </a:rPr>
              <a:t>;</a:t>
            </a:r>
            <a:endParaRPr lang="en-US" dirty="0">
              <a:solidFill>
                <a:srgbClr val="000000"/>
              </a:solidFill>
              <a:latin typeface="Consolas" panose="020B0609020204030204" pitchFamily="49" charset="0"/>
            </a:endParaRPr>
          </a:p>
          <a:p>
            <a:r>
              <a:rPr lang="en-US" dirty="0">
                <a:solidFill>
                  <a:srgbClr val="0000FF"/>
                </a:solidFill>
                <a:latin typeface="Consolas" panose="020B0609020204030204" pitchFamily="49" charset="0"/>
              </a:rPr>
              <a:t>public</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a:t>
            </a:r>
            <a:r>
              <a:rPr lang="en-US" dirty="0" err="1">
                <a:solidFill>
                  <a:srgbClr val="795E26"/>
                </a:solidFill>
                <a:latin typeface="Consolas" panose="020B0609020204030204" pitchFamily="49" charset="0"/>
              </a:rPr>
              <a:t>ConfigureServices</a:t>
            </a:r>
            <a:r>
              <a:rPr lang="en-US" dirty="0">
                <a:solidFill>
                  <a:srgbClr val="000000"/>
                </a:solidFill>
                <a:latin typeface="Consolas" panose="020B0609020204030204" pitchFamily="49" charset="0"/>
              </a:rPr>
              <a:t>(</a:t>
            </a:r>
            <a:r>
              <a:rPr lang="en-US" dirty="0" err="1">
                <a:solidFill>
                  <a:srgbClr val="267F99"/>
                </a:solidFill>
                <a:latin typeface="Consolas" panose="020B0609020204030204" pitchFamily="49" charset="0"/>
              </a:rPr>
              <a:t>IServiceCollection</a:t>
            </a:r>
            <a:r>
              <a:rPr lang="en-US" dirty="0">
                <a:solidFill>
                  <a:srgbClr val="000000"/>
                </a:solidFill>
                <a:latin typeface="Consolas" panose="020B0609020204030204" pitchFamily="49" charset="0"/>
              </a:rPr>
              <a:t> services){</a:t>
            </a:r>
          </a:p>
          <a:p>
            <a:pPr lvl="1"/>
            <a:r>
              <a:rPr lang="en-US" dirty="0" err="1">
                <a:solidFill>
                  <a:srgbClr val="001080"/>
                </a:solidFill>
                <a:latin typeface="Consolas" panose="020B0609020204030204" pitchFamily="49" charset="0"/>
              </a:rPr>
              <a:t>services</a:t>
            </a:r>
            <a:r>
              <a:rPr lang="en-US" dirty="0" err="1">
                <a:solidFill>
                  <a:srgbClr val="000000"/>
                </a:solidFill>
                <a:latin typeface="Consolas" panose="020B0609020204030204" pitchFamily="49" charset="0"/>
              </a:rPr>
              <a:t>.</a:t>
            </a:r>
            <a:r>
              <a:rPr lang="en-US" dirty="0" err="1">
                <a:solidFill>
                  <a:srgbClr val="795E26"/>
                </a:solidFill>
                <a:latin typeface="Consolas" panose="020B0609020204030204" pitchFamily="49" charset="0"/>
              </a:rPr>
              <a:t>Configure</a:t>
            </a:r>
            <a:r>
              <a:rPr lang="en-US" dirty="0">
                <a:solidFill>
                  <a:srgbClr val="000000"/>
                </a:solidFill>
                <a:latin typeface="Consolas" panose="020B0609020204030204" pitchFamily="49" charset="0"/>
              </a:rPr>
              <a:t>&lt;</a:t>
            </a:r>
            <a:r>
              <a:rPr lang="en-US" dirty="0" err="1">
                <a:solidFill>
                  <a:srgbClr val="267F99"/>
                </a:solidFill>
                <a:latin typeface="Consolas" panose="020B0609020204030204" pitchFamily="49" charset="0"/>
              </a:rPr>
              <a:t>MvcOptions</a:t>
            </a:r>
            <a:r>
              <a:rPr lang="en-US" dirty="0">
                <a:solidFill>
                  <a:srgbClr val="000000"/>
                </a:solidFill>
                <a:latin typeface="Consolas" panose="020B0609020204030204" pitchFamily="49" charset="0"/>
              </a:rPr>
              <a:t>&gt;(options =&gt;</a:t>
            </a:r>
          </a:p>
          <a:p>
            <a:pPr lvl="1"/>
            <a:r>
              <a:rPr lang="en-US" dirty="0">
                <a:solidFill>
                  <a:srgbClr val="000000"/>
                </a:solidFill>
                <a:latin typeface="Consolas" panose="020B0609020204030204" pitchFamily="49" charset="0"/>
              </a:rPr>
              <a:t>{</a:t>
            </a:r>
          </a:p>
          <a:p>
            <a:pPr lvl="1"/>
            <a:r>
              <a:rPr lang="en-US" dirty="0">
                <a:solidFill>
                  <a:srgbClr val="001080"/>
                </a:solidFill>
                <a:latin typeface="Consolas" panose="020B0609020204030204" pitchFamily="49" charset="0"/>
              </a:rPr>
              <a:t>	</a:t>
            </a:r>
            <a:r>
              <a:rPr lang="en-US" dirty="0" err="1">
                <a:solidFill>
                  <a:srgbClr val="001080"/>
                </a:solidFill>
                <a:highlight>
                  <a:srgbClr val="FFFF00"/>
                </a:highlight>
                <a:latin typeface="Consolas" panose="020B0609020204030204" pitchFamily="49" charset="0"/>
              </a:rPr>
              <a:t>options</a:t>
            </a:r>
            <a:r>
              <a:rPr lang="en-US" dirty="0" err="1">
                <a:solidFill>
                  <a:srgbClr val="000000"/>
                </a:solidFill>
                <a:highlight>
                  <a:srgbClr val="FFFF00"/>
                </a:highlight>
                <a:latin typeface="Consolas" panose="020B0609020204030204" pitchFamily="49" charset="0"/>
              </a:rPr>
              <a:t>.</a:t>
            </a:r>
            <a:r>
              <a:rPr lang="en-US" dirty="0" err="1">
                <a:solidFill>
                  <a:srgbClr val="001080"/>
                </a:solidFill>
                <a:highlight>
                  <a:srgbClr val="FFFF00"/>
                </a:highlight>
                <a:latin typeface="Consolas" panose="020B0609020204030204" pitchFamily="49" charset="0"/>
              </a:rPr>
              <a:t>Filters</a:t>
            </a:r>
            <a:r>
              <a:rPr lang="en-US" dirty="0" err="1">
                <a:solidFill>
                  <a:srgbClr val="000000"/>
                </a:solidFill>
                <a:highlight>
                  <a:srgbClr val="FFFF00"/>
                </a:highlight>
                <a:latin typeface="Consolas" panose="020B0609020204030204" pitchFamily="49" charset="0"/>
              </a:rPr>
              <a:t>.</a:t>
            </a:r>
            <a:r>
              <a:rPr lang="en-US" dirty="0" err="1">
                <a:solidFill>
                  <a:srgbClr val="795E26"/>
                </a:solidFill>
                <a:highlight>
                  <a:srgbClr val="FFFF00"/>
                </a:highlight>
                <a:latin typeface="Consolas" panose="020B0609020204030204" pitchFamily="49" charset="0"/>
              </a:rPr>
              <a:t>Add</a:t>
            </a:r>
            <a:r>
              <a:rPr lang="en-US" dirty="0">
                <a:solidFill>
                  <a:srgbClr val="000000"/>
                </a:solidFill>
                <a:highlight>
                  <a:srgbClr val="FFFF00"/>
                </a:highlight>
                <a:latin typeface="Consolas" panose="020B0609020204030204" pitchFamily="49" charset="0"/>
              </a:rPr>
              <a:t>(</a:t>
            </a:r>
            <a:r>
              <a:rPr lang="en-US" dirty="0">
                <a:solidFill>
                  <a:srgbClr val="0000FF"/>
                </a:solidFill>
                <a:highlight>
                  <a:srgbClr val="FFFF00"/>
                </a:highlight>
                <a:latin typeface="Consolas" panose="020B0609020204030204" pitchFamily="49" charset="0"/>
              </a:rPr>
              <a:t>new</a:t>
            </a:r>
            <a:r>
              <a:rPr lang="en-US" dirty="0">
                <a:solidFill>
                  <a:srgbClr val="000000"/>
                </a:solidFill>
                <a:highlight>
                  <a:srgbClr val="FFFF00"/>
                </a:highlight>
                <a:latin typeface="Consolas" panose="020B0609020204030204" pitchFamily="49" charset="0"/>
              </a:rPr>
              <a:t> </a:t>
            </a:r>
            <a:r>
              <a:rPr lang="en-US" dirty="0" err="1">
                <a:solidFill>
                  <a:srgbClr val="267F99"/>
                </a:solidFill>
                <a:highlight>
                  <a:srgbClr val="FFFF00"/>
                </a:highlight>
                <a:latin typeface="Consolas" panose="020B0609020204030204" pitchFamily="49" charset="0"/>
              </a:rPr>
              <a:t>RequireHttpsAttribute</a:t>
            </a:r>
            <a:r>
              <a:rPr lang="en-US" dirty="0">
                <a:solidFill>
                  <a:srgbClr val="000000"/>
                </a:solidFill>
                <a:highlight>
                  <a:srgbClr val="FFFF00"/>
                </a:highlight>
                <a:latin typeface="Consolas" panose="020B0609020204030204" pitchFamily="49" charset="0"/>
              </a:rPr>
              <a:t>());</a:t>
            </a:r>
          </a:p>
          <a:p>
            <a:pPr lvl="1"/>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9164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Authorization</a:t>
            </a:r>
          </a:p>
        </p:txBody>
      </p:sp>
      <p:sp>
        <p:nvSpPr>
          <p:cNvPr id="3" name="Content Placeholder 2"/>
          <p:cNvSpPr>
            <a:spLocks noGrp="1"/>
          </p:cNvSpPr>
          <p:nvPr>
            <p:ph idx="1"/>
          </p:nvPr>
        </p:nvSpPr>
        <p:spPr/>
        <p:txBody>
          <a:bodyPr/>
          <a:lstStyle/>
          <a:p>
            <a:pPr marL="342900" indent="-342900">
              <a:buFont typeface="Wingdings" panose="05000000000000000000" pitchFamily="2" charset="2"/>
              <a:buChar char="§"/>
            </a:pPr>
            <a:r>
              <a:rPr lang="en-US" b="1" dirty="0"/>
              <a:t>Redirects all HTTP requests to HTTPS:</a:t>
            </a:r>
            <a:endParaRPr lang="en-US" dirty="0"/>
          </a:p>
          <a:p>
            <a:endParaRPr lang="en-US" dirty="0"/>
          </a:p>
          <a:p>
            <a:endParaRPr lang="en-US" dirty="0"/>
          </a:p>
          <a:p>
            <a:endParaRPr lang="en-US" dirty="0"/>
          </a:p>
          <a:p>
            <a:endParaRPr lang="en-US" dirty="0"/>
          </a:p>
          <a:p>
            <a:endParaRPr lang="en-US" dirty="0"/>
          </a:p>
          <a:p>
            <a:endParaRPr lang="en-US" dirty="0"/>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endParaRPr lang="en-US" dirty="0"/>
          </a:p>
          <a:p>
            <a:r>
              <a:rPr lang="en-US" dirty="0"/>
              <a:t>Further reading: </a:t>
            </a:r>
            <a:r>
              <a:rPr lang="en-US" dirty="0">
                <a:hlinkClick r:id="rId2"/>
              </a:rPr>
              <a:t>docs.microsoft.com/</a:t>
            </a:r>
            <a:r>
              <a:rPr lang="en-US" dirty="0" err="1">
                <a:hlinkClick r:id="rId2"/>
              </a:rPr>
              <a:t>en</a:t>
            </a:r>
            <a:r>
              <a:rPr lang="en-US" dirty="0">
                <a:hlinkClick r:id="rId2"/>
              </a:rPr>
              <a:t>-us/</a:t>
            </a:r>
            <a:r>
              <a:rPr lang="en-US" dirty="0" err="1">
                <a:hlinkClick r:id="rId2"/>
              </a:rPr>
              <a:t>aspnet</a:t>
            </a:r>
            <a:r>
              <a:rPr lang="en-US" dirty="0">
                <a:hlinkClick r:id="rId2"/>
              </a:rPr>
              <a:t>/core/security/enforcing-</a:t>
            </a:r>
            <a:r>
              <a:rPr lang="en-US" dirty="0" err="1">
                <a:hlinkClick r:id="rId2"/>
              </a:rPr>
              <a:t>ssl</a:t>
            </a:r>
            <a:r>
              <a:rPr lang="en-US" dirty="0"/>
              <a:t> </a:t>
            </a:r>
          </a:p>
        </p:txBody>
      </p:sp>
      <p:sp>
        <p:nvSpPr>
          <p:cNvPr id="7" name="Text Placeholder 6">
            <a:extLst>
              <a:ext uri="{FF2B5EF4-FFF2-40B4-BE49-F238E27FC236}">
                <a16:creationId xmlns:a16="http://schemas.microsoft.com/office/drawing/2014/main" id="{84636B64-81FE-4CEC-AF73-3F463C128453}"/>
              </a:ext>
            </a:extLst>
          </p:cNvPr>
          <p:cNvSpPr>
            <a:spLocks noGrp="1"/>
          </p:cNvSpPr>
          <p:nvPr>
            <p:ph type="body" sz="quarter" idx="10"/>
          </p:nvPr>
        </p:nvSpPr>
        <p:spPr/>
        <p:txBody>
          <a:bodyPr/>
          <a:lstStyle/>
          <a:p>
            <a:r>
              <a:rPr lang="en-US" dirty="0"/>
              <a:t>Enforcing SSL </a:t>
            </a:r>
          </a:p>
        </p:txBody>
      </p:sp>
      <p:sp>
        <p:nvSpPr>
          <p:cNvPr id="8" name="Rectangle 7">
            <a:extLst>
              <a:ext uri="{FF2B5EF4-FFF2-40B4-BE49-F238E27FC236}">
                <a16:creationId xmlns:a16="http://schemas.microsoft.com/office/drawing/2014/main" id="{1E873B15-4260-4A4A-80A2-CC6C0CA74DD4}"/>
              </a:ext>
            </a:extLst>
          </p:cNvPr>
          <p:cNvSpPr/>
          <p:nvPr/>
        </p:nvSpPr>
        <p:spPr>
          <a:xfrm>
            <a:off x="1503562" y="2204864"/>
            <a:ext cx="9356476" cy="2862322"/>
          </a:xfrm>
          <a:prstGeom prst="rect">
            <a:avLst/>
          </a:prstGeom>
          <a:solidFill>
            <a:schemeClr val="bg1"/>
          </a:solidFill>
        </p:spPr>
        <p:txBody>
          <a:bodyPr wrap="square">
            <a:spAutoFit/>
          </a:bodyPr>
          <a:lstStyle/>
          <a:p>
            <a:r>
              <a:rPr lang="ro-RO" sz="1800" dirty="0">
                <a:solidFill>
                  <a:srgbClr val="0000FF"/>
                </a:solidFill>
                <a:latin typeface="Consolas" panose="020B0609020204030204" pitchFamily="49" charset="0"/>
              </a:rPr>
              <a:t>public</a:t>
            </a:r>
            <a:r>
              <a:rPr lang="ro-RO" sz="1800" dirty="0">
                <a:solidFill>
                  <a:srgbClr val="000000"/>
                </a:solidFill>
                <a:latin typeface="Consolas" panose="020B0609020204030204" pitchFamily="49" charset="0"/>
              </a:rPr>
              <a:t> </a:t>
            </a:r>
            <a:r>
              <a:rPr lang="ro-RO" sz="1800" dirty="0" err="1">
                <a:solidFill>
                  <a:srgbClr val="0000FF"/>
                </a:solidFill>
                <a:latin typeface="Consolas" panose="020B0609020204030204" pitchFamily="49" charset="0"/>
              </a:rPr>
              <a:t>void</a:t>
            </a:r>
            <a:r>
              <a:rPr lang="ro-RO" sz="1800" dirty="0">
                <a:solidFill>
                  <a:srgbClr val="000000"/>
                </a:solidFill>
                <a:latin typeface="Consolas" panose="020B0609020204030204" pitchFamily="49" charset="0"/>
              </a:rPr>
              <a:t> </a:t>
            </a:r>
            <a:r>
              <a:rPr lang="ro-RO" sz="1800" dirty="0" err="1">
                <a:solidFill>
                  <a:srgbClr val="000000"/>
                </a:solidFill>
                <a:latin typeface="Consolas" panose="020B0609020204030204" pitchFamily="49" charset="0"/>
              </a:rPr>
              <a:t>Configure</a:t>
            </a:r>
            <a:r>
              <a:rPr lang="ro-RO" sz="1800" dirty="0">
                <a:solidFill>
                  <a:srgbClr val="000000"/>
                </a:solidFill>
                <a:latin typeface="Consolas" panose="020B0609020204030204" pitchFamily="49" charset="0"/>
              </a:rPr>
              <a:t>(</a:t>
            </a:r>
            <a:r>
              <a:rPr lang="ro-RO" sz="1800" dirty="0" err="1">
                <a:solidFill>
                  <a:srgbClr val="000000"/>
                </a:solidFill>
                <a:latin typeface="Consolas" panose="020B0609020204030204" pitchFamily="49" charset="0"/>
              </a:rPr>
              <a:t>IApplicationBuilder</a:t>
            </a:r>
            <a:r>
              <a:rPr lang="ro-RO" sz="1800" dirty="0">
                <a:solidFill>
                  <a:srgbClr val="000000"/>
                </a:solidFill>
                <a:latin typeface="Consolas" panose="020B0609020204030204" pitchFamily="49" charset="0"/>
              </a:rPr>
              <a:t> </a:t>
            </a:r>
            <a:r>
              <a:rPr lang="ro-RO" sz="1800" dirty="0" err="1">
                <a:solidFill>
                  <a:srgbClr val="000000"/>
                </a:solidFill>
                <a:latin typeface="Consolas" panose="020B0609020204030204" pitchFamily="49" charset="0"/>
              </a:rPr>
              <a:t>app</a:t>
            </a:r>
            <a:r>
              <a:rPr lang="ro-RO" sz="1800" dirty="0">
                <a:solidFill>
                  <a:srgbClr val="000000"/>
                </a:solidFill>
                <a:latin typeface="Consolas" panose="020B0609020204030204" pitchFamily="49" charset="0"/>
              </a:rPr>
              <a:t>, </a:t>
            </a:r>
            <a:r>
              <a:rPr lang="ro-RO" sz="1800" dirty="0" err="1">
                <a:solidFill>
                  <a:srgbClr val="000000"/>
                </a:solidFill>
                <a:latin typeface="Consolas" panose="020B0609020204030204" pitchFamily="49" charset="0"/>
              </a:rPr>
              <a:t>IHostingEnvironment</a:t>
            </a:r>
            <a:r>
              <a:rPr lang="ro-RO" sz="1800" dirty="0">
                <a:solidFill>
                  <a:srgbClr val="000000"/>
                </a:solidFill>
                <a:latin typeface="Consolas" panose="020B0609020204030204" pitchFamily="49" charset="0"/>
              </a:rPr>
              <a:t> </a:t>
            </a:r>
            <a:r>
              <a:rPr lang="ro-RO" sz="1800" dirty="0" err="1">
                <a:solidFill>
                  <a:srgbClr val="000000"/>
                </a:solidFill>
                <a:latin typeface="Consolas" panose="020B0609020204030204" pitchFamily="49" charset="0"/>
              </a:rPr>
              <a:t>env</a:t>
            </a:r>
            <a:r>
              <a:rPr lang="ro-RO" sz="1800" dirty="0">
                <a:solidFill>
                  <a:srgbClr val="000000"/>
                </a:solidFill>
                <a:latin typeface="Consolas" panose="020B0609020204030204" pitchFamily="49" charset="0"/>
              </a:rPr>
              <a:t>)</a:t>
            </a:r>
          </a:p>
          <a:p>
            <a:r>
              <a:rPr lang="ro-RO" sz="1800" dirty="0">
                <a:solidFill>
                  <a:srgbClr val="000000"/>
                </a:solidFill>
                <a:latin typeface="Consolas" panose="020B0609020204030204" pitchFamily="49" charset="0"/>
              </a:rPr>
              <a:t>{</a:t>
            </a:r>
          </a:p>
          <a:p>
            <a:r>
              <a:rPr lang="ro-RO"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t>
            </a:r>
            <a:endParaRPr lang="ro-RO" sz="1800" dirty="0">
              <a:solidFill>
                <a:srgbClr val="000000"/>
              </a:solidFill>
              <a:latin typeface="Consolas" panose="020B0609020204030204" pitchFamily="49" charset="0"/>
            </a:endParaRPr>
          </a:p>
          <a:p>
            <a:endParaRPr lang="ro-RO" sz="1800" dirty="0">
              <a:solidFill>
                <a:srgbClr val="000000"/>
              </a:solidFill>
              <a:latin typeface="Consolas" panose="020B0609020204030204" pitchFamily="49" charset="0"/>
            </a:endParaRPr>
          </a:p>
          <a:p>
            <a:r>
              <a:rPr lang="ro-RO" sz="1800" dirty="0">
                <a:solidFill>
                  <a:srgbClr val="000000"/>
                </a:solidFill>
                <a:latin typeface="Consolas" panose="020B0609020204030204" pitchFamily="49" charset="0"/>
              </a:rPr>
              <a:t>    </a:t>
            </a:r>
            <a:r>
              <a:rPr lang="ro-RO" sz="1800" dirty="0" err="1">
                <a:solidFill>
                  <a:srgbClr val="000000"/>
                </a:solidFill>
                <a:highlight>
                  <a:srgbClr val="FFFF00"/>
                </a:highlight>
                <a:latin typeface="Consolas" panose="020B0609020204030204" pitchFamily="49" charset="0"/>
              </a:rPr>
              <a:t>app.UseHttpsRedirection</a:t>
            </a:r>
            <a:r>
              <a:rPr lang="ro-RO" sz="1800" dirty="0">
                <a:solidFill>
                  <a:srgbClr val="000000"/>
                </a:solidFill>
                <a:highlight>
                  <a:srgbClr val="FFFF00"/>
                </a:highlight>
                <a:latin typeface="Consolas" panose="020B0609020204030204" pitchFamily="49" charset="0"/>
              </a:rPr>
              <a:t>();</a:t>
            </a:r>
          </a:p>
          <a:p>
            <a:r>
              <a:rPr lang="ro-RO" sz="1800" dirty="0">
                <a:solidFill>
                  <a:srgbClr val="000000"/>
                </a:solidFill>
                <a:latin typeface="Consolas" panose="020B0609020204030204" pitchFamily="49" charset="0"/>
              </a:rPr>
              <a:t>    </a:t>
            </a:r>
            <a:r>
              <a:rPr lang="ro-RO" sz="1800" dirty="0" err="1">
                <a:solidFill>
                  <a:srgbClr val="000000"/>
                </a:solidFill>
                <a:latin typeface="Consolas" panose="020B0609020204030204" pitchFamily="49" charset="0"/>
              </a:rPr>
              <a:t>app.UseStaticFiles</a:t>
            </a:r>
            <a:r>
              <a:rPr lang="ro-RO" sz="1800" dirty="0">
                <a:solidFill>
                  <a:srgbClr val="000000"/>
                </a:solidFill>
                <a:latin typeface="Consolas" panose="020B0609020204030204" pitchFamily="49" charset="0"/>
              </a:rPr>
              <a:t>();</a:t>
            </a:r>
          </a:p>
          <a:p>
            <a:r>
              <a:rPr lang="ro-RO" sz="1800" dirty="0">
                <a:solidFill>
                  <a:srgbClr val="000000"/>
                </a:solidFill>
                <a:latin typeface="Consolas" panose="020B0609020204030204" pitchFamily="49" charset="0"/>
              </a:rPr>
              <a:t>    </a:t>
            </a:r>
            <a:r>
              <a:rPr lang="ro-RO" sz="1800" dirty="0" err="1">
                <a:solidFill>
                  <a:srgbClr val="000000"/>
                </a:solidFill>
                <a:latin typeface="Consolas" panose="020B0609020204030204" pitchFamily="49" charset="0"/>
              </a:rPr>
              <a:t>app.UseCookiePolicy</a:t>
            </a:r>
            <a:r>
              <a:rPr lang="ro-RO" sz="1800" dirty="0">
                <a:solidFill>
                  <a:srgbClr val="000000"/>
                </a:solidFill>
                <a:latin typeface="Consolas" panose="020B0609020204030204" pitchFamily="49" charset="0"/>
              </a:rPr>
              <a:t>();</a:t>
            </a:r>
          </a:p>
          <a:p>
            <a:endParaRPr lang="ro-RO" sz="1800" dirty="0">
              <a:solidFill>
                <a:srgbClr val="000000"/>
              </a:solidFill>
              <a:latin typeface="Consolas" panose="020B0609020204030204" pitchFamily="49" charset="0"/>
            </a:endParaRPr>
          </a:p>
          <a:p>
            <a:r>
              <a:rPr lang="ro-RO" sz="1800" dirty="0">
                <a:solidFill>
                  <a:srgbClr val="000000"/>
                </a:solidFill>
                <a:latin typeface="Consolas" panose="020B0609020204030204" pitchFamily="49" charset="0"/>
              </a:rPr>
              <a:t>    </a:t>
            </a:r>
            <a:r>
              <a:rPr lang="ro-RO" sz="1800" dirty="0" err="1">
                <a:solidFill>
                  <a:srgbClr val="000000"/>
                </a:solidFill>
                <a:latin typeface="Consolas" panose="020B0609020204030204" pitchFamily="49" charset="0"/>
              </a:rPr>
              <a:t>app.UseMvc</a:t>
            </a:r>
            <a:r>
              <a:rPr lang="ro-RO" sz="1800" dirty="0">
                <a:solidFill>
                  <a:srgbClr val="000000"/>
                </a:solidFill>
                <a:latin typeface="Consolas" panose="020B0609020204030204" pitchFamily="49" charset="0"/>
              </a:rPr>
              <a:t>();</a:t>
            </a:r>
          </a:p>
          <a:p>
            <a:r>
              <a:rPr lang="ro-RO" sz="1800" dirty="0">
                <a:solidFill>
                  <a:srgbClr val="000000"/>
                </a:solidFill>
                <a:latin typeface="Consolas" panose="020B0609020204030204" pitchFamily="49" charset="0"/>
              </a:rPr>
              <a:t>}</a:t>
            </a:r>
            <a:endParaRPr lang="en-US" b="0" dirty="0">
              <a:solidFill>
                <a:srgbClr val="000000"/>
              </a:solidFill>
              <a:effectLst/>
              <a:highlight>
                <a:srgbClr val="FFFF00"/>
              </a:highlight>
              <a:latin typeface="Consolas" panose="020B0609020204030204" pitchFamily="49" charset="0"/>
            </a:endParaRPr>
          </a:p>
        </p:txBody>
      </p:sp>
    </p:spTree>
    <p:extLst>
      <p:ext uri="{BB962C8B-B14F-4D97-AF65-F5344CB8AC3E}">
        <p14:creationId xmlns:p14="http://schemas.microsoft.com/office/powerpoint/2010/main" val="4121534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Authorization</a:t>
            </a:r>
          </a:p>
        </p:txBody>
      </p:sp>
      <p:sp>
        <p:nvSpPr>
          <p:cNvPr id="3" name="Content Placeholder 2"/>
          <p:cNvSpPr>
            <a:spLocks noGrp="1"/>
          </p:cNvSpPr>
          <p:nvPr>
            <p:ph idx="1"/>
          </p:nvPr>
        </p:nvSpPr>
        <p:spPr/>
        <p:txBody>
          <a:bodyPr/>
          <a:lstStyle/>
          <a:p>
            <a:pPr marL="342900" indent="-342900">
              <a:buFont typeface="Wingdings" panose="05000000000000000000" pitchFamily="2" charset="2"/>
              <a:buChar char="§"/>
            </a:pPr>
            <a:r>
              <a:rPr lang="en-US" b="1" dirty="0"/>
              <a:t>Is an opt-in security enhancement that's specified by a web app through the use of a response header. </a:t>
            </a:r>
          </a:p>
          <a:p>
            <a:pPr marL="342900" indent="-342900">
              <a:buFont typeface="Wingdings" panose="05000000000000000000" pitchFamily="2" charset="2"/>
              <a:buChar char="§"/>
            </a:pPr>
            <a:endParaRPr lang="en-US" b="1" dirty="0"/>
          </a:p>
          <a:p>
            <a:pPr marL="342900" indent="-342900">
              <a:buFont typeface="Wingdings" panose="05000000000000000000" pitchFamily="2" charset="2"/>
              <a:buChar char="§"/>
            </a:pPr>
            <a:r>
              <a:rPr lang="en-US" b="1" dirty="0"/>
              <a:t>When a browser that supports HSTS receives this header:</a:t>
            </a:r>
          </a:p>
          <a:p>
            <a:pPr marL="597150" lvl="1" indent="-342900">
              <a:buFont typeface="Wingdings" panose="05000000000000000000" pitchFamily="2" charset="2"/>
              <a:buChar char="§"/>
            </a:pPr>
            <a:r>
              <a:rPr lang="en-US" b="1" dirty="0"/>
              <a:t>The browser stores configuration for the domain that prevents sending any communication over HTTP. The browser forces all communication over HTTPS.</a:t>
            </a:r>
          </a:p>
          <a:p>
            <a:pPr marL="597150" lvl="1" indent="-342900">
              <a:buFont typeface="Wingdings" panose="05000000000000000000" pitchFamily="2" charset="2"/>
              <a:buChar char="§"/>
            </a:pPr>
            <a:r>
              <a:rPr lang="en-US" b="1" dirty="0"/>
              <a:t>The browser prevents the user from using untrusted or invalid certificates. The browser disables prompts that allow a user to temporarily trust such a certificate.</a:t>
            </a:r>
          </a:p>
          <a:p>
            <a:pPr marL="597150" lvl="1" indent="-342900">
              <a:buFont typeface="Wingdings" panose="05000000000000000000" pitchFamily="2" charset="2"/>
              <a:buChar char="§"/>
            </a:pPr>
            <a:endParaRPr lang="en-US" b="1" dirty="0"/>
          </a:p>
          <a:p>
            <a:pPr marL="342900" indent="-342900">
              <a:buFont typeface="Wingdings" panose="05000000000000000000" pitchFamily="2" charset="2"/>
              <a:buChar char="§"/>
            </a:pPr>
            <a:r>
              <a:rPr lang="en-US" b="1" dirty="0"/>
              <a:t>Further details: </a:t>
            </a:r>
            <a:r>
              <a:rPr lang="en-US" dirty="0">
                <a:hlinkClick r:id="rId2"/>
              </a:rPr>
              <a:t>docs.microsoft.com/</a:t>
            </a:r>
            <a:r>
              <a:rPr lang="en-US" dirty="0" err="1">
                <a:hlinkClick r:id="rId2"/>
              </a:rPr>
              <a:t>en</a:t>
            </a:r>
            <a:r>
              <a:rPr lang="en-US" dirty="0">
                <a:hlinkClick r:id="rId2"/>
              </a:rPr>
              <a:t>-us/</a:t>
            </a:r>
            <a:r>
              <a:rPr lang="en-US" dirty="0" err="1">
                <a:hlinkClick r:id="rId2"/>
              </a:rPr>
              <a:t>aspnet</a:t>
            </a:r>
            <a:r>
              <a:rPr lang="en-US" dirty="0">
                <a:hlinkClick r:id="rId2"/>
              </a:rPr>
              <a:t>/core/security/enforcing-</a:t>
            </a:r>
            <a:r>
              <a:rPr lang="en-US" dirty="0" err="1">
                <a:hlinkClick r:id="rId2"/>
              </a:rPr>
              <a:t>ssl</a:t>
            </a:r>
            <a:r>
              <a:rPr lang="en-US" dirty="0"/>
              <a:t> </a:t>
            </a:r>
            <a:endParaRPr lang="en-US" b="1" dirty="0"/>
          </a:p>
        </p:txBody>
      </p:sp>
      <p:sp>
        <p:nvSpPr>
          <p:cNvPr id="7" name="Text Placeholder 6">
            <a:extLst>
              <a:ext uri="{FF2B5EF4-FFF2-40B4-BE49-F238E27FC236}">
                <a16:creationId xmlns:a16="http://schemas.microsoft.com/office/drawing/2014/main" id="{84636B64-81FE-4CEC-AF73-3F463C128453}"/>
              </a:ext>
            </a:extLst>
          </p:cNvPr>
          <p:cNvSpPr>
            <a:spLocks noGrp="1"/>
          </p:cNvSpPr>
          <p:nvPr>
            <p:ph type="body" sz="quarter" idx="10"/>
          </p:nvPr>
        </p:nvSpPr>
        <p:spPr/>
        <p:txBody>
          <a:bodyPr/>
          <a:lstStyle/>
          <a:p>
            <a:r>
              <a:rPr lang="en-US" dirty="0"/>
              <a:t>HTTP Strict Transport Security Protocol (HSTS)</a:t>
            </a:r>
          </a:p>
        </p:txBody>
      </p:sp>
    </p:spTree>
    <p:extLst>
      <p:ext uri="{BB962C8B-B14F-4D97-AF65-F5344CB8AC3E}">
        <p14:creationId xmlns:p14="http://schemas.microsoft.com/office/powerpoint/2010/main" val="2267584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Authorization</a:t>
            </a:r>
          </a:p>
        </p:txBody>
      </p:sp>
      <p:sp>
        <p:nvSpPr>
          <p:cNvPr id="3" name="Content Placeholder 2"/>
          <p:cNvSpPr>
            <a:spLocks noGrp="1"/>
          </p:cNvSpPr>
          <p:nvPr>
            <p:ph idx="1"/>
          </p:nvPr>
        </p:nvSpPr>
        <p:spPr>
          <a:solidFill>
            <a:schemeClr val="bg1"/>
          </a:solidFill>
        </p:spPr>
        <p:txBody>
          <a:bodyPr/>
          <a:lstStyle/>
          <a:p>
            <a:r>
              <a:rPr lang="ro-RO" sz="1800" dirty="0">
                <a:solidFill>
                  <a:srgbClr val="0000FF"/>
                </a:solidFill>
                <a:latin typeface="Consolas" panose="020B0609020204030204" pitchFamily="49" charset="0"/>
              </a:rPr>
              <a:t>public</a:t>
            </a:r>
            <a:r>
              <a:rPr lang="ro-RO" sz="1800" dirty="0">
                <a:solidFill>
                  <a:srgbClr val="000000"/>
                </a:solidFill>
                <a:latin typeface="Consolas" panose="020B0609020204030204" pitchFamily="49" charset="0"/>
              </a:rPr>
              <a:t> </a:t>
            </a:r>
            <a:r>
              <a:rPr lang="ro-RO" sz="1800" dirty="0" err="1">
                <a:solidFill>
                  <a:srgbClr val="0000FF"/>
                </a:solidFill>
                <a:latin typeface="Consolas" panose="020B0609020204030204" pitchFamily="49" charset="0"/>
              </a:rPr>
              <a:t>void</a:t>
            </a:r>
            <a:r>
              <a:rPr lang="ro-RO" sz="1800" dirty="0">
                <a:solidFill>
                  <a:srgbClr val="000000"/>
                </a:solidFill>
                <a:latin typeface="Consolas" panose="020B0609020204030204" pitchFamily="49" charset="0"/>
              </a:rPr>
              <a:t> </a:t>
            </a:r>
            <a:r>
              <a:rPr lang="ro-RO" sz="1800" dirty="0" err="1">
                <a:solidFill>
                  <a:srgbClr val="000000"/>
                </a:solidFill>
                <a:latin typeface="Consolas" panose="020B0609020204030204" pitchFamily="49" charset="0"/>
              </a:rPr>
              <a:t>Configure</a:t>
            </a:r>
            <a:r>
              <a:rPr lang="ro-RO" sz="1800" dirty="0">
                <a:solidFill>
                  <a:srgbClr val="000000"/>
                </a:solidFill>
                <a:latin typeface="Consolas" panose="020B0609020204030204" pitchFamily="49" charset="0"/>
              </a:rPr>
              <a:t>(</a:t>
            </a:r>
            <a:r>
              <a:rPr lang="ro-RO" sz="1800" dirty="0" err="1">
                <a:solidFill>
                  <a:srgbClr val="000000"/>
                </a:solidFill>
                <a:latin typeface="Consolas" panose="020B0609020204030204" pitchFamily="49" charset="0"/>
              </a:rPr>
              <a:t>IApplicationBuilder</a:t>
            </a:r>
            <a:r>
              <a:rPr lang="ro-RO" sz="1800" dirty="0">
                <a:solidFill>
                  <a:srgbClr val="000000"/>
                </a:solidFill>
                <a:latin typeface="Consolas" panose="020B0609020204030204" pitchFamily="49" charset="0"/>
              </a:rPr>
              <a:t> </a:t>
            </a:r>
            <a:r>
              <a:rPr lang="ro-RO" sz="1800" dirty="0" err="1">
                <a:solidFill>
                  <a:srgbClr val="000000"/>
                </a:solidFill>
                <a:latin typeface="Consolas" panose="020B0609020204030204" pitchFamily="49" charset="0"/>
              </a:rPr>
              <a:t>app</a:t>
            </a:r>
            <a:r>
              <a:rPr lang="ro-RO" sz="1800" dirty="0">
                <a:solidFill>
                  <a:srgbClr val="000000"/>
                </a:solidFill>
                <a:latin typeface="Consolas" panose="020B0609020204030204" pitchFamily="49" charset="0"/>
              </a:rPr>
              <a:t>, </a:t>
            </a:r>
            <a:r>
              <a:rPr lang="ro-RO" sz="1800" dirty="0" err="1">
                <a:solidFill>
                  <a:srgbClr val="000000"/>
                </a:solidFill>
                <a:latin typeface="Consolas" panose="020B0609020204030204" pitchFamily="49" charset="0"/>
              </a:rPr>
              <a:t>IHostingEnvironment</a:t>
            </a:r>
            <a:r>
              <a:rPr lang="ro-RO" sz="1800" dirty="0">
                <a:solidFill>
                  <a:srgbClr val="000000"/>
                </a:solidFill>
                <a:latin typeface="Consolas" panose="020B0609020204030204" pitchFamily="49" charset="0"/>
              </a:rPr>
              <a:t> </a:t>
            </a:r>
            <a:r>
              <a:rPr lang="ro-RO" sz="1800" dirty="0" err="1">
                <a:solidFill>
                  <a:srgbClr val="000000"/>
                </a:solidFill>
                <a:latin typeface="Consolas" panose="020B0609020204030204" pitchFamily="49" charset="0"/>
              </a:rPr>
              <a:t>env</a:t>
            </a:r>
            <a:r>
              <a:rPr lang="ro-RO" sz="1800" dirty="0">
                <a:solidFill>
                  <a:srgbClr val="000000"/>
                </a:solidFill>
                <a:latin typeface="Consolas" panose="020B0609020204030204" pitchFamily="49" charset="0"/>
              </a:rPr>
              <a:t>)</a:t>
            </a:r>
          </a:p>
          <a:p>
            <a:r>
              <a:rPr lang="ro-RO" sz="1800" dirty="0">
                <a:solidFill>
                  <a:srgbClr val="000000"/>
                </a:solidFill>
                <a:latin typeface="Consolas" panose="020B0609020204030204" pitchFamily="49" charset="0"/>
              </a:rPr>
              <a:t>{</a:t>
            </a:r>
          </a:p>
          <a:p>
            <a:r>
              <a:rPr lang="ro-RO" sz="1800" dirty="0">
                <a:solidFill>
                  <a:srgbClr val="000000"/>
                </a:solidFill>
                <a:latin typeface="Consolas" panose="020B0609020204030204" pitchFamily="49" charset="0"/>
              </a:rPr>
              <a:t>    </a:t>
            </a:r>
            <a:r>
              <a:rPr lang="ro-RO" sz="1800" dirty="0" err="1">
                <a:solidFill>
                  <a:srgbClr val="0000FF"/>
                </a:solidFill>
                <a:latin typeface="Consolas" panose="020B0609020204030204" pitchFamily="49" charset="0"/>
              </a:rPr>
              <a:t>if</a:t>
            </a:r>
            <a:r>
              <a:rPr lang="ro-RO" sz="1800" dirty="0">
                <a:solidFill>
                  <a:srgbClr val="000000"/>
                </a:solidFill>
                <a:latin typeface="Consolas" panose="020B0609020204030204" pitchFamily="49" charset="0"/>
              </a:rPr>
              <a:t> (</a:t>
            </a:r>
            <a:r>
              <a:rPr lang="ro-RO" sz="1800" dirty="0" err="1">
                <a:solidFill>
                  <a:srgbClr val="000000"/>
                </a:solidFill>
                <a:latin typeface="Consolas" panose="020B0609020204030204" pitchFamily="49" charset="0"/>
              </a:rPr>
              <a:t>env.IsDevelopment</a:t>
            </a:r>
            <a:r>
              <a:rPr lang="ro-RO" sz="1800" dirty="0">
                <a:solidFill>
                  <a:srgbClr val="000000"/>
                </a:solidFill>
                <a:latin typeface="Consolas" panose="020B0609020204030204" pitchFamily="49" charset="0"/>
              </a:rPr>
              <a:t>())</a:t>
            </a:r>
          </a:p>
          <a:p>
            <a:r>
              <a:rPr lang="ro-RO" sz="1800" dirty="0">
                <a:solidFill>
                  <a:srgbClr val="000000"/>
                </a:solidFill>
                <a:latin typeface="Consolas" panose="020B0609020204030204" pitchFamily="49" charset="0"/>
              </a:rPr>
              <a:t>    {</a:t>
            </a:r>
          </a:p>
          <a:p>
            <a:r>
              <a:rPr lang="ro-RO" sz="1800" dirty="0">
                <a:solidFill>
                  <a:srgbClr val="000000"/>
                </a:solidFill>
                <a:latin typeface="Consolas" panose="020B0609020204030204" pitchFamily="49" charset="0"/>
              </a:rPr>
              <a:t>        </a:t>
            </a:r>
            <a:r>
              <a:rPr lang="ro-RO" sz="1800" dirty="0" err="1">
                <a:solidFill>
                  <a:srgbClr val="000000"/>
                </a:solidFill>
                <a:latin typeface="Consolas" panose="020B0609020204030204" pitchFamily="49" charset="0"/>
              </a:rPr>
              <a:t>app.UseDeveloperExceptionPage</a:t>
            </a:r>
            <a:r>
              <a:rPr lang="ro-RO" sz="1800" dirty="0">
                <a:solidFill>
                  <a:srgbClr val="000000"/>
                </a:solidFill>
                <a:latin typeface="Consolas" panose="020B0609020204030204" pitchFamily="49" charset="0"/>
              </a:rPr>
              <a:t>();</a:t>
            </a:r>
          </a:p>
          <a:p>
            <a:r>
              <a:rPr lang="ro-RO" sz="1800" dirty="0">
                <a:solidFill>
                  <a:srgbClr val="000000"/>
                </a:solidFill>
                <a:latin typeface="Consolas" panose="020B0609020204030204" pitchFamily="49" charset="0"/>
              </a:rPr>
              <a:t>    }</a:t>
            </a:r>
          </a:p>
          <a:p>
            <a:r>
              <a:rPr lang="ro-RO" sz="1800" dirty="0">
                <a:solidFill>
                  <a:srgbClr val="000000"/>
                </a:solidFill>
                <a:latin typeface="Consolas" panose="020B0609020204030204" pitchFamily="49" charset="0"/>
              </a:rPr>
              <a:t>    </a:t>
            </a:r>
            <a:r>
              <a:rPr lang="ro-RO" sz="1800" dirty="0" err="1">
                <a:solidFill>
                  <a:srgbClr val="0000FF"/>
                </a:solidFill>
                <a:latin typeface="Consolas" panose="020B0609020204030204" pitchFamily="49" charset="0"/>
              </a:rPr>
              <a:t>else</a:t>
            </a:r>
            <a:endParaRPr lang="ro-RO" sz="1800" dirty="0">
              <a:solidFill>
                <a:srgbClr val="000000"/>
              </a:solidFill>
              <a:latin typeface="Consolas" panose="020B0609020204030204" pitchFamily="49" charset="0"/>
            </a:endParaRPr>
          </a:p>
          <a:p>
            <a:r>
              <a:rPr lang="ro-RO" sz="1800" dirty="0">
                <a:solidFill>
                  <a:srgbClr val="000000"/>
                </a:solidFill>
                <a:latin typeface="Consolas" panose="020B0609020204030204" pitchFamily="49" charset="0"/>
              </a:rPr>
              <a:t>    {</a:t>
            </a:r>
          </a:p>
          <a:p>
            <a:r>
              <a:rPr lang="ro-RO" sz="1800" dirty="0">
                <a:solidFill>
                  <a:srgbClr val="000000"/>
                </a:solidFill>
                <a:latin typeface="Consolas" panose="020B0609020204030204" pitchFamily="49" charset="0"/>
              </a:rPr>
              <a:t>        </a:t>
            </a:r>
            <a:r>
              <a:rPr lang="ro-RO" sz="1800" dirty="0" err="1">
                <a:solidFill>
                  <a:srgbClr val="000000"/>
                </a:solidFill>
                <a:latin typeface="Consolas" panose="020B0609020204030204" pitchFamily="49" charset="0"/>
              </a:rPr>
              <a:t>app.UseExceptionHandler</a:t>
            </a:r>
            <a:r>
              <a:rPr lang="ro-RO" sz="1800" dirty="0">
                <a:solidFill>
                  <a:srgbClr val="000000"/>
                </a:solidFill>
                <a:latin typeface="Consolas" panose="020B0609020204030204" pitchFamily="49" charset="0"/>
              </a:rPr>
              <a:t>(</a:t>
            </a:r>
            <a:r>
              <a:rPr lang="ro-RO" sz="1800" dirty="0">
                <a:solidFill>
                  <a:srgbClr val="A31515"/>
                </a:solidFill>
                <a:latin typeface="Consolas" panose="020B0609020204030204" pitchFamily="49" charset="0"/>
              </a:rPr>
              <a:t>"/</a:t>
            </a:r>
            <a:r>
              <a:rPr lang="ro-RO" sz="1800" dirty="0" err="1">
                <a:solidFill>
                  <a:srgbClr val="A31515"/>
                </a:solidFill>
                <a:latin typeface="Consolas" panose="020B0609020204030204" pitchFamily="49" charset="0"/>
              </a:rPr>
              <a:t>Error</a:t>
            </a:r>
            <a:r>
              <a:rPr lang="ro-RO" sz="1800" dirty="0">
                <a:solidFill>
                  <a:srgbClr val="A31515"/>
                </a:solidFill>
                <a:latin typeface="Consolas" panose="020B0609020204030204" pitchFamily="49" charset="0"/>
              </a:rPr>
              <a:t>"</a:t>
            </a:r>
            <a:r>
              <a:rPr lang="ro-RO" sz="1800" dirty="0">
                <a:solidFill>
                  <a:srgbClr val="000000"/>
                </a:solidFill>
                <a:latin typeface="Consolas" panose="020B0609020204030204" pitchFamily="49" charset="0"/>
              </a:rPr>
              <a:t>);</a:t>
            </a:r>
          </a:p>
          <a:p>
            <a:r>
              <a:rPr lang="ro-RO" sz="1800" dirty="0">
                <a:solidFill>
                  <a:srgbClr val="000000"/>
                </a:solidFill>
                <a:latin typeface="Consolas" panose="020B0609020204030204" pitchFamily="49" charset="0"/>
              </a:rPr>
              <a:t>        </a:t>
            </a:r>
            <a:r>
              <a:rPr lang="ro-RO" sz="1800" dirty="0" err="1">
                <a:solidFill>
                  <a:srgbClr val="000000"/>
                </a:solidFill>
                <a:highlight>
                  <a:srgbClr val="FFFF00"/>
                </a:highlight>
                <a:latin typeface="Consolas" panose="020B0609020204030204" pitchFamily="49" charset="0"/>
              </a:rPr>
              <a:t>app.UseHsts</a:t>
            </a:r>
            <a:r>
              <a:rPr lang="ro-RO" sz="1800" dirty="0">
                <a:solidFill>
                  <a:srgbClr val="000000"/>
                </a:solidFill>
                <a:highlight>
                  <a:srgbClr val="FFFF00"/>
                </a:highlight>
                <a:latin typeface="Consolas" panose="020B0609020204030204" pitchFamily="49" charset="0"/>
              </a:rPr>
              <a:t>();</a:t>
            </a:r>
          </a:p>
          <a:p>
            <a:r>
              <a:rPr lang="ro-RO" sz="1800" dirty="0">
                <a:solidFill>
                  <a:srgbClr val="000000"/>
                </a:solidFill>
                <a:latin typeface="Consolas" panose="020B0609020204030204" pitchFamily="49" charset="0"/>
              </a:rPr>
              <a:t>    }</a:t>
            </a:r>
          </a:p>
          <a:p>
            <a:r>
              <a:rPr lang="ro-RO" sz="1800" dirty="0">
                <a:solidFill>
                  <a:srgbClr val="000000"/>
                </a:solidFill>
                <a:latin typeface="Consolas" panose="020B0609020204030204" pitchFamily="49" charset="0"/>
              </a:rPr>
              <a:t>    </a:t>
            </a:r>
            <a:r>
              <a:rPr lang="en-US" sz="1800" dirty="0">
                <a:solidFill>
                  <a:srgbClr val="000000"/>
                </a:solidFill>
                <a:latin typeface="Consolas" panose="020B0609020204030204" pitchFamily="49" charset="0"/>
              </a:rPr>
              <a:t>…</a:t>
            </a:r>
            <a:endParaRPr lang="ro-RO" sz="1800" dirty="0">
              <a:solidFill>
                <a:srgbClr val="000000"/>
              </a:solidFill>
              <a:latin typeface="Consolas" panose="020B0609020204030204" pitchFamily="49" charset="0"/>
            </a:endParaRPr>
          </a:p>
          <a:p>
            <a:r>
              <a:rPr lang="ro-RO" sz="1800">
                <a:solidFill>
                  <a:srgbClr val="000000"/>
                </a:solidFill>
                <a:latin typeface="Consolas" panose="020B0609020204030204" pitchFamily="49" charset="0"/>
              </a:rPr>
              <a:t>}</a:t>
            </a:r>
            <a:endParaRPr lang="en-US" b="1" dirty="0"/>
          </a:p>
        </p:txBody>
      </p:sp>
      <p:sp>
        <p:nvSpPr>
          <p:cNvPr id="7" name="Text Placeholder 6">
            <a:extLst>
              <a:ext uri="{FF2B5EF4-FFF2-40B4-BE49-F238E27FC236}">
                <a16:creationId xmlns:a16="http://schemas.microsoft.com/office/drawing/2014/main" id="{84636B64-81FE-4CEC-AF73-3F463C128453}"/>
              </a:ext>
            </a:extLst>
          </p:cNvPr>
          <p:cNvSpPr>
            <a:spLocks noGrp="1"/>
          </p:cNvSpPr>
          <p:nvPr>
            <p:ph type="body" sz="quarter" idx="10"/>
          </p:nvPr>
        </p:nvSpPr>
        <p:spPr/>
        <p:txBody>
          <a:bodyPr/>
          <a:lstStyle/>
          <a:p>
            <a:r>
              <a:rPr lang="en-US" dirty="0"/>
              <a:t>HTTP Strict Transport Security Protocol (HSTS)</a:t>
            </a:r>
          </a:p>
        </p:txBody>
      </p:sp>
    </p:spTree>
    <p:extLst>
      <p:ext uri="{BB962C8B-B14F-4D97-AF65-F5344CB8AC3E}">
        <p14:creationId xmlns:p14="http://schemas.microsoft.com/office/powerpoint/2010/main" val="1435569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3366205155"/>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79646"/>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Win8_Light.potx" id="{E5387C1A-5699-47F6-8577-B65503109946}" vid="{4F6B1FA0-6BD9-4D6D-9FDC-BCD363D75F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24168</TotalTime>
  <Words>2158</Words>
  <Application>Microsoft Office PowerPoint</Application>
  <PresentationFormat>Widescreen</PresentationFormat>
  <Paragraphs>329</Paragraphs>
  <Slides>34</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Calibri</vt:lpstr>
      <vt:lpstr>Consolas</vt:lpstr>
      <vt:lpstr>Segoe UI</vt:lpstr>
      <vt:lpstr>Segoe UI Light</vt:lpstr>
      <vt:lpstr>Segoe WP</vt:lpstr>
      <vt:lpstr>Wingdings</vt:lpstr>
      <vt:lpstr>Office Theme</vt:lpstr>
      <vt:lpstr>Web and Cloud Security</vt:lpstr>
      <vt:lpstr>ASP.NET MVC Core, C# Language</vt:lpstr>
      <vt:lpstr>About me</vt:lpstr>
      <vt:lpstr>Administrative issues</vt:lpstr>
      <vt:lpstr>Administrative issues</vt:lpstr>
      <vt:lpstr>Administrative issues</vt:lpstr>
      <vt:lpstr>Administrative issues</vt:lpstr>
      <vt:lpstr>Contents</vt:lpstr>
      <vt:lpstr>Security in ASP.NET Core</vt:lpstr>
      <vt:lpstr>Authentication</vt:lpstr>
      <vt:lpstr>Authentication</vt:lpstr>
      <vt:lpstr>Authentication</vt:lpstr>
      <vt:lpstr>Authentication</vt:lpstr>
      <vt:lpstr>Authentication</vt:lpstr>
      <vt:lpstr>Authentication</vt:lpstr>
      <vt:lpstr>Authentication</vt:lpstr>
      <vt:lpstr>Authentication</vt:lpstr>
      <vt:lpstr>Authentication</vt:lpstr>
      <vt:lpstr>Authentication</vt:lpstr>
      <vt:lpstr>Authentication</vt:lpstr>
      <vt:lpstr>Authentication</vt:lpstr>
      <vt:lpstr>Authorization</vt:lpstr>
      <vt:lpstr>Authorization</vt:lpstr>
      <vt:lpstr>Authorization</vt:lpstr>
      <vt:lpstr>Authorization</vt:lpstr>
      <vt:lpstr>Authorization</vt:lpstr>
      <vt:lpstr>Authorization</vt:lpstr>
      <vt:lpstr>Authorization</vt:lpstr>
      <vt:lpstr>Enforcing SSL </vt:lpstr>
      <vt:lpstr>Authorization</vt:lpstr>
      <vt:lpstr>Authorization</vt:lpstr>
      <vt:lpstr>Authorization</vt:lpstr>
      <vt:lpstr>Authorization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dc:title>
  <dc:creator>Liviu-Adrian Cotfas</dc:creator>
  <cp:lastModifiedBy>Liviu-Adrian Cotfas</cp:lastModifiedBy>
  <cp:revision>1635</cp:revision>
  <cp:lastPrinted>2017-02-28T05:34:43Z</cp:lastPrinted>
  <dcterms:created xsi:type="dcterms:W3CDTF">2012-12-11T23:13:23Z</dcterms:created>
  <dcterms:modified xsi:type="dcterms:W3CDTF">2026-02-20T23:41:01Z</dcterms:modified>
</cp:coreProperties>
</file>