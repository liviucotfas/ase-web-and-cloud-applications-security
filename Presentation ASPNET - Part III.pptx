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6"/>
  </p:notesMasterIdLst>
  <p:handoutMasterIdLst>
    <p:handoutMasterId r:id="rId37"/>
  </p:handoutMasterIdLst>
  <p:sldIdLst>
    <p:sldId id="493" r:id="rId2"/>
    <p:sldId id="671" r:id="rId3"/>
    <p:sldId id="679" r:id="rId4"/>
    <p:sldId id="830" r:id="rId5"/>
    <p:sldId id="831" r:id="rId6"/>
    <p:sldId id="832" r:id="rId7"/>
    <p:sldId id="833" r:id="rId8"/>
    <p:sldId id="826" r:id="rId9"/>
    <p:sldId id="828" r:id="rId10"/>
    <p:sldId id="809" r:id="rId11"/>
    <p:sldId id="810" r:id="rId12"/>
    <p:sldId id="811" r:id="rId13"/>
    <p:sldId id="812" r:id="rId14"/>
    <p:sldId id="813" r:id="rId15"/>
    <p:sldId id="814" r:id="rId16"/>
    <p:sldId id="815" r:id="rId17"/>
    <p:sldId id="816" r:id="rId18"/>
    <p:sldId id="829" r:id="rId19"/>
    <p:sldId id="819" r:id="rId20"/>
    <p:sldId id="817" r:id="rId21"/>
    <p:sldId id="821" r:id="rId22"/>
    <p:sldId id="820" r:id="rId23"/>
    <p:sldId id="788" r:id="rId24"/>
    <p:sldId id="822" r:id="rId25"/>
    <p:sldId id="823" r:id="rId26"/>
    <p:sldId id="834" r:id="rId27"/>
    <p:sldId id="824" r:id="rId28"/>
    <p:sldId id="825" r:id="rId29"/>
    <p:sldId id="818" r:id="rId30"/>
    <p:sldId id="835" r:id="rId31"/>
    <p:sldId id="790" r:id="rId32"/>
    <p:sldId id="836" r:id="rId33"/>
    <p:sldId id="729" r:id="rId34"/>
    <p:sldId id="827" r:id="rId35"/>
  </p:sldIdLst>
  <p:sldSz cx="12192000" cy="6858000"/>
  <p:notesSz cx="9928225" cy="67976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C276318-ACF1-45C2-B1A5-EAE022325DE9}">
          <p14:sldIdLst>
            <p14:sldId id="493"/>
            <p14:sldId id="671"/>
            <p14:sldId id="679"/>
            <p14:sldId id="830"/>
            <p14:sldId id="831"/>
            <p14:sldId id="832"/>
            <p14:sldId id="833"/>
          </p14:sldIdLst>
        </p14:section>
        <p14:section name="Table of Contents" id="{12230992-AB71-49EB-953D-3D5FE624A6DE}">
          <p14:sldIdLst>
            <p14:sldId id="826"/>
            <p14:sldId id="828"/>
          </p14:sldIdLst>
        </p14:section>
        <p14:section name="Cross-Site Request Forgery (XSRF/CSRF) " id="{87E274A0-8D79-4657-BF00-1D5BC1863E78}">
          <p14:sldIdLst>
            <p14:sldId id="809"/>
            <p14:sldId id="810"/>
            <p14:sldId id="811"/>
            <p14:sldId id="812"/>
            <p14:sldId id="813"/>
            <p14:sldId id="814"/>
            <p14:sldId id="815"/>
            <p14:sldId id="816"/>
            <p14:sldId id="829"/>
            <p14:sldId id="819"/>
            <p14:sldId id="817"/>
            <p14:sldId id="821"/>
            <p14:sldId id="820"/>
            <p14:sldId id="788"/>
          </p14:sldIdLst>
        </p14:section>
        <p14:section name="Cross-Origin Requests (CORS)" id="{4D65A88A-69BB-4B5D-9C60-D5BA753612E3}">
          <p14:sldIdLst>
            <p14:sldId id="822"/>
            <p14:sldId id="823"/>
            <p14:sldId id="834"/>
          </p14:sldIdLst>
        </p14:section>
        <p14:section name="Cross-Site Scripting (XSS)" id="{C54E39C5-14F5-466C-BABB-4B49E3ED504E}">
          <p14:sldIdLst>
            <p14:sldId id="824"/>
            <p14:sldId id="825"/>
          </p14:sldIdLst>
        </p14:section>
        <p14:section name="Security – Other recommendations" id="{1AE92897-8E8C-4C87-AB55-D15B46B8C9BD}">
          <p14:sldIdLst>
            <p14:sldId id="818"/>
            <p14:sldId id="835"/>
            <p14:sldId id="790"/>
            <p14:sldId id="836"/>
          </p14:sldIdLst>
        </p14:section>
        <p14:section name="Thank you" id="{92E11870-417B-43C0-9450-C5636335B098}">
          <p14:sldIdLst>
            <p14:sldId id="729"/>
            <p14:sldId id="82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6800"/>
    <a:srgbClr val="1BA1E2"/>
    <a:srgbClr val="60A917"/>
    <a:srgbClr val="F6F8FC"/>
    <a:srgbClr val="F3F6FB"/>
    <a:srgbClr val="F0F4FA"/>
    <a:srgbClr val="EBF1F9"/>
    <a:srgbClr val="EDF2F9"/>
    <a:srgbClr val="070E1F"/>
    <a:srgbClr val="0912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37" autoAdjust="0"/>
    <p:restoredTop sz="88809" autoAdjust="0"/>
  </p:normalViewPr>
  <p:slideViewPr>
    <p:cSldViewPr>
      <p:cViewPr varScale="1">
        <p:scale>
          <a:sx n="137" d="100"/>
          <a:sy n="137" d="100"/>
        </p:scale>
        <p:origin x="1320" y="13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101" d="100"/>
          <a:sy n="101" d="100"/>
        </p:scale>
        <p:origin x="3552"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4302231" cy="34106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23698" y="1"/>
            <a:ext cx="4302231" cy="341064"/>
          </a:xfrm>
          <a:prstGeom prst="rect">
            <a:avLst/>
          </a:prstGeom>
        </p:spPr>
        <p:txBody>
          <a:bodyPr vert="horz" lIns="91440" tIns="45720" rIns="91440" bIns="45720" rtlCol="0"/>
          <a:lstStyle>
            <a:lvl1pPr algn="r">
              <a:defRPr sz="1200"/>
            </a:lvl1pPr>
          </a:lstStyle>
          <a:p>
            <a:fld id="{CD54E0B9-A397-428E-BA01-CD7A34B572EB}" type="datetimeFigureOut">
              <a:rPr lang="en-US" smtClean="0"/>
              <a:t>2/21/2026</a:t>
            </a:fld>
            <a:endParaRPr lang="en-US"/>
          </a:p>
        </p:txBody>
      </p:sp>
      <p:sp>
        <p:nvSpPr>
          <p:cNvPr id="4" name="Footer Placeholder 3"/>
          <p:cNvSpPr>
            <a:spLocks noGrp="1"/>
          </p:cNvSpPr>
          <p:nvPr>
            <p:ph type="ftr" sz="quarter" idx="2"/>
          </p:nvPr>
        </p:nvSpPr>
        <p:spPr>
          <a:xfrm>
            <a:off x="1" y="6456611"/>
            <a:ext cx="4302231" cy="341064"/>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23698" y="6456611"/>
            <a:ext cx="4302231" cy="341064"/>
          </a:xfrm>
          <a:prstGeom prst="rect">
            <a:avLst/>
          </a:prstGeom>
        </p:spPr>
        <p:txBody>
          <a:bodyPr vert="horz" lIns="91440" tIns="45720" rIns="91440" bIns="45720" rtlCol="0" anchor="b"/>
          <a:lstStyle>
            <a:lvl1pPr algn="r">
              <a:defRPr sz="1200"/>
            </a:lvl1pPr>
          </a:lstStyle>
          <a:p>
            <a:fld id="{CDADDF8D-741E-4E60-BBBE-A5A94FFFA5D4}" type="slidenum">
              <a:rPr lang="en-US" smtClean="0"/>
              <a:t>‹#›</a:t>
            </a:fld>
            <a:endParaRPr lang="en-US"/>
          </a:p>
        </p:txBody>
      </p:sp>
    </p:spTree>
    <p:extLst>
      <p:ext uri="{BB962C8B-B14F-4D97-AF65-F5344CB8AC3E}">
        <p14:creationId xmlns:p14="http://schemas.microsoft.com/office/powerpoint/2010/main" val="32556944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02231" cy="339883"/>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5623698" y="0"/>
            <a:ext cx="4302231" cy="339883"/>
          </a:xfrm>
          <a:prstGeom prst="rect">
            <a:avLst/>
          </a:prstGeom>
        </p:spPr>
        <p:txBody>
          <a:bodyPr vert="horz" lIns="91440" tIns="45720" rIns="91440" bIns="45720" rtlCol="0"/>
          <a:lstStyle>
            <a:lvl1pPr algn="r">
              <a:defRPr sz="1200"/>
            </a:lvl1pPr>
          </a:lstStyle>
          <a:p>
            <a:fld id="{AA161301-18C9-4CA0-A0BF-791B6E0DDD4D}" type="datetimeFigureOut">
              <a:rPr lang="en-GB" smtClean="0"/>
              <a:t>21/02/2026</a:t>
            </a:fld>
            <a:endParaRPr lang="en-GB"/>
          </a:p>
        </p:txBody>
      </p:sp>
      <p:sp>
        <p:nvSpPr>
          <p:cNvPr id="4" name="Slide Image Placeholder 3"/>
          <p:cNvSpPr>
            <a:spLocks noGrp="1" noRot="1" noChangeAspect="1"/>
          </p:cNvSpPr>
          <p:nvPr>
            <p:ph type="sldImg" idx="2"/>
          </p:nvPr>
        </p:nvSpPr>
        <p:spPr>
          <a:xfrm>
            <a:off x="2700338" y="509588"/>
            <a:ext cx="4527550" cy="254793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2826" y="3228897"/>
            <a:ext cx="7942578" cy="30589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6456614"/>
            <a:ext cx="4302231" cy="339883"/>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5623698" y="6456614"/>
            <a:ext cx="4302231" cy="339883"/>
          </a:xfrm>
          <a:prstGeom prst="rect">
            <a:avLst/>
          </a:prstGeom>
        </p:spPr>
        <p:txBody>
          <a:bodyPr vert="horz" lIns="91440" tIns="45720" rIns="91440" bIns="45720" rtlCol="0" anchor="b"/>
          <a:lstStyle>
            <a:lvl1pPr algn="r">
              <a:defRPr sz="1200"/>
            </a:lvl1pPr>
          </a:lstStyle>
          <a:p>
            <a:fld id="{0BF20BA8-12AF-476D-99B2-894C09A4EE62}" type="slidenum">
              <a:rPr lang="en-GB" smtClean="0"/>
              <a:t>‹#›</a:t>
            </a:fld>
            <a:endParaRPr lang="en-GB"/>
          </a:p>
        </p:txBody>
      </p:sp>
    </p:spTree>
    <p:extLst>
      <p:ext uri="{BB962C8B-B14F-4D97-AF65-F5344CB8AC3E}">
        <p14:creationId xmlns:p14="http://schemas.microsoft.com/office/powerpoint/2010/main" val="8117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o-RO" dirty="0"/>
              <a:t>https://www.apress.com/gp/book/9781484252833</a:t>
            </a:r>
          </a:p>
        </p:txBody>
      </p:sp>
      <p:sp>
        <p:nvSpPr>
          <p:cNvPr id="4" name="Slide Number Placeholder 3"/>
          <p:cNvSpPr>
            <a:spLocks noGrp="1"/>
          </p:cNvSpPr>
          <p:nvPr>
            <p:ph type="sldNum" sz="quarter" idx="5"/>
          </p:nvPr>
        </p:nvSpPr>
        <p:spPr/>
        <p:txBody>
          <a:bodyPr/>
          <a:lstStyle/>
          <a:p>
            <a:fld id="{0BF20BA8-12AF-476D-99B2-894C09A4EE62}" type="slidenum">
              <a:rPr lang="en-GB" smtClean="0"/>
              <a:t>4</a:t>
            </a:fld>
            <a:endParaRPr lang="en-GB"/>
          </a:p>
        </p:txBody>
      </p:sp>
    </p:spTree>
    <p:extLst>
      <p:ext uri="{BB962C8B-B14F-4D97-AF65-F5344CB8AC3E}">
        <p14:creationId xmlns:p14="http://schemas.microsoft.com/office/powerpoint/2010/main" val="84239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BF20BA8-12AF-476D-99B2-894C09A4EE62}" type="slidenum">
              <a:rPr lang="en-GB" smtClean="0"/>
              <a:t>10</a:t>
            </a:fld>
            <a:endParaRPr lang="en-GB"/>
          </a:p>
        </p:txBody>
      </p:sp>
    </p:spTree>
    <p:extLst>
      <p:ext uri="{BB962C8B-B14F-4D97-AF65-F5344CB8AC3E}">
        <p14:creationId xmlns:p14="http://schemas.microsoft.com/office/powerpoint/2010/main" val="25465316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11</a:t>
            </a:fld>
            <a:endParaRPr lang="en-GB"/>
          </a:p>
        </p:txBody>
      </p:sp>
    </p:spTree>
    <p:extLst>
      <p:ext uri="{BB962C8B-B14F-4D97-AF65-F5344CB8AC3E}">
        <p14:creationId xmlns:p14="http://schemas.microsoft.com/office/powerpoint/2010/main" val="3143252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12</a:t>
            </a:fld>
            <a:endParaRPr lang="en-GB"/>
          </a:p>
        </p:txBody>
      </p:sp>
    </p:spTree>
    <p:extLst>
      <p:ext uri="{BB962C8B-B14F-4D97-AF65-F5344CB8AC3E}">
        <p14:creationId xmlns:p14="http://schemas.microsoft.com/office/powerpoint/2010/main" val="6813176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13</a:t>
            </a:fld>
            <a:endParaRPr lang="en-GB"/>
          </a:p>
        </p:txBody>
      </p:sp>
    </p:spTree>
    <p:extLst>
      <p:ext uri="{BB962C8B-B14F-4D97-AF65-F5344CB8AC3E}">
        <p14:creationId xmlns:p14="http://schemas.microsoft.com/office/powerpoint/2010/main" val="21643373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14</a:t>
            </a:fld>
            <a:endParaRPr lang="en-GB"/>
          </a:p>
        </p:txBody>
      </p:sp>
    </p:spTree>
    <p:extLst>
      <p:ext uri="{BB962C8B-B14F-4D97-AF65-F5344CB8AC3E}">
        <p14:creationId xmlns:p14="http://schemas.microsoft.com/office/powerpoint/2010/main" val="4088244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15</a:t>
            </a:fld>
            <a:endParaRPr lang="en-GB"/>
          </a:p>
        </p:txBody>
      </p:sp>
    </p:spTree>
    <p:extLst>
      <p:ext uri="{BB962C8B-B14F-4D97-AF65-F5344CB8AC3E}">
        <p14:creationId xmlns:p14="http://schemas.microsoft.com/office/powerpoint/2010/main" val="36138413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16</a:t>
            </a:fld>
            <a:endParaRPr lang="en-GB"/>
          </a:p>
        </p:txBody>
      </p:sp>
    </p:spTree>
    <p:extLst>
      <p:ext uri="{BB962C8B-B14F-4D97-AF65-F5344CB8AC3E}">
        <p14:creationId xmlns:p14="http://schemas.microsoft.com/office/powerpoint/2010/main" val="1145919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17</a:t>
            </a:fld>
            <a:endParaRPr lang="en-GB"/>
          </a:p>
        </p:txBody>
      </p:sp>
    </p:spTree>
    <p:extLst>
      <p:ext uri="{BB962C8B-B14F-4D97-AF65-F5344CB8AC3E}">
        <p14:creationId xmlns:p14="http://schemas.microsoft.com/office/powerpoint/2010/main" val="21520002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18</a:t>
            </a:fld>
            <a:endParaRPr lang="en-GB"/>
          </a:p>
        </p:txBody>
      </p:sp>
    </p:spTree>
    <p:extLst>
      <p:ext uri="{BB962C8B-B14F-4D97-AF65-F5344CB8AC3E}">
        <p14:creationId xmlns:p14="http://schemas.microsoft.com/office/powerpoint/2010/main" val="630818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19</a:t>
            </a:fld>
            <a:endParaRPr lang="en-GB"/>
          </a:p>
        </p:txBody>
      </p:sp>
    </p:spTree>
    <p:extLst>
      <p:ext uri="{BB962C8B-B14F-4D97-AF65-F5344CB8AC3E}">
        <p14:creationId xmlns:p14="http://schemas.microsoft.com/office/powerpoint/2010/main" val="13001936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https://docs.microsoft.com/en-us/aspnet/core/security/anti-request-forgery</a:t>
            </a:r>
          </a:p>
        </p:txBody>
      </p:sp>
      <p:sp>
        <p:nvSpPr>
          <p:cNvPr id="4" name="Slide Number Placeholder 3"/>
          <p:cNvSpPr>
            <a:spLocks noGrp="1"/>
          </p:cNvSpPr>
          <p:nvPr>
            <p:ph type="sldNum" sz="quarter" idx="10"/>
          </p:nvPr>
        </p:nvSpPr>
        <p:spPr/>
        <p:txBody>
          <a:bodyPr/>
          <a:lstStyle/>
          <a:p>
            <a:fld id="{0BF20BA8-12AF-476D-99B2-894C09A4EE62}" type="slidenum">
              <a:rPr lang="en-GB" smtClean="0"/>
              <a:t>23</a:t>
            </a:fld>
            <a:endParaRPr lang="en-GB"/>
          </a:p>
        </p:txBody>
      </p:sp>
    </p:spTree>
    <p:extLst>
      <p:ext uri="{BB962C8B-B14F-4D97-AF65-F5344CB8AC3E}">
        <p14:creationId xmlns:p14="http://schemas.microsoft.com/office/powerpoint/2010/main" val="555990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&lt;script type="text/</a:t>
            </a:r>
            <a:r>
              <a:rPr lang="en-US" dirty="0" err="1"/>
              <a:t>javascript</a:t>
            </a:r>
            <a:r>
              <a:rPr lang="en-US" dirty="0"/>
              <a:t>"&gt;</a:t>
            </a:r>
          </a:p>
          <a:p>
            <a:r>
              <a:rPr lang="en-US" dirty="0"/>
              <a:t>alert("test");</a:t>
            </a:r>
          </a:p>
          <a:p>
            <a:r>
              <a:rPr lang="en-US" dirty="0"/>
              <a:t>&lt;/script&gt;</a:t>
            </a:r>
            <a:endParaRPr lang="ro-RO" dirty="0"/>
          </a:p>
        </p:txBody>
      </p:sp>
      <p:sp>
        <p:nvSpPr>
          <p:cNvPr id="4" name="Slide Number Placeholder 3"/>
          <p:cNvSpPr>
            <a:spLocks noGrp="1"/>
          </p:cNvSpPr>
          <p:nvPr>
            <p:ph type="sldNum" sz="quarter" idx="5"/>
          </p:nvPr>
        </p:nvSpPr>
        <p:spPr/>
        <p:txBody>
          <a:bodyPr/>
          <a:lstStyle/>
          <a:p>
            <a:fld id="{0BF20BA8-12AF-476D-99B2-894C09A4EE62}" type="slidenum">
              <a:rPr lang="en-GB" smtClean="0"/>
              <a:t>28</a:t>
            </a:fld>
            <a:endParaRPr lang="en-GB"/>
          </a:p>
        </p:txBody>
      </p:sp>
    </p:spTree>
    <p:extLst>
      <p:ext uri="{BB962C8B-B14F-4D97-AF65-F5344CB8AC3E}">
        <p14:creationId xmlns:p14="http://schemas.microsoft.com/office/powerpoint/2010/main" val="38086408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ro-RO" dirty="0"/>
          </a:p>
        </p:txBody>
      </p:sp>
      <p:sp>
        <p:nvSpPr>
          <p:cNvPr id="4" name="Slide Number Placeholder 3"/>
          <p:cNvSpPr>
            <a:spLocks noGrp="1"/>
          </p:cNvSpPr>
          <p:nvPr>
            <p:ph type="sldNum" sz="quarter" idx="5"/>
          </p:nvPr>
        </p:nvSpPr>
        <p:spPr/>
        <p:txBody>
          <a:bodyPr/>
          <a:lstStyle/>
          <a:p>
            <a:fld id="{0BF20BA8-12AF-476D-99B2-894C09A4EE62}" type="slidenum">
              <a:rPr lang="en-GB" smtClean="0"/>
              <a:t>30</a:t>
            </a:fld>
            <a:endParaRPr lang="en-GB"/>
          </a:p>
        </p:txBody>
      </p:sp>
    </p:spTree>
    <p:extLst>
      <p:ext uri="{BB962C8B-B14F-4D97-AF65-F5344CB8AC3E}">
        <p14:creationId xmlns:p14="http://schemas.microsoft.com/office/powerpoint/2010/main" val="28045337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pattFill prst="lgGrid">
          <a:fgClr>
            <a:srgbClr val="F6F8FC"/>
          </a:fgClr>
          <a:bgClr>
            <a:schemeClr val="bg1"/>
          </a:bgClr>
        </a:pattFill>
        <a:effectLst/>
      </p:bgPr>
    </p:bg>
    <p:spTree>
      <p:nvGrpSpPr>
        <p:cNvPr id="1" name=""/>
        <p:cNvGrpSpPr/>
        <p:nvPr/>
      </p:nvGrpSpPr>
      <p:grpSpPr>
        <a:xfrm>
          <a:off x="0" y="0"/>
          <a:ext cx="0" cy="0"/>
          <a:chOff x="0" y="0"/>
          <a:chExt cx="0" cy="0"/>
        </a:xfrm>
      </p:grpSpPr>
      <p:sp>
        <p:nvSpPr>
          <p:cNvPr id="9" name="Title 8"/>
          <p:cNvSpPr>
            <a:spLocks noGrp="1"/>
          </p:cNvSpPr>
          <p:nvPr>
            <p:ph type="title"/>
          </p:nvPr>
        </p:nvSpPr>
        <p:spPr>
          <a:xfrm>
            <a:off x="658977" y="2259484"/>
            <a:ext cx="10972800" cy="1143000"/>
          </a:xfrm>
          <a:prstGeom prst="rect">
            <a:avLst/>
          </a:prstGeom>
        </p:spPr>
        <p:txBody>
          <a:bodyPr/>
          <a:lstStyle>
            <a:lvl1pPr algn="ctr">
              <a:defRPr sz="4400">
                <a:solidFill>
                  <a:schemeClr val="tx1">
                    <a:lumMod val="95000"/>
                    <a:lumOff val="5000"/>
                  </a:schemeClr>
                </a:solidFill>
                <a:latin typeface="Segoe UI Light" pitchFamily="34" charset="0"/>
              </a:defRPr>
            </a:lvl1pPr>
          </a:lstStyle>
          <a:p>
            <a:r>
              <a:rPr lang="en-US" dirty="0"/>
              <a:t>Click to edit Master title style</a:t>
            </a:r>
            <a:endParaRPr lang="en-GB" dirty="0"/>
          </a:p>
        </p:txBody>
      </p:sp>
      <p:sp>
        <p:nvSpPr>
          <p:cNvPr id="12" name="Text Placeholder 11"/>
          <p:cNvSpPr>
            <a:spLocks noGrp="1"/>
          </p:cNvSpPr>
          <p:nvPr>
            <p:ph type="body" sz="quarter" idx="10"/>
          </p:nvPr>
        </p:nvSpPr>
        <p:spPr>
          <a:xfrm>
            <a:off x="1392733" y="3716338"/>
            <a:ext cx="9505288" cy="720774"/>
          </a:xfrm>
          <a:prstGeom prst="rect">
            <a:avLst/>
          </a:prstGeom>
        </p:spPr>
        <p:txBody>
          <a:bodyPr/>
          <a:lstStyle>
            <a:lvl1pPr marL="0" indent="0" algn="ctr">
              <a:buNone/>
              <a:defRPr>
                <a:solidFill>
                  <a:schemeClr val="bg1">
                    <a:lumMod val="50000"/>
                  </a:schemeClr>
                </a:solidFill>
                <a:latin typeface="Segoe UI Light" pitchFamily="34" charset="0"/>
              </a:defRPr>
            </a:lvl1pPr>
          </a:lstStyle>
          <a:p>
            <a:pPr lvl="0"/>
            <a:r>
              <a:rPr lang="en-US" dirty="0"/>
              <a:t>Click to edit Master text styles</a:t>
            </a:r>
          </a:p>
        </p:txBody>
      </p:sp>
      <p:sp>
        <p:nvSpPr>
          <p:cNvPr id="18" name="Text Placeholder 17"/>
          <p:cNvSpPr>
            <a:spLocks noGrp="1"/>
          </p:cNvSpPr>
          <p:nvPr>
            <p:ph type="body" sz="quarter" idx="11" hasCustomPrompt="1"/>
          </p:nvPr>
        </p:nvSpPr>
        <p:spPr>
          <a:xfrm>
            <a:off x="8736154" y="6256872"/>
            <a:ext cx="3456463" cy="393009"/>
          </a:xfrm>
          <a:prstGeom prst="rect">
            <a:avLst/>
          </a:prstGeom>
        </p:spPr>
        <p:txBody>
          <a:bodyPr anchor="ctr"/>
          <a:lstStyle>
            <a:lvl1pPr marL="0" indent="0" algn="l">
              <a:buNone/>
              <a:defRPr sz="2200">
                <a:ln>
                  <a:noFill/>
                </a:ln>
                <a:solidFill>
                  <a:schemeClr val="bg1">
                    <a:lumMod val="50000"/>
                  </a:schemeClr>
                </a:solidFill>
                <a:latin typeface="Segoe UI Light" panose="020B0502040204020203" pitchFamily="34" charset="0"/>
                <a:cs typeface="Segoe UI Light" panose="020B0502040204020203" pitchFamily="34" charset="0"/>
              </a:defRPr>
            </a:lvl1pPr>
          </a:lstStyle>
          <a:p>
            <a:pPr lvl="0"/>
            <a:r>
              <a:rPr lang="en-US" dirty="0"/>
              <a:t>E-mail</a:t>
            </a:r>
          </a:p>
        </p:txBody>
      </p:sp>
      <p:pic>
        <p:nvPicPr>
          <p:cNvPr id="7" name="Picture 6"/>
          <p:cNvPicPr>
            <a:picLocks noChangeAspect="1"/>
          </p:cNvPicPr>
          <p:nvPr userDrawn="1"/>
        </p:nvPicPr>
        <p:blipFill>
          <a:blip r:embed="rId2"/>
          <a:stretch>
            <a:fillRect/>
          </a:stretch>
        </p:blipFill>
        <p:spPr>
          <a:xfrm>
            <a:off x="8016153" y="6093376"/>
            <a:ext cx="720000" cy="720000"/>
          </a:xfrm>
          <a:prstGeom prst="rect">
            <a:avLst/>
          </a:prstGeom>
        </p:spPr>
      </p:pic>
    </p:spTree>
    <p:extLst>
      <p:ext uri="{BB962C8B-B14F-4D97-AF65-F5344CB8AC3E}">
        <p14:creationId xmlns:p14="http://schemas.microsoft.com/office/powerpoint/2010/main" val="732602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8">
                                            <p:txEl>
                                              <p:pRg st="0" end="0"/>
                                            </p:txEl>
                                          </p:spTgt>
                                        </p:tgtEl>
                                        <p:attrNameLst>
                                          <p:attrName>style.visibility</p:attrName>
                                        </p:attrNameLst>
                                      </p:cBhvr>
                                      <p:to>
                                        <p:strVal val="visible"/>
                                      </p:to>
                                    </p:set>
                                    <p:animEffect transition="in" filter="fade">
                                      <p:cBhvr>
                                        <p:cTn id="10" dur="500"/>
                                        <p:tgtEl>
                                          <p:spTgt spid="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build="p">
        <p:tmplLst>
          <p:tmpl lvl="1">
            <p:tnLst>
              <p:par>
                <p:cTn presetID="10" presetClass="entr" presetSubtype="0" fill="hold" nodeType="withEffect">
                  <p:stCondLst>
                    <p:cond delay="0"/>
                  </p:stCondLst>
                  <p:childTnLst>
                    <p:set>
                      <p:cBhvr>
                        <p:cTn dur="1" fill="hold">
                          <p:stCondLst>
                            <p:cond delay="0"/>
                          </p:stCondLst>
                        </p:cTn>
                        <p:tgtEl>
                          <p:spTgt spid="18"/>
                        </p:tgtEl>
                        <p:attrNameLst>
                          <p:attrName>style.visibility</p:attrName>
                        </p:attrNameLst>
                      </p:cBhvr>
                      <p:to>
                        <p:strVal val="visible"/>
                      </p:to>
                    </p:set>
                    <p:animEffect transition="in" filter="fade">
                      <p:cBhvr>
                        <p:cTn dur="500"/>
                        <p:tgtEl>
                          <p:spTgt spid="18"/>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9" name="Title 8"/>
          <p:cNvSpPr>
            <a:spLocks noGrp="1"/>
          </p:cNvSpPr>
          <p:nvPr>
            <p:ph type="title"/>
          </p:nvPr>
        </p:nvSpPr>
        <p:spPr>
          <a:xfrm>
            <a:off x="658977" y="2259484"/>
            <a:ext cx="10972800" cy="1143000"/>
          </a:xfrm>
          <a:prstGeom prst="rect">
            <a:avLst/>
          </a:prstGeom>
        </p:spPr>
        <p:txBody>
          <a:bodyPr/>
          <a:lstStyle>
            <a:lvl1pPr algn="ctr">
              <a:defRPr sz="4400">
                <a:solidFill>
                  <a:schemeClr val="tx1"/>
                </a:solidFill>
                <a:latin typeface="Segoe UI Light" pitchFamily="34" charset="0"/>
              </a:defRPr>
            </a:lvl1pPr>
          </a:lstStyle>
          <a:p>
            <a:r>
              <a:rPr lang="en-US" dirty="0"/>
              <a:t>Click to edit Master title style</a:t>
            </a:r>
            <a:endParaRPr lang="en-GB" dirty="0"/>
          </a:p>
        </p:txBody>
      </p:sp>
      <p:sp>
        <p:nvSpPr>
          <p:cNvPr id="12" name="Text Placeholder 11"/>
          <p:cNvSpPr>
            <a:spLocks noGrp="1"/>
          </p:cNvSpPr>
          <p:nvPr>
            <p:ph type="body" sz="quarter" idx="10"/>
          </p:nvPr>
        </p:nvSpPr>
        <p:spPr>
          <a:xfrm>
            <a:off x="1392733" y="3716338"/>
            <a:ext cx="9505288" cy="720774"/>
          </a:xfrm>
          <a:prstGeom prst="rect">
            <a:avLst/>
          </a:prstGeom>
        </p:spPr>
        <p:txBody>
          <a:bodyPr/>
          <a:lstStyle>
            <a:lvl1pPr marL="0" indent="0" algn="ctr">
              <a:buNone/>
              <a:defRPr>
                <a:solidFill>
                  <a:schemeClr val="bg1">
                    <a:lumMod val="50000"/>
                  </a:schemeClr>
                </a:solidFill>
                <a:latin typeface="Segoe UI Light" pitchFamily="34" charset="0"/>
              </a:defRPr>
            </a:lvl1pPr>
          </a:lstStyle>
          <a:p>
            <a:pPr lvl="0"/>
            <a:r>
              <a:rPr lang="en-US" dirty="0"/>
              <a:t>Click to edit Master text styles</a:t>
            </a:r>
          </a:p>
        </p:txBody>
      </p:sp>
    </p:spTree>
    <p:extLst>
      <p:ext uri="{BB962C8B-B14F-4D97-AF65-F5344CB8AC3E}">
        <p14:creationId xmlns:p14="http://schemas.microsoft.com/office/powerpoint/2010/main" val="2151589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par>
                                <p:cTn id="8" presetID="10" presetClass="entr" presetSubtype="0" fill="hold" grpId="0" nodeType="withEffect">
                                  <p:stCondLst>
                                    <p:cond delay="1000"/>
                                  </p:stCondLst>
                                  <p:childTnLst>
                                    <p:set>
                                      <p:cBhvr>
                                        <p:cTn id="9" dur="1" fill="hold">
                                          <p:stCondLst>
                                            <p:cond delay="0"/>
                                          </p:stCondLst>
                                        </p:cTn>
                                        <p:tgtEl>
                                          <p:spTgt spid="12">
                                            <p:txEl>
                                              <p:pRg st="0" end="0"/>
                                            </p:txEl>
                                          </p:spTgt>
                                        </p:tgtEl>
                                        <p:attrNameLst>
                                          <p:attrName>style.visibility</p:attrName>
                                        </p:attrNameLst>
                                      </p:cBhvr>
                                      <p:to>
                                        <p:strVal val="visible"/>
                                      </p:to>
                                    </p:set>
                                    <p:animEffect transition="in" filter="fade">
                                      <p:cBhvr>
                                        <p:cTn id="10" dur="32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build="p">
        <p:tmplLst>
          <p:tmpl lvl="1">
            <p:tnLst>
              <p:par>
                <p:cTn presetID="10" presetClass="entr" presetSubtype="0" fill="hold" nodeType="withEffect">
                  <p:stCondLst>
                    <p:cond delay="1000"/>
                  </p:stCondLst>
                  <p:childTnLst>
                    <p:set>
                      <p:cBhvr>
                        <p:cTn dur="1" fill="hold">
                          <p:stCondLst>
                            <p:cond delay="0"/>
                          </p:stCondLst>
                        </p:cTn>
                        <p:tgtEl>
                          <p:spTgt spid="12"/>
                        </p:tgtEl>
                        <p:attrNameLst>
                          <p:attrName>style.visibility</p:attrName>
                        </p:attrNameLst>
                      </p:cBhvr>
                      <p:to>
                        <p:strVal val="visible"/>
                      </p:to>
                    </p:set>
                    <p:animEffect transition="in" filter="fade">
                      <p:cBhvr>
                        <p:cTn dur="3200"/>
                        <p:tgtEl>
                          <p:spTgt spid="12"/>
                        </p:tgtEl>
                      </p:cBhvr>
                    </p:animEffec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p:bg>
      <p:bgPr>
        <a:solidFill>
          <a:srgbClr val="1BA1E2"/>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3897719953"/>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vl4pPr marL="1371600" indent="0">
              <a:buNone/>
              <a:defRPr>
                <a:ln>
                  <a:noFill/>
                </a:ln>
                <a:solidFill>
                  <a:srgbClr val="FA6800"/>
                </a:solidFill>
              </a:defRPr>
            </a:lvl4pPr>
          </a:lstStyle>
          <a:p>
            <a:pPr lvl="0"/>
            <a:r>
              <a:rPr lang="en-US" dirty="0"/>
              <a:t>Click to edit Master text styles</a:t>
            </a:r>
          </a:p>
          <a:p>
            <a:pPr lvl="1"/>
            <a:r>
              <a:rPr lang="en-US" dirty="0"/>
              <a:t>Second level</a:t>
            </a:r>
          </a:p>
          <a:p>
            <a:pPr lvl="2"/>
            <a:r>
              <a:rPr lang="en-US" dirty="0"/>
              <a:t>Third level</a:t>
            </a:r>
          </a:p>
          <a:p>
            <a:pPr lvl="3"/>
            <a:r>
              <a:rPr lang="en-US" dirty="0"/>
              <a:t>Forth level</a:t>
            </a:r>
          </a:p>
          <a:p>
            <a:pPr lvl="3"/>
            <a:r>
              <a:rPr lang="en-US" i="0" dirty="0" err="1"/>
              <a:t>prin</a:t>
            </a:r>
            <a:r>
              <a:rPr lang="en-US" i="0" dirty="0"/>
              <a:t> </a:t>
            </a:r>
            <a:r>
              <a:rPr lang="en-US" i="0" dirty="0" err="1"/>
              <a:t>derivare</a:t>
            </a:r>
            <a:r>
              <a:rPr lang="en-US" i="0" dirty="0"/>
              <a:t> </a:t>
            </a:r>
            <a:r>
              <a:rPr lang="en-US" i="0" dirty="0">
                <a:solidFill>
                  <a:schemeClr val="hlink"/>
                </a:solidFill>
              </a:rPr>
              <a:t>NU se </a:t>
            </a:r>
            <a:r>
              <a:rPr lang="en-US" i="0" dirty="0" err="1">
                <a:solidFill>
                  <a:schemeClr val="hlink"/>
                </a:solidFill>
              </a:rPr>
              <a:t>elimina</a:t>
            </a:r>
            <a:r>
              <a:rPr lang="en-US" i="0" dirty="0"/>
              <a:t> </a:t>
            </a:r>
            <a:r>
              <a:rPr lang="en-US" i="0" dirty="0" err="1"/>
              <a:t>restrictiile</a:t>
            </a:r>
            <a:r>
              <a:rPr lang="en-US" i="0" dirty="0"/>
              <a:t> de </a:t>
            </a:r>
            <a:r>
              <a:rPr lang="en-US" i="0" dirty="0" err="1"/>
              <a:t>acces</a:t>
            </a:r>
            <a:r>
              <a:rPr lang="en-US" i="0" dirty="0"/>
              <a:t> din </a:t>
            </a:r>
            <a:r>
              <a:rPr lang="en-US" i="0" dirty="0" err="1"/>
              <a:t>clasa</a:t>
            </a:r>
            <a:r>
              <a:rPr lang="en-US" i="0" dirty="0"/>
              <a:t> de </a:t>
            </a:r>
            <a:r>
              <a:rPr lang="en-US" i="0" dirty="0" err="1"/>
              <a:t>baza</a:t>
            </a:r>
            <a:endParaRPr lang="en-US" dirty="0"/>
          </a:p>
        </p:txBody>
      </p:sp>
      <p:sp>
        <p:nvSpPr>
          <p:cNvPr id="6" name="Rectangle 5"/>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5" name="TextBox 4"/>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1039485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700"/>
                                        <p:tgtEl>
                                          <p:spTgt spid="3">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1700"/>
                                        <p:tgtEl>
                                          <p:spTgt spid="3">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600"/>
                                        <p:tgtEl>
                                          <p:spTgt spid="3">
                                            <p:txEl>
                                              <p:pRg st="2" end="2"/>
                                            </p:txEl>
                                          </p:spTgt>
                                        </p:tgtEl>
                                      </p:cBhvr>
                                    </p:animEffect>
                                  </p:childTnLst>
                                </p:cTn>
                              </p:par>
                              <p:par>
                                <p:cTn id="14" presetID="10" presetClass="entr" presetSubtype="0" fill="hold" grpId="0" nodeType="withEffect">
                                  <p:stCondLst>
                                    <p:cond delay="110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1600"/>
                                        <p:tgtEl>
                                          <p:spTgt spid="3">
                                            <p:txEl>
                                              <p:pRg st="3" end="3"/>
                                            </p:txEl>
                                          </p:spTgt>
                                        </p:tgtEl>
                                      </p:cBhvr>
                                    </p:animEffect>
                                  </p:childTnLst>
                                </p:cTn>
                              </p:par>
                              <p:par>
                                <p:cTn id="17" presetID="10" presetClass="entr" presetSubtype="0" fill="hold" grpId="0" nodeType="withEffect">
                                  <p:stCondLst>
                                    <p:cond delay="110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1600"/>
                                        <p:tgtEl>
                                          <p:spTgt spid="3">
                                            <p:txEl>
                                              <p:pRg st="4" end="4"/>
                                            </p:txEl>
                                          </p:spTgt>
                                        </p:tgtEl>
                                      </p:cBhvr>
                                    </p:animEffect>
                                  </p:childTnLst>
                                </p:cTn>
                              </p:par>
                              <p:par>
                                <p:cTn id="20" presetID="42" presetClass="path" presetSubtype="0" accel="50000" decel="50000" fill="hold" grpId="1" nodeType="withEffect">
                                  <p:stCondLst>
                                    <p:cond delay="500"/>
                                  </p:stCondLst>
                                  <p:childTnLst>
                                    <p:animMotion origin="layout" path="M -4.79167E-6 -3.33333E-6 L -0.02356 -3.33333E-6 " pathEditMode="relative" rAng="0" ptsTypes="AA">
                                      <p:cBhvr>
                                        <p:cTn id="21" dur="1200" fill="hold"/>
                                        <p:tgtEl>
                                          <p:spTgt spid="3">
                                            <p:txEl>
                                              <p:pRg st="0" end="0"/>
                                            </p:txEl>
                                          </p:spTgt>
                                        </p:tgtEl>
                                        <p:attrNameLst>
                                          <p:attrName>ppt_x</p:attrName>
                                          <p:attrName>ppt_y</p:attrName>
                                        </p:attrNameLst>
                                      </p:cBhvr>
                                      <p:rCtr x="-1185" y="0"/>
                                    </p:animMotion>
                                  </p:childTnLst>
                                </p:cTn>
                              </p:par>
                              <p:par>
                                <p:cTn id="22" presetID="42" presetClass="path" presetSubtype="0" accel="50000" decel="50000" fill="hold" grpId="1" nodeType="withEffect">
                                  <p:stCondLst>
                                    <p:cond delay="700"/>
                                  </p:stCondLst>
                                  <p:childTnLst>
                                    <p:animMotion origin="layout" path="M 0.02356 1.85185E-6 L 3.54167E-6 1.85185E-6 " pathEditMode="relative" rAng="0" ptsTypes="AA">
                                      <p:cBhvr>
                                        <p:cTn id="23" dur="1100" fill="hold"/>
                                        <p:tgtEl>
                                          <p:spTgt spid="3">
                                            <p:txEl>
                                              <p:pRg st="1" end="1"/>
                                            </p:txEl>
                                          </p:spTgt>
                                        </p:tgtEl>
                                        <p:attrNameLst>
                                          <p:attrName>ppt_x</p:attrName>
                                          <p:attrName>ppt_y</p:attrName>
                                        </p:attrNameLst>
                                      </p:cBhvr>
                                      <p:rCtr x="-1185" y="0"/>
                                    </p:animMotion>
                                  </p:childTnLst>
                                </p:cTn>
                              </p:par>
                              <p:par>
                                <p:cTn id="24" presetID="42" presetClass="path" presetSubtype="0" accel="50000" decel="50000" fill="hold" grpId="1" nodeType="withEffect">
                                  <p:stCondLst>
                                    <p:cond delay="1000"/>
                                  </p:stCondLst>
                                  <p:childTnLst>
                                    <p:animMotion origin="layout" path="M 0.04479 0.00856 L 0.02903 0.00856 " pathEditMode="relative" rAng="0" ptsTypes="AA">
                                      <p:cBhvr>
                                        <p:cTn id="25" dur="900" fill="hold"/>
                                        <p:tgtEl>
                                          <p:spTgt spid="3">
                                            <p:txEl>
                                              <p:pRg st="2" end="2"/>
                                            </p:txEl>
                                          </p:spTgt>
                                        </p:tgtEl>
                                        <p:attrNameLst>
                                          <p:attrName>ppt_x</p:attrName>
                                          <p:attrName>ppt_y</p:attrName>
                                        </p:attrNameLst>
                                      </p:cBhvr>
                                      <p:rCtr x="-794" y="0"/>
                                    </p:animMotion>
                                  </p:childTnLst>
                                </p:cTn>
                              </p:par>
                              <p:par>
                                <p:cTn id="26" presetID="42" presetClass="path" presetSubtype="0" accel="50000" decel="50000" fill="hold" grpId="1" nodeType="withEffect">
                                  <p:stCondLst>
                                    <p:cond delay="1000"/>
                                  </p:stCondLst>
                                  <p:childTnLst>
                                    <p:animMotion origin="layout" path="M 0.0448 0.00857 L 0.02904 0.00857 " pathEditMode="relative" rAng="0" ptsTypes="AA">
                                      <p:cBhvr>
                                        <p:cTn id="27" dur="900" fill="hold"/>
                                        <p:tgtEl>
                                          <p:spTgt spid="3">
                                            <p:txEl>
                                              <p:pRg st="3" end="3"/>
                                            </p:txEl>
                                          </p:spTgt>
                                        </p:tgtEl>
                                        <p:attrNameLst>
                                          <p:attrName>ppt_x</p:attrName>
                                          <p:attrName>ppt_y</p:attrName>
                                        </p:attrNameLst>
                                      </p:cBhvr>
                                      <p:rCtr x="-794" y="0"/>
                                    </p:animMotion>
                                  </p:childTnLst>
                                </p:cTn>
                              </p:par>
                              <p:par>
                                <p:cTn id="28" presetID="42" presetClass="path" presetSubtype="0" accel="50000" decel="50000" fill="hold" grpId="1" nodeType="withEffect">
                                  <p:stCondLst>
                                    <p:cond delay="1000"/>
                                  </p:stCondLst>
                                  <p:childTnLst>
                                    <p:animMotion origin="layout" path="M 0.04479 0.00856 L 0.02904 0.00856 " pathEditMode="relative" rAng="0" ptsTypes="AA">
                                      <p:cBhvr>
                                        <p:cTn id="29" dur="900" fill="hold"/>
                                        <p:tgtEl>
                                          <p:spTgt spid="3">
                                            <p:txEl>
                                              <p:pRg st="4" end="4"/>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0" presetClass="entr" presetSubtype="0" fill="hold" nodeType="withEffect">
                  <p:stCondLst>
                    <p:cond delay="600"/>
                  </p:stCondLst>
                  <p:childTnLst>
                    <p:set>
                      <p:cBhvr>
                        <p:cTn dur="1" fill="hold">
                          <p:stCondLst>
                            <p:cond delay="0"/>
                          </p:stCondLst>
                        </p:cTn>
                        <p:tgtEl>
                          <p:spTgt spid="3"/>
                        </p:tgtEl>
                        <p:attrNameLst>
                          <p:attrName>style.visibility</p:attrName>
                        </p:attrNameLst>
                      </p:cBhvr>
                      <p:to>
                        <p:strVal val="visible"/>
                      </p:to>
                    </p:set>
                    <p:animEffect transition="in" filter="fade">
                      <p:cBhvr>
                        <p:cTn dur="1700"/>
                        <p:tgtEl>
                          <p:spTgt spid="3"/>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3"/>
                        </p:tgtEl>
                        <p:attrNameLst>
                          <p:attrName>style.visibility</p:attrName>
                        </p:attrNameLst>
                      </p:cBhvr>
                      <p:to>
                        <p:strVal val="visible"/>
                      </p:to>
                    </p:set>
                    <p:animEffect transition="in" filter="fade">
                      <p:cBhvr>
                        <p:cTn dur="1700"/>
                        <p:tgtEl>
                          <p:spTgt spid="3"/>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3"/>
                        </p:tgtEl>
                        <p:attrNameLst>
                          <p:attrName>style.visibility</p:attrName>
                        </p:attrNameLst>
                      </p:cBhvr>
                      <p:to>
                        <p:strVal val="visible"/>
                      </p:to>
                    </p:set>
                    <p:animEffect transition="in" filter="fade">
                      <p:cBhvr>
                        <p:cTn dur="1600"/>
                        <p:tgtEl>
                          <p:spTgt spid="3"/>
                        </p:tgtEl>
                      </p:cBhvr>
                    </p:animEffect>
                  </p:childTnLst>
                </p:cTn>
              </p:par>
            </p:tnLst>
          </p:tmpl>
          <p:tmpl lvl="4">
            <p:tnLst>
              <p:par>
                <p:cTn presetID="10" presetClass="entr" presetSubtype="0" fill="hold" nodeType="withEffect">
                  <p:stCondLst>
                    <p:cond delay="1100"/>
                  </p:stCondLst>
                  <p:childTnLst>
                    <p:set>
                      <p:cBhvr>
                        <p:cTn dur="1" fill="hold">
                          <p:stCondLst>
                            <p:cond delay="0"/>
                          </p:stCondLst>
                        </p:cTn>
                        <p:tgtEl>
                          <p:spTgt spid="3"/>
                        </p:tgtEl>
                        <p:attrNameLst>
                          <p:attrName>style.visibility</p:attrName>
                        </p:attrNameLst>
                      </p:cBhvr>
                      <p:to>
                        <p:strVal val="visible"/>
                      </p:to>
                    </p:set>
                    <p:animEffect transition="in" filter="fade">
                      <p:cBhvr>
                        <p:cTn dur="1600"/>
                        <p:tgtEl>
                          <p:spTgt spid="3"/>
                        </p:tgtEl>
                      </p:cBhvr>
                    </p:animEffect>
                  </p:childTnLst>
                </p:cTn>
              </p:par>
            </p:tnLst>
          </p:tmpl>
        </p:tmplLst>
      </p:bldP>
      <p:bldP spid="3" grpId="1" uiExpan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3"/>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3"/>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3"/>
                        </p:tgtEl>
                        <p:attrNameLst>
                          <p:attrName>ppt_x</p:attrName>
                          <p:attrName>ppt_y</p:attrName>
                        </p:attrNameLst>
                      </p:cBhvr>
                      <p:rCtr x="-794" y="0"/>
                    </p:animMotion>
                  </p:childTnLst>
                </p:cTn>
              </p:par>
            </p:tnLst>
          </p:tmpl>
          <p:tmpl lvl="4">
            <p:tnLst>
              <p:par>
                <p:cTn presetID="42" presetClass="path" presetSubtype="0" accel="50000" decel="50000" fill="hold" nodeType="withEffect">
                  <p:stCondLst>
                    <p:cond delay="1000"/>
                  </p:stCondLst>
                  <p:childTnLst>
                    <p:animMotion origin="layout" path="M 0.04479 0.00856 L 0.02904 0.00856 " pathEditMode="relative" rAng="0" ptsTypes="AA">
                      <p:cBhvr>
                        <p:cTn dur="900" fill="hold"/>
                        <p:tgtEl>
                          <p:spTgt spid="3"/>
                        </p:tgtEl>
                        <p:attrNameLst>
                          <p:attrName>ppt_x</p:attrName>
                          <p:attrName>ppt_y</p:attrName>
                        </p:attrNameLst>
                      </p:cBhvr>
                      <p:rCtr x="-794" y="0"/>
                    </p:animMotion>
                  </p:childTnLst>
                </p:cTn>
              </p:par>
            </p:tnLst>
          </p:tmpl>
          <p:tmpl lvl="7">
            <p:tnLst>
              <p:par>
                <p:cTn presetID="42" presetClass="path" presetSubtype="0" accel="50000" decel="50000" fill="hold" nodeType="withEffect">
                  <p:stCondLst>
                    <p:cond delay="1000"/>
                  </p:stCondLst>
                  <p:childTnLst>
                    <p:animMotion origin="layout" path="M 0.04479 0.00857 L 0.02903 0.00857 " pathEditMode="relative" rAng="0" ptsTypes="AA">
                      <p:cBhvr>
                        <p:cTn dur="900" fill="hold"/>
                        <p:tgtEl>
                          <p:spTgt spid="3"/>
                        </p:tgtEl>
                        <p:attrNameLst>
                          <p:attrName>ppt_x</p:attrName>
                          <p:attrName>ppt_y</p:attrName>
                        </p:attrNameLst>
                      </p:cBhvr>
                      <p:rCtr x="-794" y="0"/>
                    </p:animMotion>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2366098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1BA1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1158426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p:bg>
      <p:bgPr>
        <a:solidFill>
          <a:srgbClr val="FA6800"/>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41850544"/>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2551000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4182949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FA6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3942514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p:bg>
      <p:bgPr>
        <a:solidFill>
          <a:srgbClr val="60A917"/>
        </a:soli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58977" y="2857500"/>
            <a:ext cx="10972800" cy="1143000"/>
          </a:xfrm>
          <a:prstGeom prst="rect">
            <a:avLst/>
          </a:prstGeom>
        </p:spPr>
        <p:txBody>
          <a:bodyPr anchor="ctr"/>
          <a:lstStyle>
            <a:lvl1pPr algn="ctr">
              <a:defRPr sz="4400">
                <a:latin typeface="Segoe UI Light" pitchFamily="34" charset="0"/>
              </a:defRPr>
            </a:lvl1pPr>
          </a:lstStyle>
          <a:p>
            <a:r>
              <a:rPr lang="en-US" dirty="0"/>
              <a:t>Add section title</a:t>
            </a:r>
            <a:endParaRPr lang="en-GB" dirty="0"/>
          </a:p>
        </p:txBody>
      </p:sp>
    </p:spTree>
    <p:extLst>
      <p:ext uri="{BB962C8B-B14F-4D97-AF65-F5344CB8AC3E}">
        <p14:creationId xmlns:p14="http://schemas.microsoft.com/office/powerpoint/2010/main" val="2278104042"/>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9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5" name="TextBox 4"/>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3072301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6" name="Rectangle 5"/>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Title 1"/>
          <p:cNvSpPr>
            <a:spLocks noGrp="1"/>
          </p:cNvSpPr>
          <p:nvPr>
            <p:ph type="title"/>
          </p:nvPr>
        </p:nvSpPr>
        <p:spPr>
          <a:xfrm>
            <a:off x="431370" y="260648"/>
            <a:ext cx="11160165" cy="288032"/>
          </a:xfrm>
          <a:prstGeom prst="rect">
            <a:avLst/>
          </a:prstGeom>
        </p:spPr>
        <p:txBody>
          <a:bodyPr anchor="ctr"/>
          <a:lstStyle>
            <a:lvl1pPr>
              <a:defRPr sz="2000" b="1">
                <a:solidFill>
                  <a:schemeClr val="tx1">
                    <a:lumMod val="50000"/>
                    <a:lumOff val="50000"/>
                  </a:schemeClr>
                </a:solidFill>
                <a:latin typeface="Segoe UI Light" pitchFamily="34" charset="0"/>
              </a:defRPr>
            </a:lvl1pPr>
          </a:lstStyle>
          <a:p>
            <a:r>
              <a:rPr lang="en-US" dirty="0"/>
              <a:t>Click to edit Master title style</a:t>
            </a:r>
            <a:endParaRPr lang="en-GB" dirty="0"/>
          </a:p>
        </p:txBody>
      </p:sp>
      <p:sp>
        <p:nvSpPr>
          <p:cNvPr id="8" name="Content Placeholder 2"/>
          <p:cNvSpPr>
            <a:spLocks noGrp="1"/>
          </p:cNvSpPr>
          <p:nvPr>
            <p:ph idx="1"/>
          </p:nvPr>
        </p:nvSpPr>
        <p:spPr>
          <a:xfrm>
            <a:off x="767408" y="1340768"/>
            <a:ext cx="10828784" cy="4813995"/>
          </a:xfrm>
          <a:prstGeom prst="rect">
            <a:avLst/>
          </a:prstGeom>
        </p:spPr>
        <p:txBody>
          <a:bodyPr/>
          <a:lstStyle>
            <a:lvl1pPr marL="0" indent="0">
              <a:buClr>
                <a:schemeClr val="tx1"/>
              </a:buClr>
              <a:buFontTx/>
              <a:buNone/>
              <a:defRPr sz="2400">
                <a:solidFill>
                  <a:schemeClr val="tx1"/>
                </a:solidFill>
                <a:latin typeface="Segoe UI Light" pitchFamily="34" charset="0"/>
              </a:defRPr>
            </a:lvl1pPr>
            <a:lvl2pPr marL="254250" indent="0">
              <a:buClr>
                <a:schemeClr val="tx1"/>
              </a:buClr>
              <a:buFontTx/>
              <a:buNone/>
              <a:defRPr sz="2400">
                <a:solidFill>
                  <a:schemeClr val="tx1">
                    <a:lumMod val="65000"/>
                    <a:lumOff val="35000"/>
                  </a:schemeClr>
                </a:solidFill>
                <a:latin typeface="Segoe UI Light" pitchFamily="34" charset="0"/>
              </a:defRPr>
            </a:lvl2pPr>
            <a:lvl3pPr marL="491400" indent="0">
              <a:buClr>
                <a:schemeClr val="tx1"/>
              </a:buClr>
              <a:buFontTx/>
              <a:buNone/>
              <a:defRPr sz="2400">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
        <p:nvSpPr>
          <p:cNvPr id="4" name="Text Placeholder 3"/>
          <p:cNvSpPr>
            <a:spLocks noGrp="1"/>
          </p:cNvSpPr>
          <p:nvPr>
            <p:ph type="body" sz="quarter" idx="10"/>
          </p:nvPr>
        </p:nvSpPr>
        <p:spPr>
          <a:xfrm>
            <a:off x="431370" y="597637"/>
            <a:ext cx="11160166" cy="432048"/>
          </a:xfrm>
          <a:prstGeom prst="rect">
            <a:avLst/>
          </a:prstGeom>
        </p:spPr>
        <p:txBody>
          <a:bodyPr/>
          <a:lstStyle>
            <a:lvl1pPr marL="0" indent="0">
              <a:buNone/>
              <a:defRPr sz="3200" b="1">
                <a:solidFill>
                  <a:schemeClr val="tx1"/>
                </a:solidFill>
                <a:latin typeface="Segoe UI Light" panose="020B0502040204020203" pitchFamily="34" charset="0"/>
                <a:ea typeface="Segoe UI Historic" panose="020B0502040204020203" pitchFamily="34" charset="0"/>
                <a:cs typeface="Segoe UI Light" panose="020B0502040204020203" pitchFamily="34" charset="0"/>
              </a:defRPr>
            </a:lvl1pPr>
          </a:lstStyle>
          <a:p>
            <a:pPr lvl="0"/>
            <a:endParaRPr lang="en-US" dirty="0"/>
          </a:p>
        </p:txBody>
      </p:sp>
    </p:spTree>
    <p:extLst>
      <p:ext uri="{BB962C8B-B14F-4D97-AF65-F5344CB8AC3E}">
        <p14:creationId xmlns:p14="http://schemas.microsoft.com/office/powerpoint/2010/main" val="1002030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60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700"/>
                                        <p:tgtEl>
                                          <p:spTgt spid="8">
                                            <p:txEl>
                                              <p:pRg st="0" end="0"/>
                                            </p:txEl>
                                          </p:spTgt>
                                        </p:tgtEl>
                                      </p:cBhvr>
                                    </p:animEffect>
                                  </p:childTnLst>
                                </p:cTn>
                              </p:par>
                              <p:par>
                                <p:cTn id="8" presetID="10" presetClass="entr" presetSubtype="0" fill="hold" grpId="0" nodeType="withEffect">
                                  <p:stCondLst>
                                    <p:cond delay="90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fade">
                                      <p:cBhvr>
                                        <p:cTn id="10" dur="1700"/>
                                        <p:tgtEl>
                                          <p:spTgt spid="8">
                                            <p:txEl>
                                              <p:pRg st="1" end="1"/>
                                            </p:txEl>
                                          </p:spTgt>
                                        </p:tgtEl>
                                      </p:cBhvr>
                                    </p:animEffect>
                                  </p:childTnLst>
                                </p:cTn>
                              </p:par>
                              <p:par>
                                <p:cTn id="11" presetID="10" presetClass="entr" presetSubtype="0" fill="hold" grpId="0" nodeType="withEffect">
                                  <p:stCondLst>
                                    <p:cond delay="1100"/>
                                  </p:stCondLst>
                                  <p:childTnLst>
                                    <p:set>
                                      <p:cBhvr>
                                        <p:cTn id="12" dur="1" fill="hold">
                                          <p:stCondLst>
                                            <p:cond delay="0"/>
                                          </p:stCondLst>
                                        </p:cTn>
                                        <p:tgtEl>
                                          <p:spTgt spid="8">
                                            <p:txEl>
                                              <p:pRg st="2" end="2"/>
                                            </p:txEl>
                                          </p:spTgt>
                                        </p:tgtEl>
                                        <p:attrNameLst>
                                          <p:attrName>style.visibility</p:attrName>
                                        </p:attrNameLst>
                                      </p:cBhvr>
                                      <p:to>
                                        <p:strVal val="visible"/>
                                      </p:to>
                                    </p:set>
                                    <p:animEffect transition="in" filter="fade">
                                      <p:cBhvr>
                                        <p:cTn id="13" dur="1600"/>
                                        <p:tgtEl>
                                          <p:spTgt spid="8">
                                            <p:txEl>
                                              <p:pRg st="2" end="2"/>
                                            </p:txEl>
                                          </p:spTgt>
                                        </p:tgtEl>
                                      </p:cBhvr>
                                    </p:animEffect>
                                  </p:childTnLst>
                                </p:cTn>
                              </p:par>
                              <p:par>
                                <p:cTn id="14" presetID="42" presetClass="path" presetSubtype="0" accel="50000" decel="50000" fill="hold" grpId="1" nodeType="withEffect">
                                  <p:stCondLst>
                                    <p:cond delay="500"/>
                                  </p:stCondLst>
                                  <p:childTnLst>
                                    <p:animMotion origin="layout" path="M -4.79167E-6 -3.33333E-6 L -0.02356 -3.33333E-6 " pathEditMode="relative" rAng="0" ptsTypes="AA">
                                      <p:cBhvr>
                                        <p:cTn id="15" dur="1200" fill="hold"/>
                                        <p:tgtEl>
                                          <p:spTgt spid="8">
                                            <p:txEl>
                                              <p:pRg st="0" end="0"/>
                                            </p:txEl>
                                          </p:spTgt>
                                        </p:tgtEl>
                                        <p:attrNameLst>
                                          <p:attrName>ppt_x</p:attrName>
                                          <p:attrName>ppt_y</p:attrName>
                                        </p:attrNameLst>
                                      </p:cBhvr>
                                      <p:rCtr x="-1185" y="0"/>
                                    </p:animMotion>
                                  </p:childTnLst>
                                </p:cTn>
                              </p:par>
                              <p:par>
                                <p:cTn id="16" presetID="42" presetClass="path" presetSubtype="0" accel="50000" decel="50000" fill="hold" grpId="1" nodeType="withEffect">
                                  <p:stCondLst>
                                    <p:cond delay="700"/>
                                  </p:stCondLst>
                                  <p:childTnLst>
                                    <p:animMotion origin="layout" path="M 0.02356 1.85185E-6 L 3.54167E-6 1.85185E-6 " pathEditMode="relative" rAng="0" ptsTypes="AA">
                                      <p:cBhvr>
                                        <p:cTn id="17" dur="1100" fill="hold"/>
                                        <p:tgtEl>
                                          <p:spTgt spid="8">
                                            <p:txEl>
                                              <p:pRg st="1" end="1"/>
                                            </p:txEl>
                                          </p:spTgt>
                                        </p:tgtEl>
                                        <p:attrNameLst>
                                          <p:attrName>ppt_x</p:attrName>
                                          <p:attrName>ppt_y</p:attrName>
                                        </p:attrNameLst>
                                      </p:cBhvr>
                                      <p:rCtr x="-1185" y="0"/>
                                    </p:animMotion>
                                  </p:childTnLst>
                                </p:cTn>
                              </p:par>
                              <p:par>
                                <p:cTn id="18" presetID="42" presetClass="path" presetSubtype="0" accel="50000" decel="50000" fill="hold" grpId="1" nodeType="withEffect">
                                  <p:stCondLst>
                                    <p:cond delay="1000"/>
                                  </p:stCondLst>
                                  <p:childTnLst>
                                    <p:animMotion origin="layout" path="M 0.04479 0.00856 L 0.02903 0.00856 " pathEditMode="relative" rAng="0" ptsTypes="AA">
                                      <p:cBhvr>
                                        <p:cTn id="19" dur="900" fill="hold"/>
                                        <p:tgtEl>
                                          <p:spTgt spid="8">
                                            <p:txEl>
                                              <p:pRg st="2" end="2"/>
                                            </p:txEl>
                                          </p:spTgt>
                                        </p:tgtEl>
                                        <p:attrNameLst>
                                          <p:attrName>ppt_x</p:attrName>
                                          <p:attrName>ppt_y</p:attrName>
                                        </p:attrNameLst>
                                      </p:cBhvr>
                                      <p:rCtr x="-79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6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8"/>
                        </p:tgtEl>
                        <p:attrNameLst>
                          <p:attrName>style.visibility</p:attrName>
                        </p:attrNameLst>
                      </p:cBhvr>
                      <p:to>
                        <p:strVal val="visible"/>
                      </p:to>
                    </p:set>
                    <p:animEffect transition="in" filter="fade">
                      <p:cBhvr>
                        <p:cTn dur="1700"/>
                        <p:tgtEl>
                          <p:spTgt spid="8"/>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8"/>
                        </p:tgtEl>
                        <p:attrNameLst>
                          <p:attrName>style.visibility</p:attrName>
                        </p:attrNameLst>
                      </p:cBhvr>
                      <p:to>
                        <p:strVal val="visible"/>
                      </p:to>
                    </p:set>
                    <p:animEffect transition="in" filter="fade">
                      <p:cBhvr>
                        <p:cTn dur="1600"/>
                        <p:tgtEl>
                          <p:spTgt spid="8"/>
                        </p:tgtEl>
                      </p:cBhvr>
                    </p:animEffect>
                  </p:childTnLst>
                </p:cTn>
              </p:par>
            </p:tnLst>
          </p:tmpl>
        </p:tmplLst>
      </p:bldP>
      <p:bldP spid="8" grpId="1" build="p">
        <p:tmplLst>
          <p:tmpl lvl="1">
            <p:tnLst>
              <p:par>
                <p:cTn presetID="42" presetClass="path" presetSubtype="0" accel="50000" decel="50000" fill="hold" nodeType="withEffect">
                  <p:stCondLst>
                    <p:cond delay="500"/>
                  </p:stCondLst>
                  <p:childTnLst>
                    <p:animMotion origin="layout" path="M -4.79167E-6 -3.33333E-6 L -0.02356 -3.33333E-6 " pathEditMode="relative" rAng="0" ptsTypes="AA">
                      <p:cBhvr>
                        <p:cTn dur="1200" fill="hold"/>
                        <p:tgtEl>
                          <p:spTgt spid="8"/>
                        </p:tgtEl>
                        <p:attrNameLst>
                          <p:attrName>ppt_x</p:attrName>
                          <p:attrName>ppt_y</p:attrName>
                        </p:attrNameLst>
                      </p:cBhvr>
                      <p:rCtr x="-1185" y="0"/>
                    </p:animMotion>
                  </p:childTnLst>
                </p:cTn>
              </p:par>
            </p:tnLst>
          </p:tmpl>
          <p:tmpl lvl="2">
            <p:tnLst>
              <p:par>
                <p:cTn presetID="42" presetClass="path" presetSubtype="0" accel="50000" decel="50000" fill="hold" nodeType="withEffect">
                  <p:stCondLst>
                    <p:cond delay="700"/>
                  </p:stCondLst>
                  <p:childTnLst>
                    <p:animMotion origin="layout" path="M 0.02356 1.85185E-6 L 3.54167E-6 1.85185E-6 " pathEditMode="relative" rAng="0" ptsTypes="AA">
                      <p:cBhvr>
                        <p:cTn dur="1100" fill="hold"/>
                        <p:tgtEl>
                          <p:spTgt spid="8"/>
                        </p:tgtEl>
                        <p:attrNameLst>
                          <p:attrName>ppt_x</p:attrName>
                          <p:attrName>ppt_y</p:attrName>
                        </p:attrNameLst>
                      </p:cBhvr>
                      <p:rCtr x="-1185" y="0"/>
                    </p:animMotion>
                  </p:childTnLst>
                </p:cTn>
              </p:par>
            </p:tnLst>
          </p:tmpl>
          <p:tmpl lvl="3">
            <p:tnLst>
              <p:par>
                <p:cTn presetID="42" presetClass="path" presetSubtype="0" accel="50000" decel="50000" fill="hold" nodeType="withEffect">
                  <p:stCondLst>
                    <p:cond delay="1000"/>
                  </p:stCondLst>
                  <p:childTnLst>
                    <p:animMotion origin="layout" path="M 0.04479 0.00856 L 0.02903 0.00856 " pathEditMode="relative" rAng="0" ptsTypes="AA">
                      <p:cBhvr>
                        <p:cTn dur="900" fill="hold"/>
                        <p:tgtEl>
                          <p:spTgt spid="8"/>
                        </p:tgtEl>
                        <p:attrNameLst>
                          <p:attrName>ppt_x</p:attrName>
                          <p:attrName>ppt_y</p:attrName>
                        </p:attrNameLst>
                      </p:cBhvr>
                      <p:rCtr x="-794" y="0"/>
                    </p:animMotion>
                  </p:childTnLst>
                </p:cTn>
              </p:par>
            </p:tnLst>
          </p:tmpl>
        </p:tmplLst>
      </p:bldP>
    </p:bld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Content and 2 Objects">
    <p:spTree>
      <p:nvGrpSpPr>
        <p:cNvPr id="1" name=""/>
        <p:cNvGrpSpPr/>
        <p:nvPr/>
      </p:nvGrpSpPr>
      <p:grpSpPr>
        <a:xfrm>
          <a:off x="0" y="0"/>
          <a:ext cx="0" cy="0"/>
          <a:chOff x="0" y="0"/>
          <a:chExt cx="0" cy="0"/>
        </a:xfrm>
      </p:grpSpPr>
      <p:sp>
        <p:nvSpPr>
          <p:cNvPr id="2" name="Title 1"/>
          <p:cNvSpPr>
            <a:spLocks noGrp="1"/>
          </p:cNvSpPr>
          <p:nvPr>
            <p:ph type="title"/>
          </p:nvPr>
        </p:nvSpPr>
        <p:spPr>
          <a:xfrm>
            <a:off x="431371" y="260648"/>
            <a:ext cx="8640960" cy="778098"/>
          </a:xfrm>
          <a:prstGeom prst="rect">
            <a:avLst/>
          </a:prstGeom>
        </p:spPr>
        <p:txBody>
          <a:bodyPr anchor="ctr"/>
          <a:lstStyle>
            <a:lvl1pPr>
              <a:defRPr b="1">
                <a:solidFill>
                  <a:schemeClr val="tx1"/>
                </a:solidFill>
                <a:latin typeface="Segoe UI Light" pitchFamily="34" charset="0"/>
              </a:defRPr>
            </a:lvl1pPr>
          </a:lstStyle>
          <a:p>
            <a:r>
              <a:rPr lang="en-US" dirty="0"/>
              <a:t>Click to edit Master title style</a:t>
            </a:r>
            <a:endParaRPr lang="en-GB" dirty="0"/>
          </a:p>
        </p:txBody>
      </p:sp>
      <p:sp>
        <p:nvSpPr>
          <p:cNvPr id="6" name="Content Placeholder 2"/>
          <p:cNvSpPr>
            <a:spLocks noGrp="1"/>
          </p:cNvSpPr>
          <p:nvPr>
            <p:ph idx="10"/>
          </p:nvPr>
        </p:nvSpPr>
        <p:spPr>
          <a:xfrm flipH="1">
            <a:off x="8304245" y="1628800"/>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0" name="Content Placeholder 2"/>
          <p:cNvSpPr>
            <a:spLocks noGrp="1"/>
          </p:cNvSpPr>
          <p:nvPr>
            <p:ph idx="11"/>
          </p:nvPr>
        </p:nvSpPr>
        <p:spPr>
          <a:xfrm flipH="1">
            <a:off x="8304245" y="3933056"/>
            <a:ext cx="3552395" cy="2160240"/>
          </a:xfrm>
          <a:prstGeom prst="rect">
            <a:avLst/>
          </a:prstGeom>
          <a:solidFill>
            <a:schemeClr val="tx1">
              <a:lumMod val="95000"/>
              <a:lumOff val="5000"/>
              <a:alpha val="54000"/>
            </a:schemeClr>
          </a:solidFill>
        </p:spPr>
        <p:txBody>
          <a:bodyPr anchor="b"/>
          <a:lstStyle>
            <a:lvl1pPr marL="0" indent="0">
              <a:buClr>
                <a:schemeClr val="tx1"/>
              </a:buClr>
              <a:buFontTx/>
              <a:buNone/>
              <a:defRPr sz="2800">
                <a:latin typeface="Segoe UI Light" pitchFamily="34" charset="0"/>
              </a:defRPr>
            </a:lvl1pPr>
            <a:lvl2pPr marL="254250" indent="0">
              <a:buClr>
                <a:schemeClr val="tx1"/>
              </a:buClr>
              <a:buFontTx/>
              <a:buNone/>
              <a:defRPr>
                <a:solidFill>
                  <a:schemeClr val="bg1">
                    <a:lumMod val="7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a:t>Click to edit Master text styles</a:t>
            </a:r>
          </a:p>
        </p:txBody>
      </p:sp>
      <p:sp>
        <p:nvSpPr>
          <p:cNvPr id="11" name="Rectangle 10"/>
          <p:cNvSpPr/>
          <p:nvPr userDrawn="1"/>
        </p:nvSpPr>
        <p:spPr>
          <a:xfrm>
            <a:off x="0" y="260648"/>
            <a:ext cx="239349" cy="792088"/>
          </a:xfrm>
          <a:prstGeom prst="rect">
            <a:avLst/>
          </a:prstGeom>
          <a:solidFill>
            <a:srgbClr val="60A91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latin typeface="Segoe WP" pitchFamily="34" charset="0"/>
            </a:endParaRPr>
          </a:p>
        </p:txBody>
      </p:sp>
      <p:sp>
        <p:nvSpPr>
          <p:cNvPr id="7" name="Content Placeholder 2"/>
          <p:cNvSpPr>
            <a:spLocks noGrp="1"/>
          </p:cNvSpPr>
          <p:nvPr>
            <p:ph idx="1"/>
          </p:nvPr>
        </p:nvSpPr>
        <p:spPr>
          <a:xfrm>
            <a:off x="767408" y="1628800"/>
            <a:ext cx="7272808" cy="4525963"/>
          </a:xfrm>
          <a:prstGeom prst="rect">
            <a:avLst/>
          </a:prstGeom>
        </p:spPr>
        <p:txBody>
          <a:bodyPr/>
          <a:lstStyle>
            <a:lvl1pPr marL="0" indent="0">
              <a:buClr>
                <a:schemeClr val="tx1"/>
              </a:buClr>
              <a:buFontTx/>
              <a:buNone/>
              <a:defRPr>
                <a:solidFill>
                  <a:schemeClr val="tx1"/>
                </a:solidFill>
                <a:latin typeface="Segoe UI Light" pitchFamily="34" charset="0"/>
              </a:defRPr>
            </a:lvl1pPr>
            <a:lvl2pPr marL="254250" indent="0">
              <a:buClr>
                <a:schemeClr val="tx1"/>
              </a:buClr>
              <a:buFontTx/>
              <a:buNone/>
              <a:defRPr>
                <a:solidFill>
                  <a:schemeClr val="tx1">
                    <a:lumMod val="65000"/>
                    <a:lumOff val="35000"/>
                  </a:schemeClr>
                </a:solidFill>
                <a:latin typeface="Segoe UI Light" pitchFamily="34" charset="0"/>
              </a:defRPr>
            </a:lvl2pPr>
            <a:lvl3pPr marL="491400" indent="0">
              <a:buClr>
                <a:schemeClr val="tx1"/>
              </a:buClr>
              <a:buFontTx/>
              <a:buNone/>
              <a:defRPr>
                <a:solidFill>
                  <a:schemeClr val="bg1">
                    <a:lumMod val="50000"/>
                  </a:schemeClr>
                </a:solidFill>
                <a:latin typeface="Segoe UI Light" pitchFamily="34" charset="0"/>
              </a:defRPr>
            </a:lvl3pPr>
          </a:lstStyle>
          <a:p>
            <a:pPr lvl="0"/>
            <a:r>
              <a:rPr lang="en-US" dirty="0"/>
              <a:t>Click to edit Master text styles</a:t>
            </a:r>
          </a:p>
          <a:p>
            <a:pPr lvl="1"/>
            <a:r>
              <a:rPr lang="en-US" dirty="0"/>
              <a:t>Second level</a:t>
            </a:r>
          </a:p>
          <a:p>
            <a:pPr lvl="2"/>
            <a:r>
              <a:rPr lang="en-US" dirty="0"/>
              <a:t>Third level</a:t>
            </a:r>
          </a:p>
        </p:txBody>
      </p:sp>
      <p:sp>
        <p:nvSpPr>
          <p:cNvPr id="8" name="TextBox 7"/>
          <p:cNvSpPr txBox="1"/>
          <p:nvPr userDrawn="1"/>
        </p:nvSpPr>
        <p:spPr>
          <a:xfrm>
            <a:off x="11591536" y="6381328"/>
            <a:ext cx="457176" cy="369332"/>
          </a:xfrm>
          <a:prstGeom prst="rect">
            <a:avLst/>
          </a:prstGeom>
          <a:noFill/>
        </p:spPr>
        <p:txBody>
          <a:bodyPr wrap="none" rtlCol="0">
            <a:spAutoFit/>
          </a:bodyPr>
          <a:lstStyle/>
          <a:p>
            <a:fld id="{D2FC744C-0FD2-4FEB-9E68-B623E52109BF}" type="slidenum">
              <a:rPr lang="en-US" smtClean="0"/>
              <a:t>‹#›</a:t>
            </a:fld>
            <a:endParaRPr lang="en-US" dirty="0"/>
          </a:p>
        </p:txBody>
      </p:sp>
    </p:spTree>
    <p:extLst>
      <p:ext uri="{BB962C8B-B14F-4D97-AF65-F5344CB8AC3E}">
        <p14:creationId xmlns:p14="http://schemas.microsoft.com/office/powerpoint/2010/main" val="893604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childTnLst>
                                    <p:set>
                                      <p:cBhvr>
                                        <p:cTn id="6" dur="1" fill="hold">
                                          <p:stCondLst>
                                            <p:cond delay="0"/>
                                          </p:stCondLst>
                                        </p:cTn>
                                        <p:tgtEl>
                                          <p:spTgt spid="6">
                                            <p:bg/>
                                          </p:spTgt>
                                        </p:tgtEl>
                                        <p:attrNameLst>
                                          <p:attrName>style.visibility</p:attrName>
                                        </p:attrNameLst>
                                      </p:cBhvr>
                                      <p:to>
                                        <p:strVal val="visible"/>
                                      </p:to>
                                    </p:set>
                                    <p:animEffect transition="in" filter="fade">
                                      <p:cBhvr>
                                        <p:cTn id="7" dur="500"/>
                                        <p:tgtEl>
                                          <p:spTgt spid="6">
                                            <p:bg/>
                                          </p:spTgt>
                                        </p:tgtEl>
                                      </p:cBhvr>
                                    </p:animEffect>
                                  </p:childTnLst>
                                </p:cTn>
                              </p:par>
                              <p:par>
                                <p:cTn id="8" presetID="10" presetClass="entr" presetSubtype="0" fill="hold" grpId="0" nodeType="withEffect" nodePh="1">
                                  <p:stCondLst>
                                    <p:cond delay="1000"/>
                                  </p:stCondLst>
                                  <p:endCondLst>
                                    <p:cond evt="begin" delay="0">
                                      <p:tn val="8"/>
                                    </p:cond>
                                  </p:end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fade">
                                      <p:cBhvr>
                                        <p:cTn id="10" dur="500"/>
                                        <p:tgtEl>
                                          <p:spTgt spid="6">
                                            <p:txEl>
                                              <p:pRg st="0" end="0"/>
                                            </p:txEl>
                                          </p:spTgt>
                                        </p:tgtEl>
                                      </p:cBhvr>
                                    </p:animEffect>
                                  </p:childTnLst>
                                </p:cTn>
                              </p:par>
                              <p:par>
                                <p:cTn id="11" presetID="10" presetClass="entr" presetSubtype="0" fill="hold" grpId="0" nodeType="withEffect">
                                  <p:stCondLst>
                                    <p:cond delay="1300"/>
                                  </p:stCondLst>
                                  <p:childTnLst>
                                    <p:set>
                                      <p:cBhvr>
                                        <p:cTn id="12" dur="1" fill="hold">
                                          <p:stCondLst>
                                            <p:cond delay="0"/>
                                          </p:stCondLst>
                                        </p:cTn>
                                        <p:tgtEl>
                                          <p:spTgt spid="10">
                                            <p:bg/>
                                          </p:spTgt>
                                        </p:tgtEl>
                                        <p:attrNameLst>
                                          <p:attrName>style.visibility</p:attrName>
                                        </p:attrNameLst>
                                      </p:cBhvr>
                                      <p:to>
                                        <p:strVal val="visible"/>
                                      </p:to>
                                    </p:set>
                                    <p:animEffect transition="in" filter="fade">
                                      <p:cBhvr>
                                        <p:cTn id="13" dur="500"/>
                                        <p:tgtEl>
                                          <p:spTgt spid="10">
                                            <p:bg/>
                                          </p:spTgt>
                                        </p:tgtEl>
                                      </p:cBhvr>
                                    </p:animEffect>
                                  </p:childTnLst>
                                </p:cTn>
                              </p:par>
                              <p:par>
                                <p:cTn id="14" presetID="10" presetClass="entr" presetSubtype="0" fill="hold" grpId="0" nodeType="withEffect" nodePh="1">
                                  <p:stCondLst>
                                    <p:cond delay="1000"/>
                                  </p:stCondLst>
                                  <p:endCondLst>
                                    <p:cond evt="begin" delay="0">
                                      <p:tn val="14"/>
                                    </p:cond>
                                  </p:endCondLst>
                                  <p:childTnLst>
                                    <p:set>
                                      <p:cBhvr>
                                        <p:cTn id="15" dur="1" fill="hold">
                                          <p:stCondLst>
                                            <p:cond delay="0"/>
                                          </p:stCondLst>
                                        </p:cTn>
                                        <p:tgtEl>
                                          <p:spTgt spid="10">
                                            <p:txEl>
                                              <p:pRg st="0" end="0"/>
                                            </p:txEl>
                                          </p:spTgt>
                                        </p:tgtEl>
                                        <p:attrNameLst>
                                          <p:attrName>style.visibility</p:attrName>
                                        </p:attrNameLst>
                                      </p:cBhvr>
                                      <p:to>
                                        <p:strVal val="visible"/>
                                      </p:to>
                                    </p:set>
                                    <p:animEffect transition="in" filter="fade">
                                      <p:cBhvr>
                                        <p:cTn id="16" dur="500"/>
                                        <p:tgtEl>
                                          <p:spTgt spid="10">
                                            <p:txEl>
                                              <p:pRg st="0" end="0"/>
                                            </p:txEl>
                                          </p:spTgt>
                                        </p:tgtEl>
                                      </p:cBhvr>
                                    </p:animEffect>
                                  </p:childTnLst>
                                </p:cTn>
                              </p:par>
                              <p:par>
                                <p:cTn id="17" presetID="10" presetClass="entr" presetSubtype="0" fill="hold" grpId="0" nodeType="withEffect">
                                  <p:stCondLst>
                                    <p:cond delay="60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700"/>
                                        <p:tgtEl>
                                          <p:spTgt spid="7">
                                            <p:txEl>
                                              <p:pRg st="0" end="0"/>
                                            </p:txEl>
                                          </p:spTgt>
                                        </p:tgtEl>
                                      </p:cBhvr>
                                    </p:animEffect>
                                  </p:childTnLst>
                                </p:cTn>
                              </p:par>
                              <p:par>
                                <p:cTn id="20" presetID="10" presetClass="entr" presetSubtype="0" fill="hold" grpId="0" nodeType="withEffect">
                                  <p:stCondLst>
                                    <p:cond delay="900"/>
                                  </p:stCondLst>
                                  <p:childTnLst>
                                    <p:set>
                                      <p:cBhvr>
                                        <p:cTn id="21" dur="1" fill="hold">
                                          <p:stCondLst>
                                            <p:cond delay="0"/>
                                          </p:stCondLst>
                                        </p:cTn>
                                        <p:tgtEl>
                                          <p:spTgt spid="7">
                                            <p:txEl>
                                              <p:pRg st="1" end="1"/>
                                            </p:txEl>
                                          </p:spTgt>
                                        </p:tgtEl>
                                        <p:attrNameLst>
                                          <p:attrName>style.visibility</p:attrName>
                                        </p:attrNameLst>
                                      </p:cBhvr>
                                      <p:to>
                                        <p:strVal val="visible"/>
                                      </p:to>
                                    </p:set>
                                    <p:animEffect transition="in" filter="fade">
                                      <p:cBhvr>
                                        <p:cTn id="22" dur="1700"/>
                                        <p:tgtEl>
                                          <p:spTgt spid="7">
                                            <p:txEl>
                                              <p:pRg st="1" end="1"/>
                                            </p:txEl>
                                          </p:spTgt>
                                        </p:tgtEl>
                                      </p:cBhvr>
                                    </p:animEffect>
                                  </p:childTnLst>
                                </p:cTn>
                              </p:par>
                              <p:par>
                                <p:cTn id="23" presetID="10" presetClass="entr" presetSubtype="0" fill="hold" grpId="0" nodeType="withEffect">
                                  <p:stCondLst>
                                    <p:cond delay="1100"/>
                                  </p:stCondLst>
                                  <p:childTnLst>
                                    <p:set>
                                      <p:cBhvr>
                                        <p:cTn id="24" dur="1" fill="hold">
                                          <p:stCondLst>
                                            <p:cond delay="0"/>
                                          </p:stCondLst>
                                        </p:cTn>
                                        <p:tgtEl>
                                          <p:spTgt spid="7">
                                            <p:txEl>
                                              <p:pRg st="2" end="2"/>
                                            </p:txEl>
                                          </p:spTgt>
                                        </p:tgtEl>
                                        <p:attrNameLst>
                                          <p:attrName>style.visibility</p:attrName>
                                        </p:attrNameLst>
                                      </p:cBhvr>
                                      <p:to>
                                        <p:strVal val="visible"/>
                                      </p:to>
                                    </p:set>
                                    <p:animEffect transition="in" filter="fade">
                                      <p:cBhvr>
                                        <p:cTn id="25" dur="1600"/>
                                        <p:tgtEl>
                                          <p:spTgt spid="7">
                                            <p:txEl>
                                              <p:pRg st="2" end="2"/>
                                            </p:txEl>
                                          </p:spTgt>
                                        </p:tgtEl>
                                      </p:cBhvr>
                                    </p:animEffect>
                                  </p:childTnLst>
                                </p:cTn>
                              </p:par>
                              <p:par>
                                <p:cTn id="26" presetID="42" presetClass="path" presetSubtype="0" accel="50000" decel="50000" fill="hold" grpId="1" nodeType="withEffect">
                                  <p:stCondLst>
                                    <p:cond delay="500"/>
                                  </p:stCondLst>
                                  <p:childTnLst>
                                    <p:animMotion origin="layout" path="M 5.55556E-7 1.85185E-6 L -0.02361 1.85185E-6 " pathEditMode="relative" rAng="0" ptsTypes="AA">
                                      <p:cBhvr>
                                        <p:cTn id="27" dur="1200" fill="hold"/>
                                        <p:tgtEl>
                                          <p:spTgt spid="7">
                                            <p:txEl>
                                              <p:pRg st="0" end="0"/>
                                            </p:txEl>
                                          </p:spTgt>
                                        </p:tgtEl>
                                        <p:attrNameLst>
                                          <p:attrName>ppt_x</p:attrName>
                                          <p:attrName>ppt_y</p:attrName>
                                        </p:attrNameLst>
                                      </p:cBhvr>
                                      <p:rCtr x="-1181" y="0"/>
                                    </p:animMotion>
                                  </p:childTnLst>
                                </p:cTn>
                              </p:par>
                              <p:par>
                                <p:cTn id="28" presetID="42" presetClass="path" presetSubtype="0" accel="50000" decel="50000" fill="hold" grpId="1" nodeType="withEffect">
                                  <p:stCondLst>
                                    <p:cond delay="700"/>
                                  </p:stCondLst>
                                  <p:childTnLst>
                                    <p:animMotion origin="layout" path="M 0.02361 7.40741E-7 L -1.66667E-6 7.40741E-7 " pathEditMode="relative" rAng="0" ptsTypes="AA">
                                      <p:cBhvr>
                                        <p:cTn id="29" dur="1100" fill="hold"/>
                                        <p:tgtEl>
                                          <p:spTgt spid="7">
                                            <p:txEl>
                                              <p:pRg st="1" end="1"/>
                                            </p:txEl>
                                          </p:spTgt>
                                        </p:tgtEl>
                                        <p:attrNameLst>
                                          <p:attrName>ppt_x</p:attrName>
                                          <p:attrName>ppt_y</p:attrName>
                                        </p:attrNameLst>
                                      </p:cBhvr>
                                      <p:rCtr x="-1181" y="0"/>
                                    </p:animMotion>
                                  </p:childTnLst>
                                </p:cTn>
                              </p:par>
                              <p:par>
                                <p:cTn id="30" presetID="42" presetClass="path" presetSubtype="0" accel="50000" decel="50000" fill="hold" grpId="1" nodeType="withEffect">
                                  <p:stCondLst>
                                    <p:cond delay="1000"/>
                                  </p:stCondLst>
                                  <p:childTnLst>
                                    <p:animMotion origin="layout" path="M 0.04479 0.00857 L 0.02899 0.00857 " pathEditMode="relative" rAng="0" ptsTypes="AA">
                                      <p:cBhvr>
                                        <p:cTn id="31" dur="900" fill="hold"/>
                                        <p:tgtEl>
                                          <p:spTgt spid="7">
                                            <p:txEl>
                                              <p:pRg st="2" end="2"/>
                                            </p:txEl>
                                          </p:spTgt>
                                        </p:tgtEl>
                                        <p:attrNameLst>
                                          <p:attrName>ppt_x</p:attrName>
                                          <p:attrName>ppt_y</p:attrName>
                                        </p:attrNameLst>
                                      </p:cBhvr>
                                      <p:rCtr x="-79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tmplLst>
          <p:tmpl>
            <p:tnLst>
              <p:par>
                <p:cTn presetID="10" presetClass="entr" presetSubtype="0" fill="hold" nodeType="withEffect">
                  <p:stCondLst>
                    <p:cond delay="100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P spid="10" grpId="0" build="p" animBg="1">
        <p:tmplLst>
          <p:tmpl>
            <p:tnLst>
              <p:par>
                <p:cTn presetID="10" presetClass="entr" presetSubtype="0" fill="hold" nodeType="withEffect">
                  <p:stCondLst>
                    <p:cond delay="130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 lvl="1">
            <p:tnLst>
              <p:par>
                <p:cTn presetID="10" presetClass="entr" presetSubtype="0" fill="hold" nodeType="withEffect" nodePh="1">
                  <p:stCondLst>
                    <p:cond delay="1000"/>
                  </p:stCondLst>
                  <p:endCondLst>
                    <p:cond delay="0"/>
                  </p:end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P spid="7" grpId="0" build="p">
        <p:tmplLst>
          <p:tmpl lvl="1">
            <p:tnLst>
              <p:par>
                <p:cTn presetID="10" presetClass="entr" presetSubtype="0" fill="hold" nodeType="withEffect">
                  <p:stCondLst>
                    <p:cond delay="6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2">
            <p:tnLst>
              <p:par>
                <p:cTn presetID="10" presetClass="entr" presetSubtype="0" fill="hold" nodeType="withEffect">
                  <p:stCondLst>
                    <p:cond delay="900"/>
                  </p:stCondLst>
                  <p:childTnLst>
                    <p:set>
                      <p:cBhvr>
                        <p:cTn dur="1" fill="hold">
                          <p:stCondLst>
                            <p:cond delay="0"/>
                          </p:stCondLst>
                        </p:cTn>
                        <p:tgtEl>
                          <p:spTgt spid="7"/>
                        </p:tgtEl>
                        <p:attrNameLst>
                          <p:attrName>style.visibility</p:attrName>
                        </p:attrNameLst>
                      </p:cBhvr>
                      <p:to>
                        <p:strVal val="visible"/>
                      </p:to>
                    </p:set>
                    <p:animEffect transition="in" filter="fade">
                      <p:cBhvr>
                        <p:cTn dur="1700"/>
                        <p:tgtEl>
                          <p:spTgt spid="7"/>
                        </p:tgtEl>
                      </p:cBhvr>
                    </p:animEffect>
                  </p:childTnLst>
                </p:cTn>
              </p:par>
            </p:tnLst>
          </p:tmpl>
          <p:tmpl lvl="3">
            <p:tnLst>
              <p:par>
                <p:cTn presetID="10" presetClass="entr" presetSubtype="0" fill="hold" nodeType="withEffect">
                  <p:stCondLst>
                    <p:cond delay="1100"/>
                  </p:stCondLst>
                  <p:childTnLst>
                    <p:set>
                      <p:cBhvr>
                        <p:cTn dur="1" fill="hold">
                          <p:stCondLst>
                            <p:cond delay="0"/>
                          </p:stCondLst>
                        </p:cTn>
                        <p:tgtEl>
                          <p:spTgt spid="7"/>
                        </p:tgtEl>
                        <p:attrNameLst>
                          <p:attrName>style.visibility</p:attrName>
                        </p:attrNameLst>
                      </p:cBhvr>
                      <p:to>
                        <p:strVal val="visible"/>
                      </p:to>
                    </p:set>
                    <p:animEffect transition="in" filter="fade">
                      <p:cBhvr>
                        <p:cTn dur="1600"/>
                        <p:tgtEl>
                          <p:spTgt spid="7"/>
                        </p:tgtEl>
                      </p:cBhvr>
                    </p:animEffect>
                  </p:childTnLst>
                </p:cTn>
              </p:par>
            </p:tnLst>
          </p:tmpl>
        </p:tmplLst>
      </p:bldP>
      <p:bldP spid="7" grpId="1" build="p">
        <p:tmplLst>
          <p:tmpl lvl="1">
            <p:tnLst>
              <p:par>
                <p:cTn presetID="42" presetClass="path" presetSubtype="0" accel="50000" decel="50000" fill="hold" nodeType="withEffect">
                  <p:stCondLst>
                    <p:cond delay="500"/>
                  </p:stCondLst>
                  <p:childTnLst>
                    <p:animMotion origin="layout" path="M 5.55556E-7 1.85185E-6 L -0.02361 1.85185E-6 " pathEditMode="relative" rAng="0" ptsTypes="AA">
                      <p:cBhvr>
                        <p:cTn dur="1200" fill="hold"/>
                        <p:tgtEl>
                          <p:spTgt spid="7"/>
                        </p:tgtEl>
                        <p:attrNameLst>
                          <p:attrName>ppt_x</p:attrName>
                          <p:attrName>ppt_y</p:attrName>
                        </p:attrNameLst>
                      </p:cBhvr>
                      <p:rCtr x="-1181" y="0"/>
                    </p:animMotion>
                  </p:childTnLst>
                </p:cTn>
              </p:par>
            </p:tnLst>
          </p:tmpl>
          <p:tmpl lvl="2">
            <p:tnLst>
              <p:par>
                <p:cTn presetID="42" presetClass="path" presetSubtype="0" accel="50000" decel="50000" fill="hold" nodeType="withEffect">
                  <p:stCondLst>
                    <p:cond delay="700"/>
                  </p:stCondLst>
                  <p:childTnLst>
                    <p:animMotion origin="layout" path="M 0.02361 7.40741E-7 L -1.66667E-6 7.40741E-7 " pathEditMode="relative" rAng="0" ptsTypes="AA">
                      <p:cBhvr>
                        <p:cTn dur="1100" fill="hold"/>
                        <p:tgtEl>
                          <p:spTgt spid="7"/>
                        </p:tgtEl>
                        <p:attrNameLst>
                          <p:attrName>ppt_x</p:attrName>
                          <p:attrName>ppt_y</p:attrName>
                        </p:attrNameLst>
                      </p:cBhvr>
                      <p:rCtr x="-1181" y="0"/>
                    </p:animMotion>
                  </p:childTnLst>
                </p:cTn>
              </p:par>
            </p:tnLst>
          </p:tmpl>
          <p:tmpl lvl="3">
            <p:tnLst>
              <p:par>
                <p:cTn presetID="42" presetClass="path" presetSubtype="0" accel="50000" decel="50000" fill="hold" nodeType="withEffect">
                  <p:stCondLst>
                    <p:cond delay="1000"/>
                  </p:stCondLst>
                  <p:childTnLst>
                    <p:animMotion origin="layout" path="M 0.04479 0.00857 L 0.02899 0.00857 " pathEditMode="relative" rAng="0" ptsTypes="AA">
                      <p:cBhvr>
                        <p:cTn dur="900" fill="hold"/>
                        <p:tgtEl>
                          <p:spTgt spid="7"/>
                        </p:tgtEl>
                        <p:attrNameLst>
                          <p:attrName>ppt_x</p:attrName>
                          <p:attrName>ppt_y</p:attrName>
                        </p:attrNameLst>
                      </p:cBhvr>
                      <p:rCtr x="-799" y="0"/>
                    </p:animMotion>
                  </p:childTnLst>
                </p:cTn>
              </p:par>
            </p:tnLst>
          </p:tmpl>
        </p:tmplLst>
      </p:bldP>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8FC"/>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4139772"/>
      </p:ext>
    </p:extLst>
  </p:cSld>
  <p:clrMap bg1="lt1" tx1="dk1" bg2="lt2" tx2="dk2" accent1="accent1" accent2="accent2" accent3="accent3" accent4="accent4" accent5="accent5" accent6="accent6" hlink="hlink" folHlink="folHlink"/>
  <p:sldLayoutIdLst>
    <p:sldLayoutId id="2147483655" r:id="rId1"/>
    <p:sldLayoutId id="2147483658" r:id="rId2"/>
    <p:sldLayoutId id="2147483661" r:id="rId3"/>
    <p:sldLayoutId id="2147483650" r:id="rId4"/>
    <p:sldLayoutId id="2147483668" r:id="rId5"/>
    <p:sldLayoutId id="2147483652" r:id="rId6"/>
    <p:sldLayoutId id="2147483660" r:id="rId7"/>
    <p:sldLayoutId id="2147483656" r:id="rId8"/>
    <p:sldLayoutId id="2147483666" r:id="rId9"/>
    <p:sldLayoutId id="2147483662" r:id="rId10"/>
    <p:sldLayoutId id="2147483659" r:id="rId11"/>
    <p:sldLayoutId id="2147483657" r:id="rId12"/>
    <p:sldLayoutId id="2147483667" r:id="rId13"/>
    <p:sldLayoutId id="2147483663" r:id="rId14"/>
  </p:sldLayoutIdLst>
  <p:hf hdr="0" ftr="0" dt="0"/>
  <p:txStyles>
    <p:titleStyle>
      <a:lvl1pPr algn="l" defTabSz="914400" rtl="0" eaLnBrk="1" latinLnBrk="0" hangingPunct="1">
        <a:spcBef>
          <a:spcPct val="0"/>
        </a:spcBef>
        <a:buNone/>
        <a:defRPr sz="3200" kern="1200">
          <a:solidFill>
            <a:schemeClr val="bg1"/>
          </a:solidFill>
          <a:latin typeface="Segoe WP" pitchFamily="34" charset="0"/>
          <a:ea typeface="Segoe UI" pitchFamily="34" charset="0"/>
          <a:cs typeface="Segoe UI"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bg1"/>
          </a:solidFill>
          <a:latin typeface="Segoe WP" pitchFamily="34" charset="0"/>
          <a:ea typeface="Segoe UI" pitchFamily="34" charset="0"/>
          <a:cs typeface="Segoe UI"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docs.microsoft.com/en-us/aspnet/" TargetMode="External"/><Relationship Id="rId1" Type="http://schemas.openxmlformats.org/officeDocument/2006/relationships/slideLayout" Target="../slideLayouts/slideLayout8.xml"/><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hyperlink" Target="https://ro.linkedin.com/in/cotfasliviu" TargetMode="External"/><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hyperlink" Target="https://www.manning.com/books/asp-net-core-in-action-third-edition" TargetMode="External"/><Relationship Id="rId2" Type="http://schemas.openxmlformats.org/officeDocument/2006/relationships/notesSlide" Target="../notesSlides/notesSlide1.xml"/><Relationship Id="rId1" Type="http://schemas.openxmlformats.org/officeDocument/2006/relationships/slideLayout" Target="../slideLayouts/slideLayout9.xml"/><Relationship Id="rId4" Type="http://schemas.openxmlformats.org/officeDocument/2006/relationships/hyperlink" Target="https://www.manning.com/books/pro-aspdotnet-core-7-tenth-edition"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hyperlink" Target="http://www.pluralsight.com/" TargetMode="External"/><Relationship Id="rId2" Type="http://schemas.openxmlformats.org/officeDocument/2006/relationships/hyperlink" Target="https://docs.microsoft.com/en-us/learn/" TargetMode="External"/><Relationship Id="rId1" Type="http://schemas.openxmlformats.org/officeDocument/2006/relationships/slideLayout" Target="../slideLayouts/slideLayout9.xml"/><Relationship Id="rId4" Type="http://schemas.openxmlformats.org/officeDocument/2006/relationships/hyperlink" Target="https://azure.microsoft.com/en-us/free/students/"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docs.microsoft.com/en-us/dotnet/api/?view=net-5.0" TargetMode="External"/><Relationship Id="rId2" Type="http://schemas.openxmlformats.org/officeDocument/2006/relationships/hyperlink" Target="https://docs.microsoft.com/en-us/aspnet/" TargetMode="External"/><Relationship Id="rId1" Type="http://schemas.openxmlformats.org/officeDocument/2006/relationships/slideLayout" Target="../slideLayouts/slideLayout9.xml"/><Relationship Id="rId5" Type="http://schemas.openxmlformats.org/officeDocument/2006/relationships/hyperlink" Target="https://code.msdn.microsoft.com/" TargetMode="External"/><Relationship Id="rId4" Type="http://schemas.openxmlformats.org/officeDocument/2006/relationships/hyperlink" Target="https://github.com/aspnet/Home" TargetMode="External"/></Relationships>
</file>

<file path=ppt/slides/_rels/slide8.xml.rels><?xml version="1.0" encoding="UTF-8" standalone="yes"?>
<Relationships xmlns="http://schemas.openxmlformats.org/package/2006/relationships"><Relationship Id="rId8" Type="http://schemas.openxmlformats.org/officeDocument/2006/relationships/slide" Target="slide27.xml"/><Relationship Id="rId3" Type="http://schemas.openxmlformats.org/officeDocument/2006/relationships/image" Target="../media/image8.png"/><Relationship Id="rId7" Type="http://schemas.openxmlformats.org/officeDocument/2006/relationships/slide" Target="slide24.xml"/><Relationship Id="rId2" Type="http://schemas.openxmlformats.org/officeDocument/2006/relationships/image" Target="../media/image7.png"/><Relationship Id="rId1" Type="http://schemas.openxmlformats.org/officeDocument/2006/relationships/slideLayout" Target="../slideLayouts/slideLayout4.xml"/><Relationship Id="rId6" Type="http://schemas.openxmlformats.org/officeDocument/2006/relationships/slide" Target="slide10.xml"/><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slide" Target="slide29.xml"/></Relationships>
</file>

<file path=ppt/slides/_rels/slide9.xml.rels><?xml version="1.0" encoding="UTF-8" standalone="yes"?>
<Relationships xmlns="http://schemas.openxmlformats.org/package/2006/relationships"><Relationship Id="rId2" Type="http://schemas.openxmlformats.org/officeDocument/2006/relationships/hyperlink" Target="https://docs.microsoft.com/en-us/aspnet/core/security"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hyperlink" Target="https://docs.microsoft.com/en-us/aspnet/core/security/anti-request-forgery" TargetMode="External"/><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docs.microsoft.com/en-us/aspnet/core/security/cors?view=aspnetcore-2.1" TargetMode="Externa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hyperlink" Target="https://docs.microsoft.com/en-us/aspnet/core/security/cross-site-scripting"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effectLst>
                  <a:outerShdw blurRad="38100" dist="38100" dir="2700000" algn="tl">
                    <a:srgbClr val="000000">
                      <a:alpha val="43137"/>
                    </a:srgbClr>
                  </a:outerShdw>
                </a:effectLst>
                <a:latin typeface="Segoe UI" panose="020B0502040204020203" pitchFamily="34" charset="0"/>
              </a:rPr>
              <a:t>Web and Cloud Security</a:t>
            </a:r>
            <a:endParaRPr lang="en-GB" b="1" dirty="0">
              <a:effectLst>
                <a:outerShdw blurRad="38100" dist="38100" dir="2700000" algn="tl">
                  <a:srgbClr val="000000">
                    <a:alpha val="43137"/>
                  </a:srgbClr>
                </a:outerShdw>
              </a:effectLst>
            </a:endParaRPr>
          </a:p>
        </p:txBody>
      </p:sp>
      <p:sp>
        <p:nvSpPr>
          <p:cNvPr id="3" name="Text Placeholder 2"/>
          <p:cNvSpPr>
            <a:spLocks noGrp="1"/>
          </p:cNvSpPr>
          <p:nvPr>
            <p:ph type="body" sz="quarter" idx="10"/>
          </p:nvPr>
        </p:nvSpPr>
        <p:spPr/>
        <p:txBody>
          <a:bodyPr/>
          <a:lstStyle/>
          <a:p>
            <a:r>
              <a:rPr lang="en-US" dirty="0"/>
              <a:t>ASP.NET</a:t>
            </a:r>
            <a:r>
              <a:rPr lang="en-US" b="1" dirty="0"/>
              <a:t> – Part III</a:t>
            </a:r>
            <a:endParaRPr lang="hr-HR" b="1" dirty="0">
              <a:effectLst>
                <a:outerShdw blurRad="38100" dist="38100" dir="2700000" algn="tl">
                  <a:srgbClr val="000000">
                    <a:alpha val="43137"/>
                  </a:srgbClr>
                </a:outerShdw>
              </a:effectLst>
            </a:endParaRPr>
          </a:p>
        </p:txBody>
      </p:sp>
      <p:sp>
        <p:nvSpPr>
          <p:cNvPr id="8" name="Text Placeholder 7"/>
          <p:cNvSpPr>
            <a:spLocks noGrp="1"/>
          </p:cNvSpPr>
          <p:nvPr>
            <p:ph type="body" sz="quarter" idx="11"/>
          </p:nvPr>
        </p:nvSpPr>
        <p:spPr>
          <a:prstGeom prst="rect">
            <a:avLst/>
          </a:prstGeom>
        </p:spPr>
        <p:txBody>
          <a:bodyPr/>
          <a:lstStyle/>
          <a:p>
            <a:r>
              <a:rPr lang="en-US" b="1" dirty="0"/>
              <a:t>liviu.cotfas</a:t>
            </a:r>
            <a:r>
              <a:rPr lang="en-US" dirty="0"/>
              <a:t>@ase.ro</a:t>
            </a:r>
            <a:endParaRPr lang="hr-HR" dirty="0"/>
          </a:p>
        </p:txBody>
      </p:sp>
      <p:pic>
        <p:nvPicPr>
          <p:cNvPr id="4098" name="Picture 2" descr="http://dice.ase.ro/wp-content/themes/twentyeleven-xili/images/di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1424" y="261247"/>
            <a:ext cx="1190625" cy="952500"/>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7"/>
          <p:cNvSpPr txBox="1">
            <a:spLocks/>
          </p:cNvSpPr>
          <p:nvPr/>
        </p:nvSpPr>
        <p:spPr>
          <a:xfrm>
            <a:off x="911424" y="6256872"/>
            <a:ext cx="3456463" cy="393009"/>
          </a:xfrm>
          <a:prstGeom prst="rect">
            <a:avLst/>
          </a:prstGeom>
        </p:spPr>
        <p:txBody>
          <a:bodyPr anchor="ctr"/>
          <a:lstStyle>
            <a:lvl1pPr marL="0" indent="0" algn="l" defTabSz="914400" rtl="0" eaLnBrk="1" latinLnBrk="0" hangingPunct="1">
              <a:spcBef>
                <a:spcPct val="20000"/>
              </a:spcBef>
              <a:buFont typeface="Arial" pitchFamily="34" charset="0"/>
              <a:buNone/>
              <a:defRPr sz="2200" kern="1200">
                <a:ln>
                  <a:noFill/>
                </a:ln>
                <a:solidFill>
                  <a:schemeClr val="bg1">
                    <a:lumMod val="50000"/>
                  </a:schemeClr>
                </a:solidFill>
                <a:latin typeface="Segoe UI Light" panose="020B0502040204020203" pitchFamily="34" charset="0"/>
                <a:ea typeface="Segoe UI" pitchFamily="34" charset="0"/>
                <a:cs typeface="Segoe UI Light" panose="020B0502040204020203" pitchFamily="34" charset="0"/>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Segoe WP" pitchFamily="34" charset="0"/>
                <a:ea typeface="Segoe UI" pitchFamily="34" charset="0"/>
                <a:cs typeface="Segoe UI" pitchFamily="34" charset="0"/>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Segoe WP"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Liviu-Adrian Cotfas, PhD.</a:t>
            </a:r>
            <a:endParaRPr lang="hr-HR" b="1" dirty="0"/>
          </a:p>
        </p:txBody>
      </p:sp>
      <p:sp>
        <p:nvSpPr>
          <p:cNvPr id="9" name="Rectangle 8"/>
          <p:cNvSpPr/>
          <p:nvPr/>
        </p:nvSpPr>
        <p:spPr>
          <a:xfrm>
            <a:off x="2207568" y="459570"/>
            <a:ext cx="6096000" cy="646331"/>
          </a:xfrm>
          <a:prstGeom prst="rect">
            <a:avLst/>
          </a:prstGeom>
        </p:spPr>
        <p:txBody>
          <a:bodyPr>
            <a:spAutoFit/>
          </a:bodyPr>
          <a:lstStyle/>
          <a:p>
            <a:r>
              <a:rPr lang="en-US" b="1" dirty="0"/>
              <a:t>Department of Economic Informatics  and Cybernetics</a:t>
            </a:r>
          </a:p>
          <a:p>
            <a:r>
              <a:rPr lang="en-US" dirty="0"/>
              <a:t>Bucharest University of Economic Studies</a:t>
            </a:r>
          </a:p>
        </p:txBody>
      </p:sp>
    </p:spTree>
    <p:extLst>
      <p:ext uri="{BB962C8B-B14F-4D97-AF65-F5344CB8AC3E}">
        <p14:creationId xmlns:p14="http://schemas.microsoft.com/office/powerpoint/2010/main" val="1215202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ASP.NET MVC Core, C# Language</a:t>
            </a:r>
          </a:p>
        </p:txBody>
      </p:sp>
      <p:sp>
        <p:nvSpPr>
          <p:cNvPr id="5" name="Content Placeholder 4"/>
          <p:cNvSpPr>
            <a:spLocks noGrp="1"/>
          </p:cNvSpPr>
          <p:nvPr>
            <p:ph idx="1"/>
          </p:nvPr>
        </p:nvSpPr>
        <p:spPr/>
        <p:txBody>
          <a:bodyPr/>
          <a:lstStyle/>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pPr marL="342900" indent="-342900">
              <a:buFont typeface="Arial" panose="020B0604020202020204" pitchFamily="34" charset="0"/>
              <a:buChar char="•"/>
            </a:pPr>
            <a:r>
              <a:rPr lang="en-US" b="1" dirty="0"/>
              <a:t>url:</a:t>
            </a:r>
            <a:r>
              <a:rPr lang="en-US" dirty="0"/>
              <a:t> </a:t>
            </a:r>
            <a:r>
              <a:rPr lang="en-US" dirty="0">
                <a:hlinkClick r:id="rId2"/>
              </a:rPr>
              <a:t>https://docs.microsoft.com/en-us/aspnet/</a:t>
            </a:r>
            <a:r>
              <a:rPr lang="en-US" dirty="0"/>
              <a:t> </a:t>
            </a:r>
          </a:p>
        </p:txBody>
      </p:sp>
      <p:sp>
        <p:nvSpPr>
          <p:cNvPr id="8" name="TextBox 7"/>
          <p:cNvSpPr txBox="1"/>
          <p:nvPr/>
        </p:nvSpPr>
        <p:spPr>
          <a:xfrm>
            <a:off x="8328248" y="2587261"/>
            <a:ext cx="1242648" cy="1323439"/>
          </a:xfrm>
          <a:prstGeom prst="rect">
            <a:avLst/>
          </a:prstGeom>
          <a:noFill/>
        </p:spPr>
        <p:txBody>
          <a:bodyPr wrap="none" rtlCol="0">
            <a:spAutoFit/>
          </a:bodyPr>
          <a:lstStyle/>
          <a:p>
            <a:r>
              <a:rPr lang="en-US" sz="8000" dirty="0"/>
              <a:t>C#</a:t>
            </a:r>
          </a:p>
        </p:txBody>
      </p:sp>
      <p:pic>
        <p:nvPicPr>
          <p:cNvPr id="9" name="Graphic 8"/>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83632" y="2132856"/>
            <a:ext cx="2232248" cy="2232248"/>
          </a:xfrm>
          <a:prstGeom prst="rect">
            <a:avLst/>
          </a:prstGeom>
        </p:spPr>
      </p:pic>
    </p:spTree>
    <p:extLst>
      <p:ext uri="{BB962C8B-B14F-4D97-AF65-F5344CB8AC3E}">
        <p14:creationId xmlns:p14="http://schemas.microsoft.com/office/powerpoint/2010/main" val="863801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About me</a:t>
            </a:r>
          </a:p>
        </p:txBody>
      </p:sp>
      <p:grpSp>
        <p:nvGrpSpPr>
          <p:cNvPr id="7" name="Group 6"/>
          <p:cNvGrpSpPr/>
          <p:nvPr/>
        </p:nvGrpSpPr>
        <p:grpSpPr>
          <a:xfrm>
            <a:off x="2567608" y="3068960"/>
            <a:ext cx="7460941" cy="1082421"/>
            <a:chOff x="2683733" y="3068960"/>
            <a:chExt cx="7460941" cy="1082421"/>
          </a:xfrm>
        </p:grpSpPr>
        <p:pic>
          <p:nvPicPr>
            <p:cNvPr id="3074" name="Picture 2" descr="https://encrypted-tbn3.gstatic.com/images?q=tbn:ANd9GcStFK36H8y2rc3VEsxbLDQ4ANfdsyTNE1Y0qyTR34be9MrGzZnK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3733" y="3068960"/>
              <a:ext cx="1082421" cy="108242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4751851" y="3363949"/>
              <a:ext cx="5392823" cy="492443"/>
            </a:xfrm>
            <a:prstGeom prst="rect">
              <a:avLst/>
            </a:prstGeom>
            <a:noFill/>
          </p:spPr>
          <p:txBody>
            <a:bodyPr wrap="none" rtlCol="0">
              <a:spAutoFit/>
            </a:bodyPr>
            <a:lstStyle/>
            <a:p>
              <a:r>
                <a:rPr lang="en-US" sz="2600" b="1" dirty="0">
                  <a:solidFill>
                    <a:schemeClr val="bg1">
                      <a:lumMod val="50000"/>
                    </a:schemeClr>
                  </a:solidFill>
                  <a:hlinkClick r:id="rId3"/>
                </a:rPr>
                <a:t>https://ro.linkedin.com/in/cotfasliviu</a:t>
              </a:r>
              <a:endParaRPr lang="en-US" sz="2600" b="1" dirty="0">
                <a:solidFill>
                  <a:schemeClr val="bg1">
                    <a:lumMod val="50000"/>
                  </a:schemeClr>
                </a:solidFill>
              </a:endParaRPr>
            </a:p>
          </p:txBody>
        </p:sp>
      </p:grpSp>
    </p:spTree>
    <p:extLst>
      <p:ext uri="{BB962C8B-B14F-4D97-AF65-F5344CB8AC3E}">
        <p14:creationId xmlns:p14="http://schemas.microsoft.com/office/powerpoint/2010/main" val="1547109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3" name="Content Placeholder 2"/>
          <p:cNvSpPr>
            <a:spLocks noGrp="1"/>
          </p:cNvSpPr>
          <p:nvPr>
            <p:ph idx="1"/>
          </p:nvPr>
        </p:nvSpPr>
        <p:spPr>
          <a:xfrm>
            <a:off x="767408" y="1340768"/>
            <a:ext cx="10657184" cy="4813995"/>
          </a:xfrm>
        </p:spPr>
        <p:txBody>
          <a:bodyPr anchor="ctr"/>
          <a:lstStyle/>
          <a:p>
            <a:pPr marL="342900" indent="-342900">
              <a:buFont typeface="Wingdings" panose="05000000000000000000" pitchFamily="2" charset="2"/>
              <a:buChar char="§"/>
            </a:pPr>
            <a:r>
              <a:rPr lang="en-US" dirty="0"/>
              <a:t>Books</a:t>
            </a:r>
          </a:p>
          <a:p>
            <a:pPr marL="597150" lvl="1" indent="-342900">
              <a:buFont typeface="Wingdings" panose="05000000000000000000" pitchFamily="2" charset="2"/>
              <a:buChar char="§"/>
            </a:pPr>
            <a:r>
              <a:rPr lang="en-US" dirty="0"/>
              <a:t>ASP.NET CORE in Action, Third Edition (</a:t>
            </a:r>
            <a:r>
              <a:rPr lang="en-US" u="sng" dirty="0">
                <a:hlinkClick r:id="rId3"/>
              </a:rPr>
              <a:t>https://www.manning.com/books/asp-net-core-in-action-third-edition</a:t>
            </a:r>
            <a:r>
              <a:rPr lang="en-US" dirty="0"/>
              <a:t>)</a:t>
            </a:r>
          </a:p>
          <a:p>
            <a:pPr marL="597150" lvl="1" indent="-342900">
              <a:buFont typeface="Wingdings" panose="05000000000000000000" pitchFamily="2" charset="2"/>
              <a:buChar char="§"/>
            </a:pPr>
            <a:r>
              <a:rPr lang="en-US" dirty="0"/>
              <a:t>Pro ASP.NET Core 7 (</a:t>
            </a:r>
            <a:r>
              <a:rPr lang="en-US" u="sng" dirty="0">
                <a:hlinkClick r:id="rId4"/>
              </a:rPr>
              <a:t>https://www.manning.com/books/pro-aspdotnet-core-7-tenth-edition</a:t>
            </a:r>
            <a:r>
              <a:rPr lang="en-US" dirty="0"/>
              <a:t>)</a:t>
            </a:r>
          </a:p>
        </p:txBody>
      </p:sp>
      <p:sp>
        <p:nvSpPr>
          <p:cNvPr id="4" name="Text Placeholder 3"/>
          <p:cNvSpPr>
            <a:spLocks noGrp="1"/>
          </p:cNvSpPr>
          <p:nvPr>
            <p:ph type="body" sz="quarter" idx="10"/>
          </p:nvPr>
        </p:nvSpPr>
        <p:spPr/>
        <p:txBody>
          <a:bodyPr/>
          <a:lstStyle/>
          <a:p>
            <a:r>
              <a:rPr lang="en-US" dirty="0"/>
              <a:t>Recommended Reading / Watching</a:t>
            </a:r>
          </a:p>
        </p:txBody>
      </p:sp>
    </p:spTree>
    <p:extLst>
      <p:ext uri="{BB962C8B-B14F-4D97-AF65-F5344CB8AC3E}">
        <p14:creationId xmlns:p14="http://schemas.microsoft.com/office/powerpoint/2010/main" val="93081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4" name="Text Placeholder 3"/>
          <p:cNvSpPr>
            <a:spLocks noGrp="1"/>
          </p:cNvSpPr>
          <p:nvPr>
            <p:ph type="body" sz="quarter" idx="10"/>
          </p:nvPr>
        </p:nvSpPr>
        <p:spPr/>
        <p:txBody>
          <a:bodyPr/>
          <a:lstStyle/>
          <a:p>
            <a:r>
              <a:rPr lang="en-US" dirty="0"/>
              <a:t>Recommended Reading / Watching</a:t>
            </a:r>
          </a:p>
        </p:txBody>
      </p:sp>
      <p:sp>
        <p:nvSpPr>
          <p:cNvPr id="5" name="Content Placeholder 2">
            <a:extLst>
              <a:ext uri="{FF2B5EF4-FFF2-40B4-BE49-F238E27FC236}">
                <a16:creationId xmlns:a16="http://schemas.microsoft.com/office/drawing/2014/main" id="{1B7800C0-49F5-16B0-FAC1-DA596B50BBBC}"/>
              </a:ext>
            </a:extLst>
          </p:cNvPr>
          <p:cNvSpPr txBox="1">
            <a:spLocks/>
          </p:cNvSpPr>
          <p:nvPr/>
        </p:nvSpPr>
        <p:spPr>
          <a:xfrm>
            <a:off x="767407" y="1340768"/>
            <a:ext cx="7483507" cy="4813995"/>
          </a:xfrm>
          <a:prstGeom prst="rect">
            <a:avLst/>
          </a:prstGeom>
        </p:spPr>
        <p:txBody>
          <a:bodyPr anchor="ctr"/>
          <a:lstStyle>
            <a:lvl1pPr marL="0" indent="0" algn="l" defTabSz="914400" rtl="0" eaLnBrk="1" latinLnBrk="0" hangingPunct="1">
              <a:spcBef>
                <a:spcPct val="20000"/>
              </a:spcBef>
              <a:buClr>
                <a:schemeClr val="tx1"/>
              </a:buClr>
              <a:buFontTx/>
              <a:buNone/>
              <a:defRPr sz="2400" kern="1200">
                <a:solidFill>
                  <a:schemeClr val="tx1"/>
                </a:solidFill>
                <a:latin typeface="Segoe UI Light" pitchFamily="34" charset="0"/>
                <a:ea typeface="Segoe UI" pitchFamily="34" charset="0"/>
                <a:cs typeface="Segoe UI" pitchFamily="34" charset="0"/>
              </a:defRPr>
            </a:lvl1pPr>
            <a:lvl2pPr marL="254250" indent="0" algn="l" defTabSz="914400" rtl="0" eaLnBrk="1" latinLnBrk="0" hangingPunct="1">
              <a:spcBef>
                <a:spcPct val="20000"/>
              </a:spcBef>
              <a:buClr>
                <a:schemeClr val="tx1"/>
              </a:buClr>
              <a:buFontTx/>
              <a:buNone/>
              <a:defRPr sz="2400" kern="1200">
                <a:solidFill>
                  <a:schemeClr val="tx1">
                    <a:lumMod val="65000"/>
                    <a:lumOff val="35000"/>
                  </a:schemeClr>
                </a:solidFill>
                <a:latin typeface="Segoe UI Light" pitchFamily="34" charset="0"/>
                <a:ea typeface="Segoe UI" pitchFamily="34" charset="0"/>
                <a:cs typeface="Segoe UI" pitchFamily="34" charset="0"/>
              </a:defRPr>
            </a:lvl2pPr>
            <a:lvl3pPr marL="491400" indent="0" algn="l" defTabSz="914400" rtl="0" eaLnBrk="1" latinLnBrk="0" hangingPunct="1">
              <a:spcBef>
                <a:spcPct val="20000"/>
              </a:spcBef>
              <a:buClr>
                <a:schemeClr val="tx1"/>
              </a:buClr>
              <a:buFontTx/>
              <a:buNone/>
              <a:defRPr sz="2400" kern="1200">
                <a:solidFill>
                  <a:schemeClr val="bg1">
                    <a:lumMod val="50000"/>
                  </a:schemeClr>
                </a:solidFill>
                <a:latin typeface="Segoe UI Light" pitchFamily="34" charset="0"/>
                <a:ea typeface="Segoe UI" pitchFamily="34" charset="0"/>
                <a:cs typeface="Segoe UI" pitchFamily="34" charset="0"/>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Segoe WP" pitchFamily="34" charset="0"/>
                <a:ea typeface="Segoe UI" pitchFamily="34" charset="0"/>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indent="-342900">
              <a:buFont typeface="Wingdings" panose="05000000000000000000" pitchFamily="2" charset="2"/>
              <a:buChar char="§"/>
            </a:pPr>
            <a:r>
              <a:rPr lang="en-US" b="1" dirty="0"/>
              <a:t>Free Books:</a:t>
            </a:r>
          </a:p>
          <a:p>
            <a:pPr marL="597150" lvl="1" indent="-342900">
              <a:buFont typeface="Wingdings" panose="05000000000000000000" pitchFamily="2" charset="2"/>
              <a:buChar char="§"/>
            </a:pPr>
            <a:r>
              <a:rPr lang="en-US" dirty="0"/>
              <a:t>https://www.syncfusion.com/succinctly-free-ebooks?category=all&amp;searchkey=asp.net&amp;type=all</a:t>
            </a:r>
          </a:p>
        </p:txBody>
      </p:sp>
      <p:grpSp>
        <p:nvGrpSpPr>
          <p:cNvPr id="7" name="Group 6">
            <a:extLst>
              <a:ext uri="{FF2B5EF4-FFF2-40B4-BE49-F238E27FC236}">
                <a16:creationId xmlns:a16="http://schemas.microsoft.com/office/drawing/2014/main" id="{2E6C7952-9F2E-5ECD-6F3D-B1F5CADD2D1E}"/>
              </a:ext>
            </a:extLst>
          </p:cNvPr>
          <p:cNvGrpSpPr/>
          <p:nvPr/>
        </p:nvGrpSpPr>
        <p:grpSpPr>
          <a:xfrm>
            <a:off x="8544272" y="3212976"/>
            <a:ext cx="2592288" cy="1224136"/>
            <a:chOff x="8544272" y="3063128"/>
            <a:chExt cx="2592288" cy="1224136"/>
          </a:xfrm>
        </p:grpSpPr>
        <p:sp>
          <p:nvSpPr>
            <p:cNvPr id="9" name="Rectangle 8">
              <a:extLst>
                <a:ext uri="{FF2B5EF4-FFF2-40B4-BE49-F238E27FC236}">
                  <a16:creationId xmlns:a16="http://schemas.microsoft.com/office/drawing/2014/main" id="{D4304E57-47A1-ED7F-DDEB-2A27F3411775}"/>
                </a:ext>
              </a:extLst>
            </p:cNvPr>
            <p:cNvSpPr/>
            <p:nvPr/>
          </p:nvSpPr>
          <p:spPr>
            <a:xfrm>
              <a:off x="8544272" y="3063128"/>
              <a:ext cx="2592288" cy="1224136"/>
            </a:xfrm>
            <a:prstGeom prst="rect">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pic>
          <p:nvPicPr>
            <p:cNvPr id="10" name="Picture 9" descr="A white text on a black background&#10;&#10;AI-generated content may be incorrect.">
              <a:extLst>
                <a:ext uri="{FF2B5EF4-FFF2-40B4-BE49-F238E27FC236}">
                  <a16:creationId xmlns:a16="http://schemas.microsoft.com/office/drawing/2014/main" id="{DD6A4B40-351B-2AFE-1BF9-1FAB692588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7629" y="3475833"/>
              <a:ext cx="2082907" cy="457223"/>
            </a:xfrm>
            <a:prstGeom prst="rect">
              <a:avLst/>
            </a:prstGeom>
          </p:spPr>
        </p:pic>
      </p:grpSp>
    </p:spTree>
    <p:extLst>
      <p:ext uri="{BB962C8B-B14F-4D97-AF65-F5344CB8AC3E}">
        <p14:creationId xmlns:p14="http://schemas.microsoft.com/office/powerpoint/2010/main" val="3449755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Administrative issues</a:t>
            </a:r>
          </a:p>
        </p:txBody>
      </p:sp>
      <p:sp>
        <p:nvSpPr>
          <p:cNvPr id="2" name="Content Placeholder 1"/>
          <p:cNvSpPr>
            <a:spLocks noGrp="1"/>
          </p:cNvSpPr>
          <p:nvPr>
            <p:ph idx="1"/>
          </p:nvPr>
        </p:nvSpPr>
        <p:spPr/>
        <p:txBody>
          <a:bodyPr/>
          <a:lstStyle/>
          <a:p>
            <a:pPr marL="88650" indent="-342900" algn="just">
              <a:buFont typeface="Wingdings" panose="05000000000000000000" pitchFamily="2" charset="2"/>
              <a:buChar char="§"/>
            </a:pPr>
            <a:r>
              <a:rPr lang="en-US" dirty="0"/>
              <a:t>Courses on </a:t>
            </a:r>
            <a:r>
              <a:rPr lang="en-US" b="1" dirty="0"/>
              <a:t>Microsoft Learn - </a:t>
            </a:r>
            <a:r>
              <a:rPr lang="en-US" dirty="0">
                <a:hlinkClick r:id="rId2"/>
              </a:rPr>
              <a:t>https://docs.microsoft.com/en-us/learn/</a:t>
            </a:r>
            <a:endParaRPr lang="en-US" dirty="0"/>
          </a:p>
          <a:p>
            <a:pPr marL="597150" lvl="1" indent="-342900" algn="just">
              <a:buFont typeface="Wingdings" panose="05000000000000000000" pitchFamily="2" charset="2"/>
              <a:buChar char="§"/>
            </a:pPr>
            <a:r>
              <a:rPr lang="en-US" dirty="0"/>
              <a:t>Free</a:t>
            </a:r>
          </a:p>
          <a:p>
            <a:pPr marL="597150" lvl="1"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r>
              <a:rPr lang="en-US" dirty="0"/>
              <a:t>Courses on </a:t>
            </a:r>
            <a:r>
              <a:rPr lang="en-US" b="1" dirty="0" err="1"/>
              <a:t>PluralSight</a:t>
            </a:r>
            <a:r>
              <a:rPr lang="en-US" dirty="0"/>
              <a:t> - </a:t>
            </a:r>
            <a:r>
              <a:rPr lang="en-US" dirty="0">
                <a:hlinkClick r:id="rId3"/>
              </a:rPr>
              <a:t>www.pluralsight.com</a:t>
            </a:r>
            <a:endParaRPr lang="en-US" dirty="0"/>
          </a:p>
          <a:p>
            <a:pPr marL="597150" lvl="1" indent="-342900" algn="just">
              <a:buFont typeface="Wingdings" panose="05000000000000000000" pitchFamily="2" charset="2"/>
              <a:buChar char="§"/>
            </a:pPr>
            <a:r>
              <a:rPr lang="en-US" dirty="0"/>
              <a:t>Free trial (10 days)</a:t>
            </a:r>
          </a:p>
          <a:p>
            <a:pPr marL="597150" lvl="1" indent="-342900" algn="just">
              <a:buFont typeface="Wingdings" panose="05000000000000000000" pitchFamily="2" charset="2"/>
              <a:buChar char="§"/>
            </a:pPr>
            <a:r>
              <a:rPr lang="en-US" dirty="0"/>
              <a:t>Free </a:t>
            </a:r>
            <a:r>
              <a:rPr lang="en-US" b="1" dirty="0"/>
              <a:t>limited</a:t>
            </a:r>
            <a:r>
              <a:rPr lang="en-US" dirty="0"/>
              <a:t> access through </a:t>
            </a:r>
            <a:r>
              <a:rPr lang="en-US" dirty="0">
                <a:hlinkClick r:id="rId4"/>
              </a:rPr>
              <a:t>https://azure.microsoft.com/en-us/free/students/</a:t>
            </a:r>
            <a:endParaRPr lang="en-US" dirty="0"/>
          </a:p>
        </p:txBody>
      </p:sp>
      <p:sp>
        <p:nvSpPr>
          <p:cNvPr id="4" name="Text Placeholder 3"/>
          <p:cNvSpPr>
            <a:spLocks noGrp="1"/>
          </p:cNvSpPr>
          <p:nvPr>
            <p:ph type="body" sz="quarter" idx="10"/>
          </p:nvPr>
        </p:nvSpPr>
        <p:spPr/>
        <p:txBody>
          <a:bodyPr/>
          <a:lstStyle/>
          <a:p>
            <a:r>
              <a:rPr lang="en-US" dirty="0"/>
              <a:t>Further Reading / Watching</a:t>
            </a:r>
          </a:p>
        </p:txBody>
      </p:sp>
    </p:spTree>
    <p:extLst>
      <p:ext uri="{BB962C8B-B14F-4D97-AF65-F5344CB8AC3E}">
        <p14:creationId xmlns:p14="http://schemas.microsoft.com/office/powerpoint/2010/main" val="3351431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issues</a:t>
            </a:r>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Documentation:</a:t>
            </a:r>
          </a:p>
          <a:p>
            <a:pPr marL="597150" lvl="1" indent="-342900">
              <a:buFont typeface="Wingdings" panose="05000000000000000000" pitchFamily="2" charset="2"/>
              <a:buChar char="§"/>
            </a:pPr>
            <a:r>
              <a:rPr lang="en-US" dirty="0">
                <a:hlinkClick r:id="rId2"/>
              </a:rPr>
              <a:t>https://docs.microsoft.com/en-us/aspnet/</a:t>
            </a:r>
            <a:endParaRPr lang="en-US" dirty="0"/>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API reference:</a:t>
            </a:r>
          </a:p>
          <a:p>
            <a:pPr marL="597150" lvl="1" indent="-342900">
              <a:buFont typeface="Wingdings" panose="05000000000000000000" pitchFamily="2" charset="2"/>
              <a:buChar char="§"/>
            </a:pPr>
            <a:r>
              <a:rPr lang="en-US" u="sng" dirty="0">
                <a:hlinkClick r:id="rId3"/>
              </a:rPr>
              <a:t>https://docs.microsoft.com/en-us/dotnet/api/?view=net-5.0</a:t>
            </a:r>
            <a:endParaRPr lang="en-US" u="sng" dirty="0"/>
          </a:p>
          <a:p>
            <a:pPr marL="597150" lvl="1"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Source code:</a:t>
            </a:r>
          </a:p>
          <a:p>
            <a:pPr marL="597150" lvl="1" indent="-342900">
              <a:buFont typeface="Wingdings" panose="05000000000000000000" pitchFamily="2" charset="2"/>
              <a:buChar char="§"/>
            </a:pPr>
            <a:r>
              <a:rPr lang="en-US" dirty="0">
                <a:hlinkClick r:id="rId4"/>
              </a:rPr>
              <a:t>https://github.com/aspnet/Home</a:t>
            </a:r>
            <a:endParaRPr lang="en-US" dirty="0"/>
          </a:p>
          <a:p>
            <a:pPr lvl="1"/>
            <a:endParaRPr lang="en-US" dirty="0"/>
          </a:p>
          <a:p>
            <a:pPr marL="342900" indent="-342900">
              <a:buFont typeface="Wingdings" panose="05000000000000000000" pitchFamily="2" charset="2"/>
              <a:buChar char="§"/>
            </a:pPr>
            <a:r>
              <a:rPr lang="en-US" dirty="0"/>
              <a:t>Various samples:</a:t>
            </a:r>
          </a:p>
          <a:p>
            <a:pPr marL="597150" lvl="1" indent="-342900">
              <a:buFont typeface="Wingdings" panose="05000000000000000000" pitchFamily="2" charset="2"/>
              <a:buChar char="§"/>
            </a:pPr>
            <a:r>
              <a:rPr lang="en-US" dirty="0">
                <a:hlinkClick r:id="rId5"/>
              </a:rPr>
              <a:t>https://code.msdn.microsoft.com/</a:t>
            </a:r>
            <a:endParaRPr lang="en-US" dirty="0"/>
          </a:p>
        </p:txBody>
      </p:sp>
      <p:sp>
        <p:nvSpPr>
          <p:cNvPr id="4" name="Text Placeholder 3"/>
          <p:cNvSpPr>
            <a:spLocks noGrp="1"/>
          </p:cNvSpPr>
          <p:nvPr>
            <p:ph type="body" sz="quarter" idx="10"/>
          </p:nvPr>
        </p:nvSpPr>
        <p:spPr/>
        <p:txBody>
          <a:bodyPr/>
          <a:lstStyle/>
          <a:p>
            <a:r>
              <a:rPr lang="en-US" dirty="0"/>
              <a:t>API reference and Source code</a:t>
            </a:r>
          </a:p>
        </p:txBody>
      </p:sp>
    </p:spTree>
    <p:extLst>
      <p:ext uri="{BB962C8B-B14F-4D97-AF65-F5344CB8AC3E}">
        <p14:creationId xmlns:p14="http://schemas.microsoft.com/office/powerpoint/2010/main" val="411187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0F056E2-012F-494B-B4D4-E53374D61943}"/>
              </a:ext>
            </a:extLst>
          </p:cNvPr>
          <p:cNvSpPr>
            <a:spLocks noGrp="1"/>
          </p:cNvSpPr>
          <p:nvPr>
            <p:ph type="title"/>
          </p:nvPr>
        </p:nvSpPr>
        <p:spPr/>
        <p:txBody>
          <a:bodyPr/>
          <a:lstStyle/>
          <a:p>
            <a:r>
              <a:rPr lang="en-US" dirty="0"/>
              <a:t>Contents</a:t>
            </a:r>
          </a:p>
        </p:txBody>
      </p:sp>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A1DE857D-BDF9-4E52-9DA9-73ECCD3A37BE}"/>
                  </a:ext>
                </a:extLst>
              </p:cNvPr>
              <p:cNvGraphicFramePr>
                <a:graphicFrameLocks noChangeAspect="1"/>
              </p:cNvGraphicFramePr>
              <p:nvPr>
                <p:extLst>
                  <p:ext uri="{D42A27DB-BD31-4B8C-83A1-F6EECF244321}">
                    <p14:modId xmlns:p14="http://schemas.microsoft.com/office/powerpoint/2010/main" val="2436549351"/>
                  </p:ext>
                </p:extLst>
              </p:nvPr>
            </p:nvGraphicFramePr>
            <p:xfrm>
              <a:off x="766763" y="1341438"/>
              <a:ext cx="10829925" cy="4813300"/>
            </p:xfrm>
            <a:graphic>
              <a:graphicData uri="http://schemas.microsoft.com/office/powerpoint/2016/summaryzoom">
                <psuz:summaryZm>
                  <psuz:summaryZmObj sectionId="{87E274A0-8D79-4657-BF00-1D5BC1863E78}">
                    <psuz:zmPr id="{35E86422-923D-48B4-9925-B1CE3FDBB02E}" transitionDur="1000">
                      <p166:blipFill xmlns:p166="http://schemas.microsoft.com/office/powerpoint/2016/6/main">
                        <a:blip r:embed="rId2"/>
                        <a:stretch>
                          <a:fillRect/>
                        </a:stretch>
                      </p166:blipFill>
                      <p166:spPr xmlns:p166="http://schemas.microsoft.com/office/powerpoint/2016/6/main">
                        <a:xfrm>
                          <a:off x="1492124" y="168465"/>
                          <a:ext cx="3850639" cy="2165985"/>
                        </a:xfrm>
                        <a:prstGeom prst="rect">
                          <a:avLst/>
                        </a:prstGeom>
                        <a:ln w="3175">
                          <a:solidFill>
                            <a:prstClr val="ltGray"/>
                          </a:solidFill>
                        </a:ln>
                      </p166:spPr>
                    </psuz:zmPr>
                  </psuz:summaryZmObj>
                  <psuz:summaryZmObj sectionId="{4D65A88A-69BB-4B5D-9C60-D5BA753612E3}">
                    <psuz:zmPr id="{5903A59E-C636-4C58-AD25-9C0AE5E214EA}" transitionDur="1000">
                      <p166:blipFill xmlns:p166="http://schemas.microsoft.com/office/powerpoint/2016/6/main">
                        <a:blip r:embed="rId3"/>
                        <a:stretch>
                          <a:fillRect/>
                        </a:stretch>
                      </p166:blipFill>
                      <p166:spPr xmlns:p166="http://schemas.microsoft.com/office/powerpoint/2016/6/main">
                        <a:xfrm>
                          <a:off x="5487162" y="168465"/>
                          <a:ext cx="3850639" cy="2165985"/>
                        </a:xfrm>
                        <a:prstGeom prst="rect">
                          <a:avLst/>
                        </a:prstGeom>
                        <a:ln w="3175">
                          <a:solidFill>
                            <a:prstClr val="ltGray"/>
                          </a:solidFill>
                        </a:ln>
                      </p166:spPr>
                    </psuz:zmPr>
                  </psuz:summaryZmObj>
                  <psuz:summaryZmObj sectionId="{C54E39C5-14F5-466C-BABB-4B49E3ED504E}">
                    <psuz:zmPr id="{360675B3-6D90-408B-8262-C1DAFF49452C}" transitionDur="1000">
                      <p166:blipFill xmlns:p166="http://schemas.microsoft.com/office/powerpoint/2016/6/main">
                        <a:blip r:embed="rId4"/>
                        <a:stretch>
                          <a:fillRect/>
                        </a:stretch>
                      </p166:blipFill>
                      <p166:spPr xmlns:p166="http://schemas.microsoft.com/office/powerpoint/2016/6/main">
                        <a:xfrm>
                          <a:off x="1492124" y="2478849"/>
                          <a:ext cx="3850639" cy="2165985"/>
                        </a:xfrm>
                        <a:prstGeom prst="rect">
                          <a:avLst/>
                        </a:prstGeom>
                        <a:ln w="3175">
                          <a:solidFill>
                            <a:prstClr val="ltGray"/>
                          </a:solidFill>
                        </a:ln>
                      </p166:spPr>
                    </psuz:zmPr>
                  </psuz:summaryZmObj>
                  <psuz:summaryZmObj sectionId="{1AE92897-8E8C-4C87-AB55-D15B46B8C9BD}">
                    <psuz:zmPr id="{2BA62BC8-DB24-462C-A624-2B6685D86568}" transitionDur="1000">
                      <p166:blipFill xmlns:p166="http://schemas.microsoft.com/office/powerpoint/2016/6/main">
                        <a:blip r:embed="rId5"/>
                        <a:stretch>
                          <a:fillRect/>
                        </a:stretch>
                      </p166:blipFill>
                      <p166:spPr xmlns:p166="http://schemas.microsoft.com/office/powerpoint/2016/6/main">
                        <a:xfrm>
                          <a:off x="5487162" y="2478849"/>
                          <a:ext cx="3850639" cy="2165985"/>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A1DE857D-BDF9-4E52-9DA9-73ECCD3A37BE}"/>
                  </a:ext>
                </a:extLst>
              </p:cNvPr>
              <p:cNvGrpSpPr>
                <a:grpSpLocks noGrp="1" noUngrp="1" noRot="1" noChangeAspect="1" noMove="1" noResize="1"/>
              </p:cNvGrpSpPr>
              <p:nvPr/>
            </p:nvGrpSpPr>
            <p:grpSpPr>
              <a:xfrm>
                <a:off x="766763" y="1341438"/>
                <a:ext cx="10829925" cy="4813300"/>
                <a:chOff x="766763" y="1341438"/>
                <a:chExt cx="10829925" cy="4813300"/>
              </a:xfrm>
            </p:grpSpPr>
            <p:pic>
              <p:nvPicPr>
                <p:cNvPr id="2" name="Picture 2">
                  <a:hlinkClick r:id="rId6"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2258887" y="1509903"/>
                  <a:ext cx="3850639" cy="2165985"/>
                </a:xfrm>
                <a:prstGeom prst="rect">
                  <a:avLst/>
                </a:prstGeom>
                <a:ln w="3175">
                  <a:solidFill>
                    <a:prstClr val="ltGray"/>
                  </a:solidFill>
                </a:ln>
              </p:spPr>
            </p:pic>
            <p:pic>
              <p:nvPicPr>
                <p:cNvPr id="4" name="Picture 4">
                  <a:hlinkClick r:id="rId7"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6253925" y="1509903"/>
                  <a:ext cx="3850639" cy="2165985"/>
                </a:xfrm>
                <a:prstGeom prst="rect">
                  <a:avLst/>
                </a:prstGeom>
                <a:ln w="3175">
                  <a:solidFill>
                    <a:prstClr val="ltGray"/>
                  </a:solidFill>
                </a:ln>
              </p:spPr>
            </p:pic>
            <p:pic>
              <p:nvPicPr>
                <p:cNvPr id="6" name="Picture 6">
                  <a:hlinkClick r:id="rId8"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2258887" y="3820287"/>
                  <a:ext cx="3850639" cy="2165985"/>
                </a:xfrm>
                <a:prstGeom prst="rect">
                  <a:avLst/>
                </a:prstGeom>
                <a:ln w="3175">
                  <a:solidFill>
                    <a:prstClr val="ltGray"/>
                  </a:solidFill>
                </a:ln>
              </p:spPr>
            </p:pic>
            <p:pic>
              <p:nvPicPr>
                <p:cNvPr id="7" name="Picture 7">
                  <a:hlinkClick r:id="rId9"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6253925" y="3820287"/>
                  <a:ext cx="3850639" cy="2165985"/>
                </a:xfrm>
                <a:prstGeom prst="rect">
                  <a:avLst/>
                </a:prstGeom>
                <a:ln w="3175">
                  <a:solidFill>
                    <a:prstClr val="ltGray"/>
                  </a:solidFill>
                </a:ln>
              </p:spPr>
            </p:pic>
          </p:grpSp>
        </mc:Fallback>
      </mc:AlternateContent>
    </p:spTree>
    <p:extLst>
      <p:ext uri="{BB962C8B-B14F-4D97-AF65-F5344CB8AC3E}">
        <p14:creationId xmlns:p14="http://schemas.microsoft.com/office/powerpoint/2010/main" val="1845000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242E68-E1AF-4FFD-AB0F-BDA691B17B20}"/>
              </a:ext>
            </a:extLst>
          </p:cNvPr>
          <p:cNvSpPr>
            <a:spLocks noGrp="1"/>
          </p:cNvSpPr>
          <p:nvPr>
            <p:ph idx="1"/>
          </p:nvPr>
        </p:nvSpPr>
        <p:spPr/>
        <p:txBody>
          <a:bodyPr/>
          <a:lstStyle/>
          <a:p>
            <a:pPr marL="342900" indent="-342900" algn="just">
              <a:buFont typeface="Wingdings" panose="05000000000000000000" pitchFamily="2" charset="2"/>
              <a:buChar char="§"/>
            </a:pPr>
            <a:r>
              <a:rPr lang="en-US" dirty="0"/>
              <a:t>ASP.NET Core enables developers to easily configure and manage security for their apps. ASP.NET Core contains features for managing authentication, authorization, data protection, SSL enforcement, app secrets, anti-request forgery protection, and CORS management. These security features allow you to build robust yet secure ASP.NET Core apps.</a:t>
            </a:r>
          </a:p>
          <a:p>
            <a:endParaRPr lang="en-US" dirty="0"/>
          </a:p>
          <a:p>
            <a:pPr marL="342900" indent="-342900">
              <a:buFont typeface="Wingdings" panose="05000000000000000000" pitchFamily="2" charset="2"/>
              <a:buChar char="§"/>
            </a:pPr>
            <a:r>
              <a:rPr lang="en-US" dirty="0"/>
              <a:t>Further reading: </a:t>
            </a:r>
            <a:r>
              <a:rPr lang="en-US" dirty="0">
                <a:hlinkClick r:id="rId2"/>
              </a:rPr>
              <a:t>https://docs.microsoft.com/en-us/aspnet/core/security</a:t>
            </a:r>
            <a:endParaRPr lang="en-US" dirty="0"/>
          </a:p>
          <a:p>
            <a:endParaRPr lang="en-US" dirty="0"/>
          </a:p>
        </p:txBody>
      </p:sp>
      <p:sp>
        <p:nvSpPr>
          <p:cNvPr id="3" name="Title 2">
            <a:extLst>
              <a:ext uri="{FF2B5EF4-FFF2-40B4-BE49-F238E27FC236}">
                <a16:creationId xmlns:a16="http://schemas.microsoft.com/office/drawing/2014/main" id="{8A94970F-4B30-4711-972B-3522EA66F04F}"/>
              </a:ext>
            </a:extLst>
          </p:cNvPr>
          <p:cNvSpPr>
            <a:spLocks noGrp="1"/>
          </p:cNvSpPr>
          <p:nvPr>
            <p:ph type="title"/>
          </p:nvPr>
        </p:nvSpPr>
        <p:spPr/>
        <p:txBody>
          <a:bodyPr/>
          <a:lstStyle/>
          <a:p>
            <a:r>
              <a:rPr lang="en-US" dirty="0"/>
              <a:t>Security in ASP.NET Core</a:t>
            </a:r>
          </a:p>
        </p:txBody>
      </p:sp>
    </p:spTree>
    <p:extLst>
      <p:ext uri="{BB962C8B-B14F-4D97-AF65-F5344CB8AC3E}">
        <p14:creationId xmlns:p14="http://schemas.microsoft.com/office/powerpoint/2010/main" val="296673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BAEA1C6-8816-4F29-9263-FF192F8D6ADF}"/>
              </a:ext>
            </a:extLst>
          </p:cNvPr>
          <p:cNvSpPr>
            <a:spLocks noGrp="1"/>
          </p:cNvSpPr>
          <p:nvPr>
            <p:ph type="title"/>
          </p:nvPr>
        </p:nvSpPr>
        <p:spPr/>
        <p:txBody>
          <a:bodyPr/>
          <a:lstStyle/>
          <a:p>
            <a:r>
              <a:rPr lang="en-US" dirty="0"/>
              <a:t>Cross-Site Request Forgery (XSRF/CSRF) </a:t>
            </a:r>
          </a:p>
        </p:txBody>
      </p:sp>
    </p:spTree>
    <p:extLst>
      <p:ext uri="{BB962C8B-B14F-4D97-AF65-F5344CB8AC3E}">
        <p14:creationId xmlns:p14="http://schemas.microsoft.com/office/powerpoint/2010/main" val="3133587711"/>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E93ADB-EABB-43BE-888A-4AEDACC33D00}"/>
              </a:ext>
            </a:extLst>
          </p:cNvPr>
          <p:cNvSpPr>
            <a:spLocks noGrp="1"/>
          </p:cNvSpPr>
          <p:nvPr>
            <p:ph type="title"/>
          </p:nvPr>
        </p:nvSpPr>
        <p:spPr/>
        <p:txBody>
          <a:bodyPr/>
          <a:lstStyle/>
          <a:p>
            <a:r>
              <a:rPr lang="en-US" dirty="0"/>
              <a:t>Cross-Site Request Forgery (XSRF/CSRF) </a:t>
            </a:r>
          </a:p>
        </p:txBody>
      </p:sp>
      <p:sp>
        <p:nvSpPr>
          <p:cNvPr id="4" name="Content Placeholder 3">
            <a:extLst>
              <a:ext uri="{FF2B5EF4-FFF2-40B4-BE49-F238E27FC236}">
                <a16:creationId xmlns:a16="http://schemas.microsoft.com/office/drawing/2014/main" id="{33C28C98-A922-4FD0-8D1B-1E69E084FA84}"/>
              </a:ext>
            </a:extLst>
          </p:cNvPr>
          <p:cNvSpPr>
            <a:spLocks noGrp="1"/>
          </p:cNvSpPr>
          <p:nvPr>
            <p:ph idx="1"/>
          </p:nvPr>
        </p:nvSpPr>
        <p:spPr/>
        <p:txBody>
          <a:bodyPr/>
          <a:lstStyle/>
          <a:p>
            <a:pPr marL="342900" indent="-342900" algn="just">
              <a:buFont typeface="Wingdings" panose="05000000000000000000" pitchFamily="2" charset="2"/>
              <a:buChar char="§"/>
            </a:pPr>
            <a:r>
              <a:rPr lang="en-US" dirty="0"/>
              <a:t>Cross-site request forgery (also known as XSRF or CSRF, pronounced see-surf) is an attack against web-hosted applications whereby a malicious web site can influence the interaction between a client browser and a web site that trusts that browser.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These attacks are made possible because web browsers send some types of authentication tokens automatically with every request to a web site. This form of exploit is also known as a one-click attack or as session riding, because the attack takes advantage of the user's previously authenticated session.</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A malicious site sends POST/GET requests to the attacked site (in which the user is authenticated).</a:t>
            </a:r>
          </a:p>
        </p:txBody>
      </p:sp>
    </p:spTree>
    <p:extLst>
      <p:ext uri="{BB962C8B-B14F-4D97-AF65-F5344CB8AC3E}">
        <p14:creationId xmlns:p14="http://schemas.microsoft.com/office/powerpoint/2010/main" val="1744145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E93ADB-EABB-43BE-888A-4AEDACC33D00}"/>
              </a:ext>
            </a:extLst>
          </p:cNvPr>
          <p:cNvSpPr>
            <a:spLocks noGrp="1"/>
          </p:cNvSpPr>
          <p:nvPr>
            <p:ph type="title"/>
          </p:nvPr>
        </p:nvSpPr>
        <p:spPr/>
        <p:txBody>
          <a:bodyPr/>
          <a:lstStyle/>
          <a:p>
            <a:r>
              <a:rPr lang="en-US" dirty="0"/>
              <a:t>Cross-Site Request Forgery (XSRF/CSRF) </a:t>
            </a:r>
          </a:p>
        </p:txBody>
      </p:sp>
      <p:sp>
        <p:nvSpPr>
          <p:cNvPr id="4" name="Content Placeholder 3">
            <a:extLst>
              <a:ext uri="{FF2B5EF4-FFF2-40B4-BE49-F238E27FC236}">
                <a16:creationId xmlns:a16="http://schemas.microsoft.com/office/drawing/2014/main" id="{33C28C98-A922-4FD0-8D1B-1E69E084FA84}"/>
              </a:ext>
            </a:extLst>
          </p:cNvPr>
          <p:cNvSpPr>
            <a:spLocks noGrp="1"/>
          </p:cNvSpPr>
          <p:nvPr>
            <p:ph idx="1"/>
          </p:nvPr>
        </p:nvSpPr>
        <p:spPr/>
        <p:txBody>
          <a:bodyPr/>
          <a:lstStyle/>
          <a:p>
            <a:pPr marL="457200" indent="-457200" algn="just">
              <a:buFont typeface="+mj-lt"/>
              <a:buAutoNum type="arabicPeriod"/>
            </a:pPr>
            <a:r>
              <a:rPr lang="en-US" dirty="0"/>
              <a:t>A user logs into www.example.com, using forms authentication.</a:t>
            </a:r>
          </a:p>
          <a:p>
            <a:pPr marL="457200" indent="-457200" algn="just">
              <a:buFont typeface="+mj-lt"/>
              <a:buAutoNum type="arabicPeriod"/>
            </a:pPr>
            <a:r>
              <a:rPr lang="en-US" dirty="0"/>
              <a:t>The server authenticates the user and issues a response that includes an authentication cookie.</a:t>
            </a:r>
          </a:p>
          <a:p>
            <a:pPr marL="457200" indent="-457200" algn="just">
              <a:buFont typeface="+mj-lt"/>
              <a:buAutoNum type="arabicPeriod"/>
            </a:pPr>
            <a:r>
              <a:rPr lang="en-US" dirty="0"/>
              <a:t>The user visits a malicious site.</a:t>
            </a:r>
          </a:p>
          <a:p>
            <a:pPr marL="457200" indent="-457200" algn="just">
              <a:buFont typeface="+mj-lt"/>
              <a:buAutoNum type="arabicPeriod"/>
            </a:pPr>
            <a:r>
              <a:rPr lang="en-US" dirty="0"/>
              <a:t>This malicious site contains the following HTML form:</a:t>
            </a:r>
          </a:p>
          <a:p>
            <a:pPr marL="457200" indent="-457200" algn="just">
              <a:buFont typeface="+mj-lt"/>
              <a:buAutoNum type="arabicPeriod"/>
            </a:pPr>
            <a:endParaRPr lang="en-US" dirty="0"/>
          </a:p>
          <a:p>
            <a:pPr marL="457200" indent="-457200" algn="just">
              <a:buFont typeface="+mj-lt"/>
              <a:buAutoNum type="arabicPeriod"/>
            </a:pPr>
            <a:endParaRPr lang="en-US" dirty="0"/>
          </a:p>
          <a:p>
            <a:pPr marL="457200" indent="-457200" algn="just">
              <a:buFont typeface="+mj-lt"/>
              <a:buAutoNum type="arabicPeriod"/>
            </a:pPr>
            <a:endParaRPr lang="en-US" dirty="0"/>
          </a:p>
          <a:p>
            <a:pPr marL="457200" indent="-457200" algn="just">
              <a:buFont typeface="+mj-lt"/>
              <a:buAutoNum type="arabicPeriod"/>
            </a:pPr>
            <a:endParaRPr lang="en-US" dirty="0"/>
          </a:p>
          <a:p>
            <a:pPr marL="457200" indent="-457200" algn="just">
              <a:buFont typeface="+mj-lt"/>
              <a:buAutoNum type="arabicPeriod"/>
            </a:pPr>
            <a:endParaRPr lang="en-US" dirty="0"/>
          </a:p>
          <a:p>
            <a:pPr algn="just"/>
            <a:r>
              <a:rPr lang="en-US" b="1" dirty="0"/>
              <a:t>Note: </a:t>
            </a:r>
            <a:r>
              <a:rPr lang="en-US" dirty="0"/>
              <a:t>the form action posts to the vulnerable site, not to the malicious site. This is the “cross-site” part of CSRF.</a:t>
            </a:r>
          </a:p>
        </p:txBody>
      </p:sp>
      <p:sp>
        <p:nvSpPr>
          <p:cNvPr id="6" name="Text Placeholder 5">
            <a:extLst>
              <a:ext uri="{FF2B5EF4-FFF2-40B4-BE49-F238E27FC236}">
                <a16:creationId xmlns:a16="http://schemas.microsoft.com/office/drawing/2014/main" id="{AA7B65F4-3C0E-40F6-83F2-635CFC9C410F}"/>
              </a:ext>
            </a:extLst>
          </p:cNvPr>
          <p:cNvSpPr>
            <a:spLocks noGrp="1"/>
          </p:cNvSpPr>
          <p:nvPr>
            <p:ph type="body" sz="quarter" idx="10"/>
          </p:nvPr>
        </p:nvSpPr>
        <p:spPr/>
        <p:txBody>
          <a:bodyPr/>
          <a:lstStyle/>
          <a:p>
            <a:r>
              <a:rPr lang="en-US" dirty="0"/>
              <a:t>An example of a CSRF attack</a:t>
            </a:r>
          </a:p>
        </p:txBody>
      </p:sp>
      <p:sp>
        <p:nvSpPr>
          <p:cNvPr id="7" name="Rectangle 6">
            <a:extLst>
              <a:ext uri="{FF2B5EF4-FFF2-40B4-BE49-F238E27FC236}">
                <a16:creationId xmlns:a16="http://schemas.microsoft.com/office/drawing/2014/main" id="{FF82D8E9-658E-4444-95AD-B739E381D821}"/>
              </a:ext>
            </a:extLst>
          </p:cNvPr>
          <p:cNvSpPr/>
          <p:nvPr/>
        </p:nvSpPr>
        <p:spPr>
          <a:xfrm>
            <a:off x="2228256" y="3717032"/>
            <a:ext cx="7907088" cy="1754326"/>
          </a:xfrm>
          <a:prstGeom prst="rect">
            <a:avLst/>
          </a:prstGeom>
          <a:solidFill>
            <a:schemeClr val="bg1"/>
          </a:solidFill>
        </p:spPr>
        <p:txBody>
          <a:bodyPr wrap="square">
            <a:spAutoFit/>
          </a:bodyPr>
          <a:lstStyle/>
          <a:p>
            <a:r>
              <a:rPr lang="en-US" dirty="0">
                <a:solidFill>
                  <a:srgbClr val="800000"/>
                </a:solidFill>
                <a:latin typeface="Consolas" panose="020B0609020204030204" pitchFamily="49" charset="0"/>
              </a:rPr>
              <a:t>&lt;h1&gt;</a:t>
            </a:r>
            <a:r>
              <a:rPr lang="en-US" dirty="0">
                <a:solidFill>
                  <a:srgbClr val="000000"/>
                </a:solidFill>
                <a:latin typeface="Consolas" panose="020B0609020204030204" pitchFamily="49" charset="0"/>
              </a:rPr>
              <a:t>You Are a Winner!</a:t>
            </a:r>
            <a:r>
              <a:rPr lang="en-US" dirty="0">
                <a:solidFill>
                  <a:srgbClr val="800000"/>
                </a:solidFill>
                <a:latin typeface="Consolas" panose="020B0609020204030204" pitchFamily="49" charset="0"/>
              </a:rPr>
              <a:t>&lt;/h1&gt;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&lt;form</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action</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"http://example.com/</a:t>
            </a:r>
            <a:r>
              <a:rPr lang="en-US" dirty="0" err="1">
                <a:solidFill>
                  <a:srgbClr val="0000FF"/>
                </a:solidFill>
                <a:latin typeface="Consolas" panose="020B0609020204030204" pitchFamily="49" charset="0"/>
              </a:rPr>
              <a:t>api</a:t>
            </a:r>
            <a:r>
              <a:rPr lang="en-US" dirty="0">
                <a:solidFill>
                  <a:srgbClr val="0000FF"/>
                </a:solidFill>
                <a:latin typeface="Consolas" panose="020B0609020204030204" pitchFamily="49" charset="0"/>
              </a:rPr>
              <a:t>/account"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method</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"post"</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&lt;input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type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"hidden"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name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“Account"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value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“RO85INGXXXX"</a:t>
            </a:r>
            <a:r>
              <a:rPr lang="en-US" dirty="0">
                <a:solidFill>
                  <a:srgbClr val="800000"/>
                </a:solidFill>
                <a:latin typeface="Consolas" panose="020B0609020204030204" pitchFamily="49" charset="0"/>
              </a:rPr>
              <a:t> /&gt;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&lt;input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type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"hidden"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name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"Amount"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value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"1000000"</a:t>
            </a:r>
            <a:r>
              <a:rPr lang="en-US" dirty="0">
                <a:solidFill>
                  <a:srgbClr val="800000"/>
                </a:solidFill>
                <a:latin typeface="Consolas" panose="020B0609020204030204" pitchFamily="49" charset="0"/>
              </a:rPr>
              <a:t> /&gt;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&lt;input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type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"submit"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value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"Click Me"</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r>
              <a:rPr lang="en-US" dirty="0">
                <a:solidFill>
                  <a:srgbClr val="800000"/>
                </a:solidFill>
                <a:latin typeface="Consolas" panose="020B0609020204030204" pitchFamily="49" charset="0"/>
              </a:rPr>
              <a:t>&lt;/form&gt;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9348892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E93ADB-EABB-43BE-888A-4AEDACC33D00}"/>
              </a:ext>
            </a:extLst>
          </p:cNvPr>
          <p:cNvSpPr>
            <a:spLocks noGrp="1"/>
          </p:cNvSpPr>
          <p:nvPr>
            <p:ph type="title"/>
          </p:nvPr>
        </p:nvSpPr>
        <p:spPr/>
        <p:txBody>
          <a:bodyPr/>
          <a:lstStyle/>
          <a:p>
            <a:r>
              <a:rPr lang="en-US" dirty="0"/>
              <a:t>Cross-Site Request Forgery (XSRF/CSRF) </a:t>
            </a:r>
          </a:p>
        </p:txBody>
      </p:sp>
      <p:sp>
        <p:nvSpPr>
          <p:cNvPr id="4" name="Content Placeholder 3">
            <a:extLst>
              <a:ext uri="{FF2B5EF4-FFF2-40B4-BE49-F238E27FC236}">
                <a16:creationId xmlns:a16="http://schemas.microsoft.com/office/drawing/2014/main" id="{33C28C98-A922-4FD0-8D1B-1E69E084FA84}"/>
              </a:ext>
            </a:extLst>
          </p:cNvPr>
          <p:cNvSpPr>
            <a:spLocks noGrp="1"/>
          </p:cNvSpPr>
          <p:nvPr>
            <p:ph idx="1"/>
          </p:nvPr>
        </p:nvSpPr>
        <p:spPr/>
        <p:txBody>
          <a:bodyPr/>
          <a:lstStyle/>
          <a:p>
            <a:pPr marL="457200" indent="-457200" algn="just">
              <a:buFont typeface="+mj-lt"/>
              <a:buAutoNum type="arabicPeriod"/>
            </a:pPr>
            <a:r>
              <a:rPr lang="en-US" dirty="0"/>
              <a:t>The user clicks the submit button. The browser automatically includes the authentication cookie for the requested domain (the vulnerable site in this case) with the request.</a:t>
            </a:r>
          </a:p>
          <a:p>
            <a:pPr marL="457200" indent="-457200" algn="just">
              <a:buFont typeface="+mj-lt"/>
              <a:buAutoNum type="arabicPeriod"/>
            </a:pPr>
            <a:r>
              <a:rPr lang="en-US" dirty="0"/>
              <a:t>The request runs on the server with the user’s authentication context, and can do anything that an authenticated user is allowed to do.</a:t>
            </a:r>
          </a:p>
          <a:p>
            <a:pPr marL="457200" indent="-457200" algn="just">
              <a:buFont typeface="+mj-lt"/>
              <a:buAutoNum type="arabicPeriod"/>
            </a:pPr>
            <a:endParaRPr lang="en-US" dirty="0"/>
          </a:p>
          <a:p>
            <a:pPr algn="just"/>
            <a:r>
              <a:rPr lang="en-US" dirty="0"/>
              <a:t>Although this example requires the user to click the form button, the malicious page could just as easily run a script that automatically submits the form or sends a form submission as an AJAX request. The form could also be hidden using CSS so the user never realizes it's present. Moreover, using SSL does not prevent a CSRF attack, because the malicious site can send an https:// request. Some attacks can target site endpoints that respond to GET requests, in which case even an image tag can be used to perform the action.</a:t>
            </a:r>
          </a:p>
        </p:txBody>
      </p:sp>
      <p:sp>
        <p:nvSpPr>
          <p:cNvPr id="6" name="Text Placeholder 5">
            <a:extLst>
              <a:ext uri="{FF2B5EF4-FFF2-40B4-BE49-F238E27FC236}">
                <a16:creationId xmlns:a16="http://schemas.microsoft.com/office/drawing/2014/main" id="{AA7B65F4-3C0E-40F6-83F2-635CFC9C410F}"/>
              </a:ext>
            </a:extLst>
          </p:cNvPr>
          <p:cNvSpPr>
            <a:spLocks noGrp="1"/>
          </p:cNvSpPr>
          <p:nvPr>
            <p:ph type="body" sz="quarter" idx="10"/>
          </p:nvPr>
        </p:nvSpPr>
        <p:spPr/>
        <p:txBody>
          <a:bodyPr/>
          <a:lstStyle/>
          <a:p>
            <a:r>
              <a:rPr lang="en-US" dirty="0"/>
              <a:t>An example of a CSRF attack</a:t>
            </a:r>
          </a:p>
        </p:txBody>
      </p:sp>
    </p:spTree>
    <p:extLst>
      <p:ext uri="{BB962C8B-B14F-4D97-AF65-F5344CB8AC3E}">
        <p14:creationId xmlns:p14="http://schemas.microsoft.com/office/powerpoint/2010/main" val="3732624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EE93ADB-EABB-43BE-888A-4AEDACC33D00}"/>
              </a:ext>
            </a:extLst>
          </p:cNvPr>
          <p:cNvSpPr>
            <a:spLocks noGrp="1"/>
          </p:cNvSpPr>
          <p:nvPr>
            <p:ph type="title"/>
          </p:nvPr>
        </p:nvSpPr>
        <p:spPr/>
        <p:txBody>
          <a:bodyPr/>
          <a:lstStyle/>
          <a:p>
            <a:r>
              <a:rPr lang="en-US" dirty="0"/>
              <a:t>Cross-Site Request Forgery (XSRF/CSRF) </a:t>
            </a:r>
          </a:p>
        </p:txBody>
      </p:sp>
      <p:sp>
        <p:nvSpPr>
          <p:cNvPr id="4" name="Content Placeholder 3">
            <a:extLst>
              <a:ext uri="{FF2B5EF4-FFF2-40B4-BE49-F238E27FC236}">
                <a16:creationId xmlns:a16="http://schemas.microsoft.com/office/drawing/2014/main" id="{33C28C98-A922-4FD0-8D1B-1E69E084FA84}"/>
              </a:ext>
            </a:extLst>
          </p:cNvPr>
          <p:cNvSpPr>
            <a:spLocks noGrp="1"/>
          </p:cNvSpPr>
          <p:nvPr>
            <p:ph idx="1"/>
          </p:nvPr>
        </p:nvSpPr>
        <p:spPr/>
        <p:txBody>
          <a:bodyPr/>
          <a:lstStyle/>
          <a:p>
            <a:pPr marL="342900" indent="-342900" algn="just">
              <a:buFont typeface="Wingdings" panose="05000000000000000000" pitchFamily="2" charset="2"/>
              <a:buChar char="§"/>
            </a:pPr>
            <a:r>
              <a:rPr lang="en-US" dirty="0"/>
              <a:t>Typically, CSRF attacks are possible against web sites that use cookies for authentication, because browsers send all relevant cookies to the destination web site.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However, CSRF attacks are not limited to exploiting cookies. For example, Basic and Digest authentication are also vulnerable. After a user logs in with Basic or Digest authentication, the browser automatically sends the credentials until the session ends.</a:t>
            </a:r>
          </a:p>
          <a:p>
            <a:pPr marL="342900" indent="-342900" algn="just">
              <a:buFont typeface="Wingdings" panose="05000000000000000000" pitchFamily="2" charset="2"/>
              <a:buChar char="§"/>
            </a:pPr>
            <a:endParaRPr lang="en-US" dirty="0"/>
          </a:p>
          <a:p>
            <a:pPr marL="342900" indent="-342900">
              <a:buFont typeface="Wingdings" panose="05000000000000000000" pitchFamily="2" charset="2"/>
              <a:buChar char="§"/>
            </a:pPr>
            <a:r>
              <a:rPr lang="en-US" dirty="0"/>
              <a:t>Users can guard against CSRF vulnerabilities by: </a:t>
            </a:r>
          </a:p>
          <a:p>
            <a:pPr marL="597150" lvl="1" indent="-342900">
              <a:buFont typeface="Wingdings" panose="05000000000000000000" pitchFamily="2" charset="2"/>
              <a:buChar char="§"/>
            </a:pPr>
            <a:r>
              <a:rPr lang="en-US" dirty="0"/>
              <a:t>Logging off web sites when they have finished using them</a:t>
            </a:r>
          </a:p>
          <a:p>
            <a:pPr marL="597150" lvl="1" indent="-342900">
              <a:buFont typeface="Wingdings" panose="05000000000000000000" pitchFamily="2" charset="2"/>
              <a:buChar char="§"/>
            </a:pPr>
            <a:r>
              <a:rPr lang="en-US" dirty="0"/>
              <a:t>Clearing their browser's cookies periodically</a:t>
            </a:r>
          </a:p>
          <a:p>
            <a:pPr marL="342900" indent="-342900" algn="just">
              <a:buFont typeface="Wingdings" panose="05000000000000000000" pitchFamily="2" charset="2"/>
              <a:buChar char="§"/>
            </a:pPr>
            <a:endParaRPr lang="en-US" dirty="0"/>
          </a:p>
        </p:txBody>
      </p:sp>
      <p:sp>
        <p:nvSpPr>
          <p:cNvPr id="6" name="Text Placeholder 5">
            <a:extLst>
              <a:ext uri="{FF2B5EF4-FFF2-40B4-BE49-F238E27FC236}">
                <a16:creationId xmlns:a16="http://schemas.microsoft.com/office/drawing/2014/main" id="{AA7B65F4-3C0E-40F6-83F2-635CFC9C410F}"/>
              </a:ext>
            </a:extLst>
          </p:cNvPr>
          <p:cNvSpPr>
            <a:spLocks noGrp="1"/>
          </p:cNvSpPr>
          <p:nvPr>
            <p:ph type="body" sz="quarter" idx="10"/>
          </p:nvPr>
        </p:nvSpPr>
        <p:spPr/>
        <p:txBody>
          <a:bodyPr/>
          <a:lstStyle/>
          <a:p>
            <a:r>
              <a:rPr lang="en-US" dirty="0"/>
              <a:t>An example of a CSRF attack</a:t>
            </a:r>
          </a:p>
        </p:txBody>
      </p:sp>
    </p:spTree>
    <p:extLst>
      <p:ext uri="{BB962C8B-B14F-4D97-AF65-F5344CB8AC3E}">
        <p14:creationId xmlns:p14="http://schemas.microsoft.com/office/powerpoint/2010/main" val="605004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Cross-Site Request Forgery (XSRF/CSRF) </a:t>
            </a:r>
            <a:endParaRPr lang="ro-RO" dirty="0"/>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The most common approach to defending against CSRF attacks is </a:t>
            </a:r>
            <a:r>
              <a:rPr lang="en-US"/>
              <a:t>the Synchronizer Token </a:t>
            </a:r>
            <a:r>
              <a:rPr lang="en-US" dirty="0"/>
              <a:t>P</a:t>
            </a:r>
            <a:r>
              <a:rPr lang="en-US"/>
              <a:t>attern </a:t>
            </a:r>
            <a:r>
              <a:rPr lang="en-US" dirty="0"/>
              <a:t>(STP).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STP is a technique used when the user requests a page with form data. The server sends a token associated with the current user's identity to the client.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The client must send back the token to the server for verification. If the server receives a token that doesn't match the authenticated user's identity, the request should be rejected.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The token is unique and unpredictable. The token can also be used to ensure proper sequencing of a series of requests (ensuring page 1 precedes page 2 which precedes page 3). </a:t>
            </a:r>
          </a:p>
        </p:txBody>
      </p:sp>
      <p:sp>
        <p:nvSpPr>
          <p:cNvPr id="5" name="Text Placeholder 4">
            <a:extLst>
              <a:ext uri="{FF2B5EF4-FFF2-40B4-BE49-F238E27FC236}">
                <a16:creationId xmlns:a16="http://schemas.microsoft.com/office/drawing/2014/main" id="{52A29470-1D14-4DB4-B2EB-AC6AD725BE5C}"/>
              </a:ext>
            </a:extLst>
          </p:cNvPr>
          <p:cNvSpPr>
            <a:spLocks noGrp="1"/>
          </p:cNvSpPr>
          <p:nvPr>
            <p:ph type="body" sz="quarter" idx="10"/>
          </p:nvPr>
        </p:nvSpPr>
        <p:spPr/>
        <p:txBody>
          <a:bodyPr/>
          <a:lstStyle/>
          <a:p>
            <a:r>
              <a:rPr lang="en-US" dirty="0"/>
              <a:t>How does ASP.NET Core MVC address CSRF?</a:t>
            </a:r>
          </a:p>
        </p:txBody>
      </p:sp>
    </p:spTree>
    <p:extLst>
      <p:ext uri="{BB962C8B-B14F-4D97-AF65-F5344CB8AC3E}">
        <p14:creationId xmlns:p14="http://schemas.microsoft.com/office/powerpoint/2010/main" val="2668823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Cross-Site Request Forgery (XSRF/CSRF) </a:t>
            </a:r>
            <a:endParaRPr lang="ro-RO" dirty="0"/>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b="1" dirty="0"/>
              <a:t>ASP.NET Core MVC will generate </a:t>
            </a:r>
            <a:r>
              <a:rPr lang="en-US" b="1" dirty="0" err="1"/>
              <a:t>Antiforgery</a:t>
            </a:r>
            <a:r>
              <a:rPr lang="en-US" b="1" dirty="0"/>
              <a:t> Tokens by default in all the forms: </a:t>
            </a:r>
          </a:p>
          <a:p>
            <a:pPr marL="342900"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endParaRPr lang="en-US" b="1" dirty="0"/>
          </a:p>
          <a:p>
            <a:pPr marL="342900" indent="-342900" algn="just">
              <a:buFont typeface="Wingdings" panose="05000000000000000000" pitchFamily="2" charset="2"/>
              <a:buChar char="§"/>
            </a:pPr>
            <a:endParaRPr lang="en-US" b="1" dirty="0"/>
          </a:p>
          <a:p>
            <a:pPr algn="just"/>
            <a:endParaRPr lang="en-US" b="1" dirty="0"/>
          </a:p>
        </p:txBody>
      </p:sp>
      <p:sp>
        <p:nvSpPr>
          <p:cNvPr id="5" name="Text Placeholder 4">
            <a:extLst>
              <a:ext uri="{FF2B5EF4-FFF2-40B4-BE49-F238E27FC236}">
                <a16:creationId xmlns:a16="http://schemas.microsoft.com/office/drawing/2014/main" id="{52A29470-1D14-4DB4-B2EB-AC6AD725BE5C}"/>
              </a:ext>
            </a:extLst>
          </p:cNvPr>
          <p:cNvSpPr>
            <a:spLocks noGrp="1"/>
          </p:cNvSpPr>
          <p:nvPr>
            <p:ph type="body" sz="quarter" idx="10"/>
          </p:nvPr>
        </p:nvSpPr>
        <p:spPr/>
        <p:txBody>
          <a:bodyPr/>
          <a:lstStyle/>
          <a:p>
            <a:r>
              <a:rPr lang="en-US" dirty="0"/>
              <a:t>How does ASP.NET Core MVC address CSRF?</a:t>
            </a:r>
          </a:p>
        </p:txBody>
      </p:sp>
      <p:sp>
        <p:nvSpPr>
          <p:cNvPr id="4" name="Rectangle 3">
            <a:extLst>
              <a:ext uri="{FF2B5EF4-FFF2-40B4-BE49-F238E27FC236}">
                <a16:creationId xmlns:a16="http://schemas.microsoft.com/office/drawing/2014/main" id="{58F06749-D66E-4E20-A24A-8AF1A2B46634}"/>
              </a:ext>
            </a:extLst>
          </p:cNvPr>
          <p:cNvSpPr/>
          <p:nvPr/>
        </p:nvSpPr>
        <p:spPr>
          <a:xfrm>
            <a:off x="1465276" y="2420888"/>
            <a:ext cx="9433048" cy="2308324"/>
          </a:xfrm>
          <a:prstGeom prst="rect">
            <a:avLst/>
          </a:prstGeom>
          <a:solidFill>
            <a:schemeClr val="bg1"/>
          </a:solidFill>
        </p:spPr>
        <p:txBody>
          <a:bodyPr wrap="square">
            <a:spAutoFit/>
          </a:bodyPr>
          <a:lstStyle/>
          <a:p>
            <a:r>
              <a:rPr lang="en-US" dirty="0">
                <a:solidFill>
                  <a:srgbClr val="800000"/>
                </a:solidFill>
                <a:latin typeface="Consolas" panose="020B0609020204030204" pitchFamily="49" charset="0"/>
              </a:rPr>
              <a:t>&lt;form</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method</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"post"</a:t>
            </a:r>
            <a:r>
              <a:rPr lang="en-US" dirty="0">
                <a:solidFill>
                  <a:srgbClr val="800000"/>
                </a:solidFill>
                <a:latin typeface="Consolas" panose="020B0609020204030204" pitchFamily="49" charset="0"/>
              </a:rPr>
              <a:t>&gt;</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a:solidFill>
                  <a:srgbClr val="800000"/>
                </a:solidFill>
                <a:latin typeface="Consolas" panose="020B0609020204030204" pitchFamily="49" charset="0"/>
              </a:rPr>
              <a:t>&lt;/form&gt;</a:t>
            </a:r>
            <a:endParaRPr lang="en-US" dirty="0">
              <a:solidFill>
                <a:srgbClr val="000000"/>
              </a:solidFill>
              <a:latin typeface="Consolas" panose="020B0609020204030204" pitchFamily="49" charset="0"/>
            </a:endParaRPr>
          </a:p>
          <a:p>
            <a:br>
              <a:rPr lang="en-US" dirty="0">
                <a:solidFill>
                  <a:srgbClr val="000000"/>
                </a:solidFill>
                <a:latin typeface="Consolas" panose="020B0609020204030204" pitchFamily="49" charset="0"/>
              </a:rPr>
            </a:br>
            <a:r>
              <a:rPr lang="en-US" dirty="0">
                <a:solidFill>
                  <a:srgbClr val="000000"/>
                </a:solidFill>
                <a:highlight>
                  <a:srgbClr val="FFFF00"/>
                </a:highlight>
                <a:latin typeface="Consolas" panose="020B0609020204030204" pitchFamily="49" charset="0"/>
              </a:rPr>
              <a:t>@using (</a:t>
            </a:r>
            <a:r>
              <a:rPr lang="en-US" dirty="0" err="1">
                <a:solidFill>
                  <a:srgbClr val="000000"/>
                </a:solidFill>
                <a:highlight>
                  <a:srgbClr val="FFFF00"/>
                </a:highlight>
                <a:latin typeface="Consolas" panose="020B0609020204030204" pitchFamily="49" charset="0"/>
              </a:rPr>
              <a:t>Html.BeginForm</a:t>
            </a:r>
            <a:r>
              <a:rPr lang="en-US" dirty="0">
                <a:solidFill>
                  <a:srgbClr val="000000"/>
                </a:solidFill>
                <a:highlight>
                  <a:srgbClr val="FFFF00"/>
                </a:highlight>
                <a:latin typeface="Consolas" panose="020B0609020204030204" pitchFamily="49" charset="0"/>
              </a:rPr>
              <a:t>("</a:t>
            </a:r>
            <a:r>
              <a:rPr lang="en-US" dirty="0" err="1">
                <a:solidFill>
                  <a:srgbClr val="000000"/>
                </a:solidFill>
                <a:highlight>
                  <a:srgbClr val="FFFF00"/>
                </a:highlight>
                <a:latin typeface="Consolas" panose="020B0609020204030204" pitchFamily="49" charset="0"/>
              </a:rPr>
              <a:t>ChangePassword</a:t>
            </a:r>
            <a:r>
              <a:rPr lang="en-US" dirty="0">
                <a:solidFill>
                  <a:srgbClr val="000000"/>
                </a:solidFill>
                <a:highlight>
                  <a:srgbClr val="FFFF00"/>
                </a:highlight>
                <a:latin typeface="Consolas" panose="020B0609020204030204" pitchFamily="49" charset="0"/>
              </a:rPr>
              <a:t>", "Manage"))</a:t>
            </a:r>
          </a:p>
          <a:p>
            <a:r>
              <a:rPr lang="en-US" dirty="0">
                <a:solidFill>
                  <a:srgbClr val="000000"/>
                </a:solidFill>
                <a:latin typeface="Consolas" panose="020B0609020204030204" pitchFamily="49" charset="0"/>
              </a:rPr>
              <a:t>{</a:t>
            </a:r>
          </a:p>
          <a:p>
            <a:br>
              <a:rPr lang="en-US" dirty="0">
                <a:solidFill>
                  <a:srgbClr val="000000"/>
                </a:solidFill>
                <a:latin typeface="Consolas" panose="020B0609020204030204" pitchFamily="49" charset="0"/>
              </a:rPr>
            </a:b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359777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Cross-Site Request Forgery (XSRF/CSRF) </a:t>
            </a:r>
            <a:endParaRPr lang="ro-RO" dirty="0"/>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In each of the above cases, ASP.NET Core will add a hidden form field like the following:</a:t>
            </a:r>
            <a:endParaRPr lang="ro-RO" dirty="0"/>
          </a:p>
        </p:txBody>
      </p:sp>
      <p:sp>
        <p:nvSpPr>
          <p:cNvPr id="5" name="Text Placeholder 4">
            <a:extLst>
              <a:ext uri="{FF2B5EF4-FFF2-40B4-BE49-F238E27FC236}">
                <a16:creationId xmlns:a16="http://schemas.microsoft.com/office/drawing/2014/main" id="{52A29470-1D14-4DB4-B2EB-AC6AD725BE5C}"/>
              </a:ext>
            </a:extLst>
          </p:cNvPr>
          <p:cNvSpPr>
            <a:spLocks noGrp="1"/>
          </p:cNvSpPr>
          <p:nvPr>
            <p:ph type="body" sz="quarter" idx="10"/>
          </p:nvPr>
        </p:nvSpPr>
        <p:spPr/>
        <p:txBody>
          <a:bodyPr/>
          <a:lstStyle/>
          <a:p>
            <a:r>
              <a:rPr lang="en-US" dirty="0"/>
              <a:t>How does ASP.NET Core MVC address CSRF?</a:t>
            </a:r>
          </a:p>
        </p:txBody>
      </p:sp>
      <p:sp>
        <p:nvSpPr>
          <p:cNvPr id="6" name="Rectangle 5">
            <a:extLst>
              <a:ext uri="{FF2B5EF4-FFF2-40B4-BE49-F238E27FC236}">
                <a16:creationId xmlns:a16="http://schemas.microsoft.com/office/drawing/2014/main" id="{B4B9D281-3FD7-455D-B986-DB6FF3BDEAF9}"/>
              </a:ext>
            </a:extLst>
          </p:cNvPr>
          <p:cNvSpPr/>
          <p:nvPr/>
        </p:nvSpPr>
        <p:spPr>
          <a:xfrm>
            <a:off x="1354578" y="2690336"/>
            <a:ext cx="9482844" cy="1477328"/>
          </a:xfrm>
          <a:prstGeom prst="rect">
            <a:avLst/>
          </a:prstGeom>
          <a:solidFill>
            <a:schemeClr val="bg1"/>
          </a:solidFill>
        </p:spPr>
        <p:txBody>
          <a:bodyPr wrap="square">
            <a:spAutoFit/>
          </a:bodyPr>
          <a:lstStyle/>
          <a:p>
            <a:r>
              <a:rPr lang="en-US" dirty="0">
                <a:solidFill>
                  <a:srgbClr val="800000"/>
                </a:solidFill>
                <a:latin typeface="Consolas" panose="020B0609020204030204" pitchFamily="49" charset="0"/>
              </a:rPr>
              <a:t>&lt;input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name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"__</a:t>
            </a:r>
            <a:r>
              <a:rPr lang="en-US" dirty="0" err="1">
                <a:solidFill>
                  <a:srgbClr val="0000FF"/>
                </a:solidFill>
                <a:latin typeface="Consolas" panose="020B0609020204030204" pitchFamily="49" charset="0"/>
              </a:rPr>
              <a:t>RequestVerificationToken</a:t>
            </a:r>
            <a:r>
              <a:rPr lang="en-US" dirty="0">
                <a:solidFill>
                  <a:srgbClr val="0000FF"/>
                </a:solidFill>
                <a:latin typeface="Consolas" panose="020B0609020204030204" pitchFamily="49" charset="0"/>
              </a:rPr>
              <a:t>"</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type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"hidden"</a:t>
            </a:r>
            <a:r>
              <a:rPr lang="en-US" dirty="0">
                <a:solidFill>
                  <a:srgbClr val="000000"/>
                </a:solidFill>
                <a:latin typeface="Consolas" panose="020B0609020204030204" pitchFamily="49" charset="0"/>
              </a:rPr>
              <a:t> </a:t>
            </a:r>
            <a:r>
              <a:rPr lang="en-US" dirty="0">
                <a:solidFill>
                  <a:srgbClr val="FF0000"/>
                </a:solidFill>
                <a:latin typeface="Consolas" panose="020B0609020204030204" pitchFamily="49" charset="0"/>
              </a:rPr>
              <a:t>value</a:t>
            </a:r>
            <a:r>
              <a:rPr lang="en-US" dirty="0">
                <a:solidFill>
                  <a:srgbClr val="000000"/>
                </a:solidFill>
                <a:latin typeface="Consolas" panose="020B0609020204030204" pitchFamily="49" charset="0"/>
              </a:rPr>
              <a:t>=</a:t>
            </a:r>
            <a:r>
              <a:rPr lang="en-US" dirty="0">
                <a:solidFill>
                  <a:srgbClr val="0000FF"/>
                </a:solidFill>
                <a:latin typeface="Consolas" panose="020B0609020204030204" pitchFamily="49" charset="0"/>
              </a:rPr>
              <a:t>"CfDJ8NrAkSldwD9CpLRyOtm6FiJB1Jr_F3FQJQDvhlHoLNJJrLA6zaMUmhjMsisu2D2tFkAiYgyWQawJk9vNm36sYP1esHOtamBEPvSk1_x--Sg8Ey2a-d9CV2zHVWIN9MVhvKHOSyKqdZFlYDVd69XYx-rOWPw3ilHGLN6K0Km-1p83jZzF0E4WU5OGg5ns2-m9Yw"</a:t>
            </a:r>
            <a:r>
              <a:rPr lang="en-US" dirty="0">
                <a:solidFill>
                  <a:srgbClr val="800000"/>
                </a:solidFill>
                <a:latin typeface="Consolas" panose="020B0609020204030204" pitchFamily="49" charset="0"/>
              </a:rPr>
              <a:t> /&gt;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1631603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Cross-Site Request Forgery (XSRF/CSRF) </a:t>
            </a:r>
            <a:endParaRPr lang="ro-RO" dirty="0"/>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dirty="0"/>
              <a:t>Automatic generation of </a:t>
            </a:r>
            <a:r>
              <a:rPr lang="en-US" dirty="0" err="1"/>
              <a:t>antiforgery</a:t>
            </a:r>
            <a:r>
              <a:rPr lang="en-US" dirty="0"/>
              <a:t> tokens for HTML form elements can be disabled:</a:t>
            </a:r>
            <a:endParaRPr lang="ro-RO" dirty="0"/>
          </a:p>
        </p:txBody>
      </p:sp>
      <p:sp>
        <p:nvSpPr>
          <p:cNvPr id="5" name="Text Placeholder 4">
            <a:extLst>
              <a:ext uri="{FF2B5EF4-FFF2-40B4-BE49-F238E27FC236}">
                <a16:creationId xmlns:a16="http://schemas.microsoft.com/office/drawing/2014/main" id="{52A29470-1D14-4DB4-B2EB-AC6AD725BE5C}"/>
              </a:ext>
            </a:extLst>
          </p:cNvPr>
          <p:cNvSpPr>
            <a:spLocks noGrp="1"/>
          </p:cNvSpPr>
          <p:nvPr>
            <p:ph type="body" sz="quarter" idx="10"/>
          </p:nvPr>
        </p:nvSpPr>
        <p:spPr/>
        <p:txBody>
          <a:bodyPr/>
          <a:lstStyle/>
          <a:p>
            <a:r>
              <a:rPr lang="en-US" dirty="0"/>
              <a:t>How does ASP.NET Core MVC address CSRF?</a:t>
            </a:r>
          </a:p>
        </p:txBody>
      </p:sp>
      <p:sp>
        <p:nvSpPr>
          <p:cNvPr id="7" name="Rectangle 6">
            <a:extLst>
              <a:ext uri="{FF2B5EF4-FFF2-40B4-BE49-F238E27FC236}">
                <a16:creationId xmlns:a16="http://schemas.microsoft.com/office/drawing/2014/main" id="{7DF8455D-C452-47FE-9107-3491EA8CD188}"/>
              </a:ext>
            </a:extLst>
          </p:cNvPr>
          <p:cNvSpPr/>
          <p:nvPr/>
        </p:nvSpPr>
        <p:spPr>
          <a:xfrm>
            <a:off x="2353544" y="2348880"/>
            <a:ext cx="7656512" cy="923330"/>
          </a:xfrm>
          <a:prstGeom prst="rect">
            <a:avLst/>
          </a:prstGeom>
          <a:solidFill>
            <a:schemeClr val="bg1"/>
          </a:solidFill>
        </p:spPr>
        <p:txBody>
          <a:bodyPr wrap="square">
            <a:spAutoFit/>
          </a:bodyPr>
          <a:lstStyle/>
          <a:p>
            <a:r>
              <a:rPr lang="en-US" b="1" dirty="0">
                <a:solidFill>
                  <a:srgbClr val="000080"/>
                </a:solidFill>
                <a:highlight>
                  <a:srgbClr val="FFFFFF"/>
                </a:highlight>
                <a:latin typeface="Courier New" panose="02070309020205020404" pitchFamily="49" charset="0"/>
              </a:rPr>
              <a:t>&lt;</a:t>
            </a:r>
            <a:r>
              <a:rPr lang="en-US" dirty="0">
                <a:solidFill>
                  <a:srgbClr val="000000"/>
                </a:solidFill>
                <a:highlight>
                  <a:srgbClr val="FFFFFF"/>
                </a:highlight>
                <a:latin typeface="Courier New" panose="02070309020205020404" pitchFamily="49" charset="0"/>
              </a:rPr>
              <a:t>form method</a:t>
            </a:r>
            <a:r>
              <a:rPr lang="en-US" b="1" dirty="0">
                <a:solidFill>
                  <a:srgbClr val="000080"/>
                </a:solidFill>
                <a:highlight>
                  <a:srgbClr val="FFFFFF"/>
                </a:highlight>
                <a:latin typeface="Courier New" panose="02070309020205020404" pitchFamily="49" charset="0"/>
              </a:rPr>
              <a:t>=</a:t>
            </a:r>
            <a:r>
              <a:rPr lang="en-US" dirty="0">
                <a:solidFill>
                  <a:srgbClr val="808080"/>
                </a:solidFill>
                <a:highlight>
                  <a:srgbClr val="FFFFFF"/>
                </a:highlight>
                <a:latin typeface="Courier New" panose="02070309020205020404" pitchFamily="49" charset="0"/>
              </a:rPr>
              <a:t>"post"</a:t>
            </a:r>
            <a:r>
              <a:rPr lang="en-US" dirty="0">
                <a:solidFill>
                  <a:srgbClr val="000000"/>
                </a:solidFill>
                <a:highlight>
                  <a:srgbClr val="FFFFFF"/>
                </a:highlight>
                <a:latin typeface="Courier New" panose="02070309020205020404" pitchFamily="49" charset="0"/>
              </a:rPr>
              <a:t> asp</a:t>
            </a:r>
            <a:r>
              <a:rPr lang="en-US" b="1" dirty="0">
                <a:solidFill>
                  <a:srgbClr val="000080"/>
                </a:solidFill>
                <a:highlight>
                  <a:srgbClr val="FFFFFF"/>
                </a:highlight>
                <a:latin typeface="Courier New" panose="02070309020205020404" pitchFamily="49" charset="0"/>
              </a:rPr>
              <a:t>-</a:t>
            </a:r>
            <a:r>
              <a:rPr lang="en-US" dirty="0" err="1">
                <a:solidFill>
                  <a:srgbClr val="000000"/>
                </a:solidFill>
                <a:highlight>
                  <a:srgbClr val="FFFFFF"/>
                </a:highlight>
                <a:latin typeface="Courier New" panose="02070309020205020404" pitchFamily="49" charset="0"/>
              </a:rPr>
              <a:t>antiforgery</a:t>
            </a:r>
            <a:r>
              <a:rPr lang="en-US" b="1" dirty="0">
                <a:solidFill>
                  <a:srgbClr val="000080"/>
                </a:solidFill>
                <a:highlight>
                  <a:srgbClr val="FFFFFF"/>
                </a:highlight>
                <a:latin typeface="Courier New" panose="02070309020205020404" pitchFamily="49" charset="0"/>
              </a:rPr>
              <a:t>=</a:t>
            </a:r>
            <a:r>
              <a:rPr lang="en-US" dirty="0">
                <a:solidFill>
                  <a:srgbClr val="808080"/>
                </a:solidFill>
                <a:highlight>
                  <a:srgbClr val="FFFFFF"/>
                </a:highlight>
                <a:latin typeface="Courier New" panose="02070309020205020404" pitchFamily="49" charset="0"/>
              </a:rPr>
              <a:t>"false"</a:t>
            </a:r>
            <a:r>
              <a:rPr lang="en-US" b="1" dirty="0">
                <a:solidFill>
                  <a:srgbClr val="000080"/>
                </a:solidFill>
                <a:highlight>
                  <a:srgbClr val="FFFFFF"/>
                </a:highlight>
                <a:latin typeface="Courier New" panose="02070309020205020404" pitchFamily="49" charset="0"/>
              </a:rPr>
              <a:t>&gt;</a:t>
            </a:r>
            <a:endParaRPr lang="en-US" dirty="0">
              <a:solidFill>
                <a:srgbClr val="000000"/>
              </a:solidFill>
              <a:highlight>
                <a:srgbClr val="FFFFFF"/>
              </a:highlight>
              <a:latin typeface="Courier New" panose="02070309020205020404" pitchFamily="49" charset="0"/>
            </a:endParaRPr>
          </a:p>
          <a:p>
            <a:r>
              <a:rPr lang="en-US" dirty="0">
                <a:solidFill>
                  <a:srgbClr val="000000"/>
                </a:solidFill>
                <a:highlight>
                  <a:srgbClr val="FFFFFF"/>
                </a:highlight>
                <a:latin typeface="Courier New" panose="02070309020205020404" pitchFamily="49" charset="0"/>
              </a:rPr>
              <a:t>    </a:t>
            </a:r>
            <a:r>
              <a:rPr lang="en-US" b="1" dirty="0">
                <a:solidFill>
                  <a:srgbClr val="000080"/>
                </a:solidFill>
                <a:highlight>
                  <a:srgbClr val="FFFFFF"/>
                </a:highlight>
                <a:latin typeface="Courier New" panose="02070309020205020404" pitchFamily="49" charset="0"/>
              </a:rPr>
              <a:t>...</a:t>
            </a:r>
            <a:endParaRPr lang="en-US" dirty="0">
              <a:solidFill>
                <a:srgbClr val="000000"/>
              </a:solidFill>
              <a:highlight>
                <a:srgbClr val="FFFFFF"/>
              </a:highlight>
              <a:latin typeface="Courier New" panose="02070309020205020404" pitchFamily="49" charset="0"/>
            </a:endParaRPr>
          </a:p>
          <a:p>
            <a:r>
              <a:rPr lang="en-US" b="1" dirty="0">
                <a:solidFill>
                  <a:srgbClr val="000080"/>
                </a:solidFill>
                <a:highlight>
                  <a:srgbClr val="FFFFFF"/>
                </a:highlight>
                <a:latin typeface="Courier New" panose="02070309020205020404" pitchFamily="49" charset="0"/>
              </a:rPr>
              <a:t>&lt;/</a:t>
            </a:r>
            <a:r>
              <a:rPr lang="en-US" dirty="0">
                <a:solidFill>
                  <a:srgbClr val="000000"/>
                </a:solidFill>
                <a:highlight>
                  <a:srgbClr val="FFFFFF"/>
                </a:highlight>
                <a:latin typeface="Courier New" panose="02070309020205020404" pitchFamily="49" charset="0"/>
              </a:rPr>
              <a:t>form</a:t>
            </a:r>
            <a:r>
              <a:rPr lang="en-US" b="1" dirty="0">
                <a:solidFill>
                  <a:srgbClr val="000080"/>
                </a:solidFill>
                <a:highlight>
                  <a:srgbClr val="FFFFFF"/>
                </a:highlight>
                <a:latin typeface="Courier New" panose="02070309020205020404" pitchFamily="49" charset="0"/>
              </a:rPr>
              <a:t>&gt;</a:t>
            </a:r>
            <a:endParaRPr lang="en-US" dirty="0"/>
          </a:p>
        </p:txBody>
      </p:sp>
      <p:sp>
        <p:nvSpPr>
          <p:cNvPr id="8" name="Rectangle 7">
            <a:extLst>
              <a:ext uri="{FF2B5EF4-FFF2-40B4-BE49-F238E27FC236}">
                <a16:creationId xmlns:a16="http://schemas.microsoft.com/office/drawing/2014/main" id="{E8FCA60B-C639-4507-AFD5-6399F97D6F9C}"/>
              </a:ext>
            </a:extLst>
          </p:cNvPr>
          <p:cNvSpPr/>
          <p:nvPr/>
        </p:nvSpPr>
        <p:spPr>
          <a:xfrm>
            <a:off x="2353544" y="3933056"/>
            <a:ext cx="6096000" cy="923330"/>
          </a:xfrm>
          <a:prstGeom prst="rect">
            <a:avLst/>
          </a:prstGeom>
          <a:solidFill>
            <a:schemeClr val="bg1"/>
          </a:solidFill>
        </p:spPr>
        <p:txBody>
          <a:bodyPr>
            <a:spAutoFit/>
          </a:bodyPr>
          <a:lstStyle/>
          <a:p>
            <a:r>
              <a:rPr lang="en-US" b="1" dirty="0">
                <a:solidFill>
                  <a:srgbClr val="000080"/>
                </a:solidFill>
                <a:highlight>
                  <a:srgbClr val="FFFFFF"/>
                </a:highlight>
                <a:latin typeface="Courier New" panose="02070309020205020404" pitchFamily="49" charset="0"/>
              </a:rPr>
              <a:t>&lt;!</a:t>
            </a:r>
            <a:r>
              <a:rPr lang="en-US" dirty="0">
                <a:solidFill>
                  <a:srgbClr val="000000"/>
                </a:solidFill>
                <a:highlight>
                  <a:srgbClr val="FFFFFF"/>
                </a:highlight>
                <a:latin typeface="Courier New" panose="02070309020205020404" pitchFamily="49" charset="0"/>
              </a:rPr>
              <a:t>form method</a:t>
            </a:r>
            <a:r>
              <a:rPr lang="en-US" b="1" dirty="0">
                <a:solidFill>
                  <a:srgbClr val="000080"/>
                </a:solidFill>
                <a:highlight>
                  <a:srgbClr val="FFFFFF"/>
                </a:highlight>
                <a:latin typeface="Courier New" panose="02070309020205020404" pitchFamily="49" charset="0"/>
              </a:rPr>
              <a:t>=</a:t>
            </a:r>
            <a:r>
              <a:rPr lang="en-US" dirty="0">
                <a:solidFill>
                  <a:srgbClr val="808080"/>
                </a:solidFill>
                <a:highlight>
                  <a:srgbClr val="FFFFFF"/>
                </a:highlight>
                <a:latin typeface="Courier New" panose="02070309020205020404" pitchFamily="49" charset="0"/>
              </a:rPr>
              <a:t>"post"</a:t>
            </a:r>
            <a:r>
              <a:rPr lang="en-US" b="1" dirty="0">
                <a:solidFill>
                  <a:srgbClr val="000080"/>
                </a:solidFill>
                <a:highlight>
                  <a:srgbClr val="FFFFFF"/>
                </a:highlight>
                <a:latin typeface="Courier New" panose="02070309020205020404" pitchFamily="49" charset="0"/>
              </a:rPr>
              <a:t>&gt;</a:t>
            </a:r>
            <a:endParaRPr lang="en-US" dirty="0">
              <a:solidFill>
                <a:srgbClr val="000000"/>
              </a:solidFill>
              <a:highlight>
                <a:srgbClr val="FFFFFF"/>
              </a:highlight>
              <a:latin typeface="Courier New" panose="02070309020205020404" pitchFamily="49" charset="0"/>
            </a:endParaRPr>
          </a:p>
          <a:p>
            <a:r>
              <a:rPr lang="en-US" dirty="0">
                <a:solidFill>
                  <a:srgbClr val="000000"/>
                </a:solidFill>
                <a:highlight>
                  <a:srgbClr val="FFFFFF"/>
                </a:highlight>
                <a:latin typeface="Courier New" panose="02070309020205020404" pitchFamily="49" charset="0"/>
              </a:rPr>
              <a:t>    </a:t>
            </a:r>
            <a:r>
              <a:rPr lang="en-US" b="1" dirty="0">
                <a:solidFill>
                  <a:srgbClr val="000080"/>
                </a:solidFill>
                <a:highlight>
                  <a:srgbClr val="FFFFFF"/>
                </a:highlight>
                <a:latin typeface="Courier New" panose="02070309020205020404" pitchFamily="49" charset="0"/>
              </a:rPr>
              <a:t>...</a:t>
            </a:r>
            <a:endParaRPr lang="en-US" dirty="0">
              <a:solidFill>
                <a:srgbClr val="000000"/>
              </a:solidFill>
              <a:highlight>
                <a:srgbClr val="FFFFFF"/>
              </a:highlight>
              <a:latin typeface="Courier New" panose="02070309020205020404" pitchFamily="49" charset="0"/>
            </a:endParaRPr>
          </a:p>
          <a:p>
            <a:r>
              <a:rPr lang="en-US" b="1" dirty="0">
                <a:solidFill>
                  <a:srgbClr val="000080"/>
                </a:solidFill>
                <a:highlight>
                  <a:srgbClr val="FFFFFF"/>
                </a:highlight>
                <a:latin typeface="Courier New" panose="02070309020205020404" pitchFamily="49" charset="0"/>
              </a:rPr>
              <a:t>&lt;/!</a:t>
            </a:r>
            <a:r>
              <a:rPr lang="en-US" dirty="0">
                <a:solidFill>
                  <a:srgbClr val="000000"/>
                </a:solidFill>
                <a:highlight>
                  <a:srgbClr val="FFFFFF"/>
                </a:highlight>
                <a:latin typeface="Courier New" panose="02070309020205020404" pitchFamily="49" charset="0"/>
              </a:rPr>
              <a:t>form</a:t>
            </a:r>
            <a:r>
              <a:rPr lang="en-US" b="1" dirty="0">
                <a:solidFill>
                  <a:srgbClr val="000080"/>
                </a:solidFill>
                <a:highlight>
                  <a:srgbClr val="FFFFFF"/>
                </a:highlight>
                <a:latin typeface="Courier New" panose="02070309020205020404" pitchFamily="49" charset="0"/>
              </a:rPr>
              <a:t>&gt;</a:t>
            </a:r>
            <a:endParaRPr lang="en-US" dirty="0"/>
          </a:p>
        </p:txBody>
      </p:sp>
    </p:spTree>
    <p:extLst>
      <p:ext uri="{BB962C8B-B14F-4D97-AF65-F5344CB8AC3E}">
        <p14:creationId xmlns:p14="http://schemas.microsoft.com/office/powerpoint/2010/main" val="3982896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Cross-Site Request Forgery (XSRF/CSRF) </a:t>
            </a:r>
            <a:endParaRPr lang="ro-RO" dirty="0"/>
          </a:p>
        </p:txBody>
      </p:sp>
      <p:sp>
        <p:nvSpPr>
          <p:cNvPr id="3" name="Content Placeholder 2"/>
          <p:cNvSpPr>
            <a:spLocks noGrp="1"/>
          </p:cNvSpPr>
          <p:nvPr>
            <p:ph idx="1"/>
          </p:nvPr>
        </p:nvSpPr>
        <p:spPr/>
        <p:txBody>
          <a:bodyPr/>
          <a:lstStyle/>
          <a:p>
            <a:pPr marL="342900" indent="-342900" algn="just">
              <a:buFont typeface="Wingdings" panose="05000000000000000000" pitchFamily="2" charset="2"/>
              <a:buChar char="§"/>
            </a:pPr>
            <a:r>
              <a:rPr lang="en-US" b="1" dirty="0"/>
              <a:t>[</a:t>
            </a:r>
            <a:r>
              <a:rPr lang="ro-RO" b="1" dirty="0" err="1"/>
              <a:t>ValidateAntiForgeryToken</a:t>
            </a:r>
            <a:r>
              <a:rPr lang="en-US" b="1" dirty="0"/>
              <a:t>]</a:t>
            </a:r>
          </a:p>
          <a:p>
            <a:pPr marL="597150" lvl="1" indent="-342900" algn="just">
              <a:buFont typeface="Wingdings" panose="05000000000000000000" pitchFamily="2" charset="2"/>
              <a:buChar char="§"/>
            </a:pPr>
            <a:r>
              <a:rPr lang="en-US" dirty="0"/>
              <a:t>action filter that can be applied to an individual action, a controller, or globally for the app. Requests made to actions that have this filter applied will be blocked unless the request includes a valid </a:t>
            </a:r>
            <a:r>
              <a:rPr lang="en-US" dirty="0" err="1"/>
              <a:t>antiforgery</a:t>
            </a:r>
            <a:r>
              <a:rPr lang="en-US" dirty="0"/>
              <a:t> token.</a:t>
            </a:r>
            <a:endParaRPr lang="ro-RO" dirty="0"/>
          </a:p>
        </p:txBody>
      </p:sp>
      <p:sp>
        <p:nvSpPr>
          <p:cNvPr id="5" name="Text Placeholder 4">
            <a:extLst>
              <a:ext uri="{FF2B5EF4-FFF2-40B4-BE49-F238E27FC236}">
                <a16:creationId xmlns:a16="http://schemas.microsoft.com/office/drawing/2014/main" id="{52A29470-1D14-4DB4-B2EB-AC6AD725BE5C}"/>
              </a:ext>
            </a:extLst>
          </p:cNvPr>
          <p:cNvSpPr>
            <a:spLocks noGrp="1"/>
          </p:cNvSpPr>
          <p:nvPr>
            <p:ph type="body" sz="quarter" idx="10"/>
          </p:nvPr>
        </p:nvSpPr>
        <p:spPr/>
        <p:txBody>
          <a:bodyPr/>
          <a:lstStyle/>
          <a:p>
            <a:r>
              <a:rPr lang="en-US" dirty="0"/>
              <a:t>How does ASP.NET Core MVC address CSRF?</a:t>
            </a:r>
          </a:p>
        </p:txBody>
      </p:sp>
      <p:sp>
        <p:nvSpPr>
          <p:cNvPr id="7" name="Rectangle 6">
            <a:extLst>
              <a:ext uri="{FF2B5EF4-FFF2-40B4-BE49-F238E27FC236}">
                <a16:creationId xmlns:a16="http://schemas.microsoft.com/office/drawing/2014/main" id="{8CBD59D1-7D33-4DD5-9E3D-761B09765068}"/>
              </a:ext>
            </a:extLst>
          </p:cNvPr>
          <p:cNvSpPr/>
          <p:nvPr/>
        </p:nvSpPr>
        <p:spPr>
          <a:xfrm>
            <a:off x="1775520" y="3424932"/>
            <a:ext cx="9289032" cy="2308324"/>
          </a:xfrm>
          <a:prstGeom prst="rect">
            <a:avLst/>
          </a:prstGeom>
          <a:solidFill>
            <a:schemeClr val="bg1"/>
          </a:solidFill>
        </p:spPr>
        <p:txBody>
          <a:bodyPr wrap="square">
            <a:spAutoFit/>
          </a:bodyPr>
          <a:lstStyle/>
          <a:p>
            <a:r>
              <a:rPr lang="en-US" sz="1600" dirty="0">
                <a:solidFill>
                  <a:srgbClr val="000000"/>
                </a:solidFill>
                <a:latin typeface="Consolas" panose="020B0609020204030204" pitchFamily="49" charset="0"/>
              </a:rPr>
              <a:t>[</a:t>
            </a:r>
            <a:r>
              <a:rPr lang="en-US" sz="1600" dirty="0">
                <a:solidFill>
                  <a:srgbClr val="267F99"/>
                </a:solidFill>
                <a:latin typeface="Consolas" panose="020B0609020204030204" pitchFamily="49" charset="0"/>
              </a:rPr>
              <a:t>Authorize</a:t>
            </a:r>
            <a:r>
              <a:rPr lang="en-US" sz="1600" dirty="0">
                <a:solidFill>
                  <a:srgbClr val="000000"/>
                </a:solidFill>
                <a:latin typeface="Consolas" panose="020B0609020204030204" pitchFamily="49" charset="0"/>
              </a:rPr>
              <a:t>]</a:t>
            </a:r>
          </a:p>
          <a:p>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class</a:t>
            </a:r>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AccountController</a:t>
            </a:r>
            <a:r>
              <a:rPr lang="en-US" sz="1600" dirty="0">
                <a:solidFill>
                  <a:srgbClr val="000000"/>
                </a:solidFill>
                <a:latin typeface="Consolas" panose="020B0609020204030204" pitchFamily="49" charset="0"/>
              </a:rPr>
              <a:t> : </a:t>
            </a:r>
            <a:r>
              <a:rPr lang="en-US" sz="1600" dirty="0">
                <a:solidFill>
                  <a:srgbClr val="267F99"/>
                </a:solidFill>
                <a:latin typeface="Consolas" panose="020B0609020204030204" pitchFamily="49" charset="0"/>
              </a:rPr>
              <a:t>Controller</a:t>
            </a:r>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HttpPost</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err="1">
                <a:solidFill>
                  <a:srgbClr val="267F99"/>
                </a:solidFill>
                <a:latin typeface="Consolas" panose="020B0609020204030204" pitchFamily="49" charset="0"/>
              </a:rPr>
              <a:t>AllowAnonymous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00"/>
                </a:solidFill>
                <a:highlight>
                  <a:srgbClr val="FFFF00"/>
                </a:highlight>
                <a:latin typeface="Consolas" panose="020B0609020204030204" pitchFamily="49" charset="0"/>
              </a:rPr>
              <a:t> [</a:t>
            </a:r>
            <a:r>
              <a:rPr lang="en-US" sz="1600" dirty="0" err="1">
                <a:solidFill>
                  <a:srgbClr val="267F99"/>
                </a:solidFill>
                <a:highlight>
                  <a:srgbClr val="FFFF00"/>
                </a:highlight>
                <a:latin typeface="Consolas" panose="020B0609020204030204" pitchFamily="49" charset="0"/>
              </a:rPr>
              <a:t>ValidateAntiForgeryToken</a:t>
            </a:r>
            <a:r>
              <a:rPr lang="en-US" sz="1600" dirty="0">
                <a:solidFill>
                  <a:srgbClr val="000000"/>
                </a:solidFill>
                <a:highlight>
                  <a:srgbClr val="FFFF00"/>
                </a:highlight>
                <a:latin typeface="Consolas" panose="020B0609020204030204" pitchFamily="49" charset="0"/>
              </a:rPr>
              <a:t>]</a:t>
            </a:r>
          </a:p>
          <a:p>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public</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async</a:t>
            </a:r>
            <a:r>
              <a:rPr lang="en-US" sz="1600" dirty="0">
                <a:solidFill>
                  <a:srgbClr val="000000"/>
                </a:solidFill>
                <a:latin typeface="Consolas" panose="020B0609020204030204" pitchFamily="49" charset="0"/>
              </a:rPr>
              <a:t> </a:t>
            </a:r>
            <a:r>
              <a:rPr lang="en-US" sz="1600" dirty="0">
                <a:solidFill>
                  <a:srgbClr val="267F99"/>
                </a:solidFill>
                <a:latin typeface="Consolas" panose="020B0609020204030204" pitchFamily="49" charset="0"/>
              </a:rPr>
              <a:t>Task</a:t>
            </a:r>
            <a:r>
              <a:rPr lang="en-US" sz="1600" dirty="0">
                <a:solidFill>
                  <a:srgbClr val="000000"/>
                </a:solidFill>
                <a:latin typeface="Consolas" panose="020B0609020204030204" pitchFamily="49" charset="0"/>
              </a:rPr>
              <a:t>&lt;</a:t>
            </a:r>
            <a:r>
              <a:rPr lang="en-US" sz="1600" dirty="0" err="1">
                <a:solidFill>
                  <a:srgbClr val="267F99"/>
                </a:solidFill>
                <a:latin typeface="Consolas" panose="020B0609020204030204" pitchFamily="49" charset="0"/>
              </a:rPr>
              <a:t>IActionResult</a:t>
            </a:r>
            <a:r>
              <a:rPr lang="en-US" sz="1600" dirty="0">
                <a:solidFill>
                  <a:srgbClr val="000000"/>
                </a:solidFill>
                <a:latin typeface="Consolas" panose="020B0609020204030204" pitchFamily="49" charset="0"/>
              </a:rPr>
              <a:t>&gt; </a:t>
            </a:r>
            <a:r>
              <a:rPr lang="en-US" sz="1600" dirty="0">
                <a:solidFill>
                  <a:srgbClr val="795E26"/>
                </a:solidFill>
                <a:latin typeface="Consolas" panose="020B0609020204030204" pitchFamily="49" charset="0"/>
              </a:rPr>
              <a:t>Login</a:t>
            </a:r>
            <a:r>
              <a:rPr lang="en-US" sz="1600" dirty="0">
                <a:solidFill>
                  <a:srgbClr val="000000"/>
                </a:solidFill>
                <a:latin typeface="Consolas" panose="020B0609020204030204" pitchFamily="49" charset="0"/>
              </a:rPr>
              <a:t>(</a:t>
            </a:r>
            <a:r>
              <a:rPr lang="en-US" sz="1600" dirty="0" err="1">
                <a:solidFill>
                  <a:srgbClr val="267F99"/>
                </a:solidFill>
                <a:latin typeface="Consolas" panose="020B0609020204030204" pitchFamily="49" charset="0"/>
              </a:rPr>
              <a:t>LoginModel</a:t>
            </a:r>
            <a:r>
              <a:rPr lang="en-US" sz="1600" dirty="0">
                <a:solidFill>
                  <a:srgbClr val="000000"/>
                </a:solidFill>
                <a:latin typeface="Consolas" panose="020B0609020204030204" pitchFamily="49" charset="0"/>
              </a:rPr>
              <a:t> details) {</a:t>
            </a:r>
          </a:p>
          <a:p>
            <a:r>
              <a:rPr lang="en-US" sz="1600" dirty="0">
                <a:solidFill>
                  <a:srgbClr val="000000"/>
                </a:solidFill>
                <a:latin typeface="Consolas" panose="020B0609020204030204" pitchFamily="49" charset="0"/>
              </a:rPr>
              <a:t>        </a:t>
            </a:r>
            <a:r>
              <a:rPr lang="en-US" sz="1600" dirty="0">
                <a:solidFill>
                  <a:srgbClr val="AF00DB"/>
                </a:solidFill>
                <a:latin typeface="Consolas" panose="020B0609020204030204" pitchFamily="49" charset="0"/>
              </a:rPr>
              <a:t>return</a:t>
            </a:r>
            <a:r>
              <a:rPr lang="en-US" sz="1600" dirty="0">
                <a:solidFill>
                  <a:srgbClr val="000000"/>
                </a:solidFill>
                <a:latin typeface="Consolas" panose="020B0609020204030204" pitchFamily="49" charset="0"/>
              </a:rPr>
              <a:t> </a:t>
            </a:r>
            <a:r>
              <a:rPr lang="en-US" sz="1600" dirty="0">
                <a:solidFill>
                  <a:srgbClr val="795E26"/>
                </a:solidFill>
                <a:latin typeface="Consolas" panose="020B0609020204030204" pitchFamily="49" charset="0"/>
              </a:rPr>
              <a:t>View</a:t>
            </a:r>
            <a:r>
              <a:rPr lang="en-US" sz="1600" dirty="0">
                <a:solidFill>
                  <a:srgbClr val="000000"/>
                </a:solidFill>
                <a:latin typeface="Consolas" panose="020B0609020204030204" pitchFamily="49" charset="0"/>
              </a:rPr>
              <a:t>(</a:t>
            </a:r>
            <a:r>
              <a:rPr lang="en-US" sz="1600" dirty="0">
                <a:solidFill>
                  <a:srgbClr val="001080"/>
                </a:solidFill>
                <a:latin typeface="Consolas" panose="020B0609020204030204" pitchFamily="49" charset="0"/>
              </a:rPr>
              <a:t>details</a:t>
            </a:r>
            <a:r>
              <a:rPr lang="en-US" sz="1600" dirty="0">
                <a:solidFill>
                  <a:srgbClr val="000000"/>
                </a:solidFill>
                <a:latin typeface="Consolas" panose="020B0609020204030204" pitchFamily="49" charset="0"/>
              </a:rPr>
              <a:t>);</a:t>
            </a:r>
          </a:p>
          <a:p>
            <a:r>
              <a:rPr lang="en-US" sz="1600" dirty="0">
                <a:solidFill>
                  <a:srgbClr val="000000"/>
                </a:solidFill>
                <a:latin typeface="Consolas" panose="020B0609020204030204" pitchFamily="49" charset="0"/>
              </a:rPr>
              <a:t>    }</a:t>
            </a:r>
          </a:p>
          <a:p>
            <a:r>
              <a:rPr lang="en-US" sz="1600" dirty="0">
                <a:solidFill>
                  <a:srgbClr val="000000"/>
                </a:solidFill>
                <a:latin typeface="Consolas" panose="020B0609020204030204" pitchFamily="49" charset="0"/>
              </a:rPr>
              <a:t>}</a:t>
            </a:r>
            <a:endParaRPr lang="en-US" sz="1600"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739296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Cross-Site Request Forgery (XSRF/CSRF) </a:t>
            </a:r>
          </a:p>
        </p:txBody>
      </p:sp>
      <p:pic>
        <p:nvPicPr>
          <p:cNvPr id="9" name="Content Placeholder 8"/>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655840" y="2420888"/>
            <a:ext cx="3177851" cy="3177851"/>
          </a:xfrm>
          <a:prstGeom prst="rect">
            <a:avLst/>
          </a:prstGeom>
        </p:spPr>
      </p:pic>
      <p:sp>
        <p:nvSpPr>
          <p:cNvPr id="6" name="Text Placeholder 5"/>
          <p:cNvSpPr>
            <a:spLocks noGrp="1"/>
          </p:cNvSpPr>
          <p:nvPr>
            <p:ph type="body" sz="quarter" idx="10"/>
          </p:nvPr>
        </p:nvSpPr>
        <p:spPr/>
        <p:txBody>
          <a:bodyPr/>
          <a:lstStyle/>
          <a:p>
            <a:r>
              <a:rPr lang="en-US" dirty="0"/>
              <a:t>Demo</a:t>
            </a:r>
          </a:p>
        </p:txBody>
      </p:sp>
    </p:spTree>
    <p:extLst>
      <p:ext uri="{BB962C8B-B14F-4D97-AF65-F5344CB8AC3E}">
        <p14:creationId xmlns:p14="http://schemas.microsoft.com/office/powerpoint/2010/main" val="277519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40258-F757-45B6-9771-DCF3BF8AC760}"/>
              </a:ext>
            </a:extLst>
          </p:cNvPr>
          <p:cNvSpPr>
            <a:spLocks noGrp="1"/>
          </p:cNvSpPr>
          <p:nvPr>
            <p:ph type="title"/>
          </p:nvPr>
        </p:nvSpPr>
        <p:spPr/>
        <p:txBody>
          <a:bodyPr/>
          <a:lstStyle/>
          <a:p>
            <a:r>
              <a:rPr lang="en-US" dirty="0"/>
              <a:t>Cross-Site Request Forgery (XSRF/CSRF) </a:t>
            </a:r>
          </a:p>
        </p:txBody>
      </p:sp>
      <p:sp>
        <p:nvSpPr>
          <p:cNvPr id="3" name="Content Placeholder 2">
            <a:extLst>
              <a:ext uri="{FF2B5EF4-FFF2-40B4-BE49-F238E27FC236}">
                <a16:creationId xmlns:a16="http://schemas.microsoft.com/office/drawing/2014/main" id="{411B2AAD-4C05-4AC9-B9B9-5466DE933F01}"/>
              </a:ext>
            </a:extLst>
          </p:cNvPr>
          <p:cNvSpPr>
            <a:spLocks noGrp="1"/>
          </p:cNvSpPr>
          <p:nvPr>
            <p:ph idx="1"/>
          </p:nvPr>
        </p:nvSpPr>
        <p:spPr/>
        <p:txBody>
          <a:bodyPr/>
          <a:lstStyle/>
          <a:p>
            <a:pPr marL="342900" indent="-342900">
              <a:buFont typeface="Wingdings" panose="05000000000000000000" pitchFamily="2" charset="2"/>
              <a:buChar char="§"/>
            </a:pPr>
            <a:r>
              <a:rPr lang="en-US" b="1" dirty="0"/>
              <a:t>[</a:t>
            </a:r>
            <a:r>
              <a:rPr lang="en-US" b="1" dirty="0" err="1"/>
              <a:t>AutoValidateAntiforgeryToken</a:t>
            </a:r>
            <a:r>
              <a:rPr lang="en-US" b="1" dirty="0"/>
              <a:t>]</a:t>
            </a:r>
          </a:p>
          <a:p>
            <a:pPr marL="597150" lvl="1" indent="-342900" algn="just">
              <a:buFont typeface="Wingdings" panose="05000000000000000000" pitchFamily="2" charset="2"/>
              <a:buChar char="§"/>
            </a:pPr>
            <a:r>
              <a:rPr lang="en-US" dirty="0"/>
              <a:t>in most cases, your application will not receive </a:t>
            </a:r>
            <a:r>
              <a:rPr lang="en-US" dirty="0" err="1"/>
              <a:t>antiforgery</a:t>
            </a:r>
            <a:r>
              <a:rPr lang="en-US" dirty="0"/>
              <a:t> tokens for certain kinds of HTTP requests, such as </a:t>
            </a:r>
            <a:r>
              <a:rPr lang="en-US" b="1" dirty="0"/>
              <a:t>GET</a:t>
            </a:r>
            <a:r>
              <a:rPr lang="en-US" dirty="0"/>
              <a:t> requests. Instead of broadly applying the </a:t>
            </a:r>
            <a:r>
              <a:rPr lang="en-US" dirty="0" err="1"/>
              <a:t>ValidateAntiForgeryToken</a:t>
            </a:r>
            <a:r>
              <a:rPr lang="en-US" dirty="0"/>
              <a:t> attribute and then overriding it with </a:t>
            </a:r>
            <a:r>
              <a:rPr lang="en-US" dirty="0" err="1"/>
              <a:t>IgnoreAntiforgeryToken</a:t>
            </a:r>
            <a:r>
              <a:rPr lang="en-US" dirty="0"/>
              <a:t> attributes, you can use the </a:t>
            </a:r>
            <a:r>
              <a:rPr lang="en-US" dirty="0" err="1"/>
              <a:t>AutoValidateAntiforgeryToken</a:t>
            </a:r>
            <a:r>
              <a:rPr lang="en-US" dirty="0"/>
              <a:t> attribute. </a:t>
            </a:r>
          </a:p>
          <a:p>
            <a:pPr marL="597150" lvl="1" indent="-342900" algn="just">
              <a:buFont typeface="Wingdings" panose="05000000000000000000" pitchFamily="2" charset="2"/>
              <a:buChar char="§"/>
            </a:pPr>
            <a:endParaRPr lang="en-US" dirty="0"/>
          </a:p>
          <a:p>
            <a:pPr marL="597150" lvl="1" indent="-342900" algn="just">
              <a:buFont typeface="Wingdings" panose="05000000000000000000" pitchFamily="2" charset="2"/>
              <a:buChar char="§"/>
            </a:pPr>
            <a:r>
              <a:rPr lang="en-US" dirty="0"/>
              <a:t>This attribute works identically to the </a:t>
            </a:r>
            <a:r>
              <a:rPr lang="en-US" dirty="0" err="1"/>
              <a:t>ValidateAntiForgeryToken</a:t>
            </a:r>
            <a:r>
              <a:rPr lang="en-US" dirty="0"/>
              <a:t> attribute, except that it doesn't require tokens for requests made using the following HTTP methods: GET, HEAD, OPTIONS, TRACE</a:t>
            </a:r>
          </a:p>
          <a:p>
            <a:pPr marL="597150" lvl="1" indent="-342900" algn="just">
              <a:buFont typeface="Wingdings" panose="05000000000000000000" pitchFamily="2" charset="2"/>
              <a:buChar char="§"/>
            </a:pPr>
            <a:endParaRPr lang="en-US" dirty="0"/>
          </a:p>
          <a:p>
            <a:pPr marL="597150" lvl="1" indent="-342900" algn="just">
              <a:buFont typeface="Wingdings" panose="05000000000000000000" pitchFamily="2" charset="2"/>
              <a:buChar char="§"/>
            </a:pPr>
            <a:r>
              <a:rPr lang="en-US" dirty="0"/>
              <a:t>The previously mentioned HTTP verbs should not change the data in your application anyway</a:t>
            </a:r>
          </a:p>
        </p:txBody>
      </p:sp>
      <p:sp>
        <p:nvSpPr>
          <p:cNvPr id="4" name="Text Placeholder 3">
            <a:extLst>
              <a:ext uri="{FF2B5EF4-FFF2-40B4-BE49-F238E27FC236}">
                <a16:creationId xmlns:a16="http://schemas.microsoft.com/office/drawing/2014/main" id="{DC7145B7-D0A7-4088-B0AA-B8E481114B38}"/>
              </a:ext>
            </a:extLst>
          </p:cNvPr>
          <p:cNvSpPr>
            <a:spLocks noGrp="1"/>
          </p:cNvSpPr>
          <p:nvPr>
            <p:ph type="body" sz="quarter" idx="10"/>
          </p:nvPr>
        </p:nvSpPr>
        <p:spPr/>
        <p:txBody>
          <a:bodyPr/>
          <a:lstStyle/>
          <a:p>
            <a:r>
              <a:rPr lang="en-US" dirty="0"/>
              <a:t>How does ASP.NET Core MVC address CSRF?</a:t>
            </a:r>
          </a:p>
        </p:txBody>
      </p:sp>
    </p:spTree>
    <p:extLst>
      <p:ext uri="{BB962C8B-B14F-4D97-AF65-F5344CB8AC3E}">
        <p14:creationId xmlns:p14="http://schemas.microsoft.com/office/powerpoint/2010/main" val="217765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40258-F757-45B6-9771-DCF3BF8AC760}"/>
              </a:ext>
            </a:extLst>
          </p:cNvPr>
          <p:cNvSpPr>
            <a:spLocks noGrp="1"/>
          </p:cNvSpPr>
          <p:nvPr>
            <p:ph type="title"/>
          </p:nvPr>
        </p:nvSpPr>
        <p:spPr/>
        <p:txBody>
          <a:bodyPr/>
          <a:lstStyle/>
          <a:p>
            <a:r>
              <a:rPr lang="en-US" dirty="0"/>
              <a:t>Cross-Site Request Forgery (XSRF/CSRF) </a:t>
            </a:r>
          </a:p>
        </p:txBody>
      </p:sp>
      <p:sp>
        <p:nvSpPr>
          <p:cNvPr id="3" name="Content Placeholder 2">
            <a:extLst>
              <a:ext uri="{FF2B5EF4-FFF2-40B4-BE49-F238E27FC236}">
                <a16:creationId xmlns:a16="http://schemas.microsoft.com/office/drawing/2014/main" id="{411B2AAD-4C05-4AC9-B9B9-5466DE933F01}"/>
              </a:ext>
            </a:extLst>
          </p:cNvPr>
          <p:cNvSpPr>
            <a:spLocks noGrp="1"/>
          </p:cNvSpPr>
          <p:nvPr>
            <p:ph idx="1"/>
          </p:nvPr>
        </p:nvSpPr>
        <p:spPr/>
        <p:txBody>
          <a:bodyPr/>
          <a:lstStyle/>
          <a:p>
            <a:pPr marL="342900" indent="-342900">
              <a:buFont typeface="Wingdings" panose="05000000000000000000" pitchFamily="2" charset="2"/>
              <a:buChar char="§"/>
            </a:pPr>
            <a:r>
              <a:rPr lang="en-US" b="1" dirty="0"/>
              <a:t>[</a:t>
            </a:r>
            <a:r>
              <a:rPr lang="en-US" b="1" dirty="0" err="1"/>
              <a:t>IgnoreAntiforgeryToken</a:t>
            </a:r>
            <a:r>
              <a:rPr lang="en-US" b="1" dirty="0"/>
              <a:t>]</a:t>
            </a:r>
          </a:p>
          <a:p>
            <a:pPr marL="597150" lvl="1" indent="-342900" algn="just">
              <a:buFont typeface="Wingdings" panose="05000000000000000000" pitchFamily="2" charset="2"/>
              <a:buChar char="§"/>
            </a:pPr>
            <a:r>
              <a:rPr lang="en-US" dirty="0"/>
              <a:t>used to eliminate the need for an </a:t>
            </a:r>
            <a:r>
              <a:rPr lang="en-US" dirty="0" err="1"/>
              <a:t>antiforgery</a:t>
            </a:r>
            <a:r>
              <a:rPr lang="en-US" dirty="0"/>
              <a:t> token to be present for a given action (or controller). The filter will override </a:t>
            </a:r>
            <a:r>
              <a:rPr lang="en-US" dirty="0" err="1"/>
              <a:t>ValidateAntiForgeryToken</a:t>
            </a:r>
            <a:r>
              <a:rPr lang="en-US" dirty="0"/>
              <a:t> and/or </a:t>
            </a:r>
            <a:r>
              <a:rPr lang="en-US" dirty="0" err="1"/>
              <a:t>AutoValidateAntiforgeryToken</a:t>
            </a:r>
            <a:r>
              <a:rPr lang="en-US" dirty="0"/>
              <a:t> filters specified at a higher level (globally or on a controller).</a:t>
            </a:r>
          </a:p>
        </p:txBody>
      </p:sp>
      <p:sp>
        <p:nvSpPr>
          <p:cNvPr id="4" name="Text Placeholder 3">
            <a:extLst>
              <a:ext uri="{FF2B5EF4-FFF2-40B4-BE49-F238E27FC236}">
                <a16:creationId xmlns:a16="http://schemas.microsoft.com/office/drawing/2014/main" id="{DC7145B7-D0A7-4088-B0AA-B8E481114B38}"/>
              </a:ext>
            </a:extLst>
          </p:cNvPr>
          <p:cNvSpPr>
            <a:spLocks noGrp="1"/>
          </p:cNvSpPr>
          <p:nvPr>
            <p:ph type="body" sz="quarter" idx="10"/>
          </p:nvPr>
        </p:nvSpPr>
        <p:spPr/>
        <p:txBody>
          <a:bodyPr/>
          <a:lstStyle/>
          <a:p>
            <a:r>
              <a:rPr lang="en-US" dirty="0"/>
              <a:t>How does ASP.NET Core MVC address CSRF?</a:t>
            </a:r>
          </a:p>
        </p:txBody>
      </p:sp>
      <p:sp>
        <p:nvSpPr>
          <p:cNvPr id="5" name="Rectangle 4">
            <a:extLst>
              <a:ext uri="{FF2B5EF4-FFF2-40B4-BE49-F238E27FC236}">
                <a16:creationId xmlns:a16="http://schemas.microsoft.com/office/drawing/2014/main" id="{EFE51370-D1F9-4D29-A5D7-6C29B647D2A8}"/>
              </a:ext>
            </a:extLst>
          </p:cNvPr>
          <p:cNvSpPr/>
          <p:nvPr/>
        </p:nvSpPr>
        <p:spPr>
          <a:xfrm>
            <a:off x="1357264" y="3747765"/>
            <a:ext cx="9649072" cy="2585323"/>
          </a:xfrm>
          <a:prstGeom prst="rect">
            <a:avLst/>
          </a:prstGeom>
          <a:solidFill>
            <a:schemeClr val="bg1"/>
          </a:solidFill>
        </p:spPr>
        <p:txBody>
          <a:bodyPr wrap="square">
            <a:spAutoFit/>
          </a:bodyPr>
          <a:lstStyle/>
          <a:p>
            <a:r>
              <a:rPr lang="en-US" dirty="0">
                <a:solidFill>
                  <a:srgbClr val="000000"/>
                </a:solidFill>
                <a:latin typeface="Consolas" panose="020B0609020204030204" pitchFamily="49" charset="0"/>
              </a:rPr>
              <a:t>[</a:t>
            </a:r>
            <a:r>
              <a:rPr lang="en-US" dirty="0">
                <a:solidFill>
                  <a:srgbClr val="267F99"/>
                </a:solidFill>
                <a:latin typeface="Consolas" panose="020B0609020204030204" pitchFamily="49" charset="0"/>
              </a:rPr>
              <a:t>Authorize</a:t>
            </a:r>
            <a:r>
              <a:rPr lang="en-US" dirty="0">
                <a:solidFill>
                  <a:srgbClr val="000000"/>
                </a:solidFill>
                <a:latin typeface="Consolas" panose="020B0609020204030204" pitchFamily="49" charset="0"/>
              </a:rPr>
              <a:t>]</a:t>
            </a:r>
          </a:p>
          <a:p>
            <a:r>
              <a:rPr lang="en-US" dirty="0">
                <a:solidFill>
                  <a:srgbClr val="000000"/>
                </a:solidFill>
                <a:highlight>
                  <a:srgbClr val="FFFF00"/>
                </a:highlight>
                <a:latin typeface="Consolas" panose="020B0609020204030204" pitchFamily="49" charset="0"/>
              </a:rPr>
              <a:t>[</a:t>
            </a:r>
            <a:r>
              <a:rPr lang="en-US" dirty="0" err="1">
                <a:solidFill>
                  <a:srgbClr val="267F99"/>
                </a:solidFill>
                <a:highlight>
                  <a:srgbClr val="FFFF00"/>
                </a:highlight>
                <a:latin typeface="Consolas" panose="020B0609020204030204" pitchFamily="49" charset="0"/>
              </a:rPr>
              <a:t>AutoValidateAntiforgeryToken</a:t>
            </a:r>
            <a:r>
              <a:rPr lang="en-US" dirty="0">
                <a:solidFill>
                  <a:srgbClr val="000000"/>
                </a:solidFill>
                <a:highlight>
                  <a:srgbClr val="FFFF00"/>
                </a:highlight>
                <a:latin typeface="Consolas" panose="020B0609020204030204" pitchFamily="49" charset="0"/>
              </a:rPr>
              <a:t>]</a:t>
            </a:r>
          </a:p>
          <a:p>
            <a:r>
              <a:rPr lang="en-US" dirty="0">
                <a:solidFill>
                  <a:srgbClr val="0000FF"/>
                </a:solidFill>
                <a:latin typeface="Consolas" panose="020B0609020204030204" pitchFamily="49" charset="0"/>
              </a:rPr>
              <a:t>public</a:t>
            </a:r>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class</a:t>
            </a:r>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ManageController</a:t>
            </a:r>
            <a:r>
              <a:rPr lang="en-US" dirty="0">
                <a:solidFill>
                  <a:srgbClr val="000000"/>
                </a:solidFill>
                <a:latin typeface="Consolas" panose="020B0609020204030204" pitchFamily="49" charset="0"/>
              </a:rPr>
              <a:t> : </a:t>
            </a:r>
            <a:r>
              <a:rPr lang="en-US" dirty="0">
                <a:solidFill>
                  <a:srgbClr val="267F99"/>
                </a:solidFill>
                <a:latin typeface="Consolas" panose="020B0609020204030204" pitchFamily="49" charset="0"/>
              </a:rPr>
              <a:t>Controller</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err="1">
                <a:solidFill>
                  <a:srgbClr val="267F99"/>
                </a:solidFill>
                <a:latin typeface="Consolas" panose="020B0609020204030204" pitchFamily="49" charset="0"/>
              </a:rPr>
              <a:t>HttpPost</a:t>
            </a:r>
            <a:r>
              <a:rPr lang="en-US" dirty="0">
                <a:solidFill>
                  <a:srgbClr val="000000"/>
                </a:solidFill>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000000"/>
                </a:solidFill>
                <a:highlight>
                  <a:srgbClr val="FFFF00"/>
                </a:highlight>
                <a:latin typeface="Consolas" panose="020B0609020204030204" pitchFamily="49" charset="0"/>
              </a:rPr>
              <a:t> [</a:t>
            </a:r>
            <a:r>
              <a:rPr lang="en-US" dirty="0" err="1">
                <a:solidFill>
                  <a:srgbClr val="267F99"/>
                </a:solidFill>
                <a:highlight>
                  <a:srgbClr val="FFFF00"/>
                </a:highlight>
                <a:latin typeface="Consolas" panose="020B0609020204030204" pitchFamily="49" charset="0"/>
              </a:rPr>
              <a:t>IgnoreAntiforgeryToken</a:t>
            </a:r>
            <a:r>
              <a:rPr lang="en-US" dirty="0">
                <a:solidFill>
                  <a:srgbClr val="000000"/>
                </a:solidFill>
                <a:highlight>
                  <a:srgbClr val="FFFF00"/>
                </a:highlight>
                <a:latin typeface="Consolas" panose="020B0609020204030204" pitchFamily="49" charset="0"/>
              </a:rPr>
              <a:t>]</a:t>
            </a:r>
          </a:p>
          <a:p>
            <a:r>
              <a:rPr lang="en-US" dirty="0">
                <a:solidFill>
                  <a:srgbClr val="000000"/>
                </a:solidFill>
                <a:latin typeface="Consolas" panose="020B0609020204030204" pitchFamily="49" charset="0"/>
              </a:rPr>
              <a:t>    </a:t>
            </a:r>
            <a:r>
              <a:rPr lang="en-US" dirty="0">
                <a:solidFill>
                  <a:srgbClr val="0000FF"/>
                </a:solidFill>
                <a:latin typeface="Consolas" panose="020B0609020204030204" pitchFamily="49" charset="0"/>
              </a:rPr>
              <a:t>public</a:t>
            </a:r>
            <a:r>
              <a:rPr lang="en-US" dirty="0">
                <a:solidFill>
                  <a:srgbClr val="000000"/>
                </a:solidFill>
                <a:latin typeface="Consolas" panose="020B0609020204030204" pitchFamily="49" charset="0"/>
              </a:rPr>
              <a:t> </a:t>
            </a:r>
            <a:r>
              <a:rPr lang="en-US" dirty="0" err="1">
                <a:solidFill>
                  <a:srgbClr val="0000FF"/>
                </a:solidFill>
                <a:latin typeface="Consolas" panose="020B0609020204030204" pitchFamily="49" charset="0"/>
              </a:rPr>
              <a:t>async</a:t>
            </a:r>
            <a:r>
              <a:rPr lang="en-US" dirty="0">
                <a:solidFill>
                  <a:srgbClr val="000000"/>
                </a:solidFill>
                <a:latin typeface="Consolas" panose="020B0609020204030204" pitchFamily="49" charset="0"/>
              </a:rPr>
              <a:t> </a:t>
            </a:r>
            <a:r>
              <a:rPr lang="en-US" dirty="0">
                <a:solidFill>
                  <a:srgbClr val="267F99"/>
                </a:solidFill>
                <a:latin typeface="Consolas" panose="020B0609020204030204" pitchFamily="49" charset="0"/>
              </a:rPr>
              <a:t>Task</a:t>
            </a:r>
            <a:r>
              <a:rPr lang="en-US" dirty="0">
                <a:solidFill>
                  <a:srgbClr val="000000"/>
                </a:solidFill>
                <a:latin typeface="Consolas" panose="020B0609020204030204" pitchFamily="49" charset="0"/>
              </a:rPr>
              <a:t>&lt;</a:t>
            </a:r>
            <a:r>
              <a:rPr lang="en-US" dirty="0" err="1">
                <a:solidFill>
                  <a:srgbClr val="267F99"/>
                </a:solidFill>
                <a:latin typeface="Consolas" panose="020B0609020204030204" pitchFamily="49" charset="0"/>
              </a:rPr>
              <a:t>IActionResult</a:t>
            </a:r>
            <a:r>
              <a:rPr lang="en-US" dirty="0">
                <a:solidFill>
                  <a:srgbClr val="000000"/>
                </a:solidFill>
                <a:latin typeface="Consolas" panose="020B0609020204030204" pitchFamily="49" charset="0"/>
              </a:rPr>
              <a:t>&gt; </a:t>
            </a:r>
            <a:r>
              <a:rPr lang="en-US" dirty="0" err="1">
                <a:solidFill>
                  <a:srgbClr val="795E26"/>
                </a:solidFill>
                <a:latin typeface="Consolas" panose="020B0609020204030204" pitchFamily="49" charset="0"/>
              </a:rPr>
              <a:t>DoSomethingSafe</a:t>
            </a:r>
            <a:r>
              <a:rPr lang="en-US" dirty="0">
                <a:solidFill>
                  <a:srgbClr val="000000"/>
                </a:solidFill>
                <a:latin typeface="Consolas" panose="020B0609020204030204" pitchFamily="49" charset="0"/>
              </a:rPr>
              <a:t>(</a:t>
            </a:r>
            <a:r>
              <a:rPr lang="en-US" dirty="0" err="1">
                <a:solidFill>
                  <a:srgbClr val="267F99"/>
                </a:solidFill>
                <a:latin typeface="Consolas" panose="020B0609020204030204" pitchFamily="49" charset="0"/>
              </a:rPr>
              <a:t>SomeViewModel</a:t>
            </a:r>
            <a:r>
              <a:rPr lang="en-US" dirty="0">
                <a:solidFill>
                  <a:srgbClr val="000000"/>
                </a:solidFill>
                <a:latin typeface="Consolas" panose="020B0609020204030204" pitchFamily="49" charset="0"/>
              </a:rPr>
              <a:t> model){</a:t>
            </a:r>
          </a:p>
          <a:p>
            <a:r>
              <a:rPr lang="en-US" dirty="0">
                <a:solidFill>
                  <a:srgbClr val="000000"/>
                </a:solidFill>
                <a:latin typeface="Consolas" panose="020B0609020204030204" pitchFamily="49" charset="0"/>
              </a:rPr>
              <a:t>    </a:t>
            </a:r>
            <a:r>
              <a:rPr lang="en-US" dirty="0">
                <a:solidFill>
                  <a:srgbClr val="008000"/>
                </a:solidFill>
                <a:latin typeface="Consolas" panose="020B0609020204030204" pitchFamily="49" charset="0"/>
              </a:rPr>
              <a:t>// no </a:t>
            </a:r>
            <a:r>
              <a:rPr lang="en-US" dirty="0" err="1">
                <a:solidFill>
                  <a:srgbClr val="008000"/>
                </a:solidFill>
                <a:latin typeface="Consolas" panose="020B0609020204030204" pitchFamily="49" charset="0"/>
              </a:rPr>
              <a:t>antiforgery</a:t>
            </a:r>
            <a:r>
              <a:rPr lang="en-US" dirty="0">
                <a:solidFill>
                  <a:srgbClr val="008000"/>
                </a:solidFill>
                <a:latin typeface="Consolas" panose="020B0609020204030204" pitchFamily="49" charset="0"/>
              </a:rPr>
              <a:t> token required</a:t>
            </a:r>
            <a:endParaRPr lang="en-US" dirty="0">
              <a:solidFill>
                <a:srgbClr val="000000"/>
              </a:solidFill>
              <a:latin typeface="Consolas" panose="020B0609020204030204" pitchFamily="49" charset="0"/>
            </a:endParaRPr>
          </a:p>
          <a:p>
            <a:r>
              <a:rPr lang="en-US" dirty="0">
                <a:solidFill>
                  <a:srgbClr val="000000"/>
                </a:solidFill>
                <a:latin typeface="Consolas" panose="020B0609020204030204" pitchFamily="49" charset="0"/>
              </a:rPr>
              <a:t>    }</a:t>
            </a:r>
          </a:p>
          <a:p>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48411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Cross-Site Request Forgery (XSRF/CSRF) </a:t>
            </a:r>
            <a:endParaRPr lang="ro-RO" dirty="0"/>
          </a:p>
        </p:txBody>
      </p:sp>
      <p:sp>
        <p:nvSpPr>
          <p:cNvPr id="3" name="Content Placeholder 2"/>
          <p:cNvSpPr>
            <a:spLocks noGrp="1"/>
          </p:cNvSpPr>
          <p:nvPr>
            <p:ph idx="1"/>
          </p:nvPr>
        </p:nvSpPr>
        <p:spPr/>
        <p:txBody>
          <a:bodyPr/>
          <a:lstStyle/>
          <a:p>
            <a:pPr marL="342900" indent="-342900">
              <a:buFont typeface="Wingdings" panose="05000000000000000000" pitchFamily="2" charset="2"/>
              <a:buChar char="§"/>
            </a:pPr>
            <a:r>
              <a:rPr lang="en-US" dirty="0"/>
              <a:t>JavaScript, AJAX, and SPAs (including </a:t>
            </a:r>
            <a:r>
              <a:rPr lang="en-US" b="1" dirty="0"/>
              <a:t>Angular</a:t>
            </a:r>
            <a:r>
              <a:rPr lang="en-US" dirty="0"/>
              <a:t>): </a:t>
            </a:r>
            <a:r>
              <a:rPr lang="en-US" dirty="0">
                <a:hlinkClick r:id="rId3"/>
              </a:rPr>
              <a:t>link</a:t>
            </a:r>
            <a:endParaRPr lang="en-US" dirty="0"/>
          </a:p>
          <a:p>
            <a:pPr marL="342900" indent="-342900">
              <a:buFont typeface="Wingdings" panose="05000000000000000000" pitchFamily="2" charset="2"/>
              <a:buChar char="§"/>
            </a:pPr>
            <a:endParaRPr lang="en-US" dirty="0"/>
          </a:p>
          <a:p>
            <a:pPr marL="342900" indent="-342900">
              <a:buFont typeface="Wingdings" panose="05000000000000000000" pitchFamily="2" charset="2"/>
              <a:buChar char="§"/>
            </a:pPr>
            <a:r>
              <a:rPr lang="en-US" dirty="0"/>
              <a:t>Further reading: </a:t>
            </a:r>
            <a:r>
              <a:rPr lang="en-US" dirty="0">
                <a:hlinkClick r:id="rId3"/>
              </a:rPr>
              <a:t>https://docs.microsoft.com/en-us/aspnet/core/security/anti-request-forgery</a:t>
            </a:r>
            <a:endParaRPr lang="en-US" dirty="0"/>
          </a:p>
          <a:p>
            <a:pPr marL="342900" indent="-342900">
              <a:buFont typeface="Wingdings" panose="05000000000000000000" pitchFamily="2" charset="2"/>
              <a:buChar char="§"/>
            </a:pPr>
            <a:endParaRPr lang="en-US" dirty="0"/>
          </a:p>
        </p:txBody>
      </p:sp>
      <p:sp>
        <p:nvSpPr>
          <p:cNvPr id="5" name="Text Placeholder 4">
            <a:extLst>
              <a:ext uri="{FF2B5EF4-FFF2-40B4-BE49-F238E27FC236}">
                <a16:creationId xmlns:a16="http://schemas.microsoft.com/office/drawing/2014/main" id="{52A29470-1D14-4DB4-B2EB-AC6AD725BE5C}"/>
              </a:ext>
            </a:extLst>
          </p:cNvPr>
          <p:cNvSpPr>
            <a:spLocks noGrp="1"/>
          </p:cNvSpPr>
          <p:nvPr>
            <p:ph type="body" sz="quarter" idx="10"/>
          </p:nvPr>
        </p:nvSpPr>
        <p:spPr/>
        <p:txBody>
          <a:bodyPr/>
          <a:lstStyle/>
          <a:p>
            <a:r>
              <a:rPr lang="en-US" dirty="0"/>
              <a:t>How does ASP.NET Core MVC address CSRF?</a:t>
            </a:r>
          </a:p>
        </p:txBody>
      </p:sp>
    </p:spTree>
    <p:extLst>
      <p:ext uri="{BB962C8B-B14F-4D97-AF65-F5344CB8AC3E}">
        <p14:creationId xmlns:p14="http://schemas.microsoft.com/office/powerpoint/2010/main" val="3580761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4474C4B-368D-4311-A820-22BDD98A004A}"/>
              </a:ext>
            </a:extLst>
          </p:cNvPr>
          <p:cNvSpPr>
            <a:spLocks noGrp="1"/>
          </p:cNvSpPr>
          <p:nvPr>
            <p:ph type="title"/>
          </p:nvPr>
        </p:nvSpPr>
        <p:spPr/>
        <p:txBody>
          <a:bodyPr/>
          <a:lstStyle/>
          <a:p>
            <a:r>
              <a:rPr lang="en-US" dirty="0"/>
              <a:t>Cross-Origin Requests (CORS)</a:t>
            </a:r>
          </a:p>
        </p:txBody>
      </p:sp>
    </p:spTree>
    <p:extLst>
      <p:ext uri="{BB962C8B-B14F-4D97-AF65-F5344CB8AC3E}">
        <p14:creationId xmlns:p14="http://schemas.microsoft.com/office/powerpoint/2010/main" val="3460784394"/>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93BAC56-BFD3-4805-95DE-4C1258D211B8}"/>
              </a:ext>
            </a:extLst>
          </p:cNvPr>
          <p:cNvSpPr>
            <a:spLocks noGrp="1"/>
          </p:cNvSpPr>
          <p:nvPr>
            <p:ph idx="1"/>
          </p:nvPr>
        </p:nvSpPr>
        <p:spPr/>
        <p:txBody>
          <a:bodyPr/>
          <a:lstStyle/>
          <a:p>
            <a:pPr marL="342900" indent="-342900" algn="just">
              <a:buFont typeface="Wingdings" panose="05000000000000000000" pitchFamily="2" charset="2"/>
              <a:buChar char="§"/>
            </a:pPr>
            <a:r>
              <a:rPr lang="en-US" dirty="0"/>
              <a:t>Browser security prevents a web page from making AJAX requests to another domain. This restriction is called the same-origin policy, and prevents a malicious site from reading sensitive data from another site. However, sometimes you might want to let other sites make cross-origin requests to your web API.</a:t>
            </a:r>
          </a:p>
          <a:p>
            <a:endParaRPr lang="en-US" dirty="0"/>
          </a:p>
          <a:p>
            <a:pPr marL="342900" indent="-342900" algn="just">
              <a:buFont typeface="Wingdings" panose="05000000000000000000" pitchFamily="2" charset="2"/>
              <a:buChar char="§"/>
            </a:pPr>
            <a:r>
              <a:rPr lang="en-US" dirty="0"/>
              <a:t>Cross Origin Resource Sharing (CORS) is a W3C standard that allows a server to relax the same-origin policy. Using CORS, a server can explicitly allow some cross-origin requests while rejecting others. CORS is safer and more flexible than earlier techniques such as JSONP.</a:t>
            </a:r>
          </a:p>
          <a:p>
            <a:pPr marL="342900" indent="-342900" algn="just">
              <a:buFont typeface="Wingdings" panose="05000000000000000000" pitchFamily="2" charset="2"/>
              <a:buChar char="§"/>
            </a:pPr>
            <a:endParaRPr lang="en-US" dirty="0"/>
          </a:p>
          <a:p>
            <a:pPr marL="342900" indent="-342900">
              <a:buFont typeface="Wingdings" panose="05000000000000000000" pitchFamily="2" charset="2"/>
              <a:buChar char="§"/>
            </a:pPr>
            <a:r>
              <a:rPr lang="en-US" dirty="0"/>
              <a:t>Further reading: </a:t>
            </a:r>
            <a:r>
              <a:rPr lang="en-US" dirty="0">
                <a:hlinkClick r:id="rId2"/>
              </a:rPr>
              <a:t>https://docs.microsoft.com/en-us/aspnet/core/security/cors</a:t>
            </a:r>
            <a:endParaRPr lang="en-US" dirty="0"/>
          </a:p>
        </p:txBody>
      </p:sp>
      <p:sp>
        <p:nvSpPr>
          <p:cNvPr id="3" name="Title 2">
            <a:extLst>
              <a:ext uri="{FF2B5EF4-FFF2-40B4-BE49-F238E27FC236}">
                <a16:creationId xmlns:a16="http://schemas.microsoft.com/office/drawing/2014/main" id="{12297600-DC1C-4DE7-B59F-803DB4AEF858}"/>
              </a:ext>
            </a:extLst>
          </p:cNvPr>
          <p:cNvSpPr>
            <a:spLocks noGrp="1"/>
          </p:cNvSpPr>
          <p:nvPr>
            <p:ph type="title"/>
          </p:nvPr>
        </p:nvSpPr>
        <p:spPr/>
        <p:txBody>
          <a:bodyPr/>
          <a:lstStyle/>
          <a:p>
            <a:r>
              <a:rPr lang="en-US" dirty="0"/>
              <a:t>Cross-Origin Requests (CORS)</a:t>
            </a:r>
          </a:p>
        </p:txBody>
      </p:sp>
    </p:spTree>
    <p:extLst>
      <p:ext uri="{BB962C8B-B14F-4D97-AF65-F5344CB8AC3E}">
        <p14:creationId xmlns:p14="http://schemas.microsoft.com/office/powerpoint/2010/main" val="1165471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Cross-Origin Requests (CORS)</a:t>
            </a:r>
          </a:p>
        </p:txBody>
      </p:sp>
      <p:sp>
        <p:nvSpPr>
          <p:cNvPr id="6" name="Text Placeholder 5"/>
          <p:cNvSpPr>
            <a:spLocks noGrp="1"/>
          </p:cNvSpPr>
          <p:nvPr>
            <p:ph type="body" sz="quarter" idx="10"/>
          </p:nvPr>
        </p:nvSpPr>
        <p:spPr/>
        <p:txBody>
          <a:bodyPr/>
          <a:lstStyle/>
          <a:p>
            <a:r>
              <a:rPr lang="en-US" dirty="0"/>
              <a:t>Demo</a:t>
            </a:r>
          </a:p>
        </p:txBody>
      </p:sp>
      <p:sp>
        <p:nvSpPr>
          <p:cNvPr id="4" name="Content Placeholder 3">
            <a:extLst>
              <a:ext uri="{FF2B5EF4-FFF2-40B4-BE49-F238E27FC236}">
                <a16:creationId xmlns:a16="http://schemas.microsoft.com/office/drawing/2014/main" id="{EDD56E1D-9EB9-C3EF-5CDD-3CB60FA96B9B}"/>
              </a:ext>
            </a:extLst>
          </p:cNvPr>
          <p:cNvSpPr>
            <a:spLocks noGrp="1"/>
          </p:cNvSpPr>
          <p:nvPr>
            <p:ph idx="1"/>
          </p:nvPr>
        </p:nvSpPr>
        <p:spPr/>
        <p:txBody>
          <a:bodyPr/>
          <a:lstStyle/>
          <a:p>
            <a:endParaRPr lang="ro-RO"/>
          </a:p>
        </p:txBody>
      </p:sp>
      <p:pic>
        <p:nvPicPr>
          <p:cNvPr id="5" name="Content Placeholder 8">
            <a:extLst>
              <a:ext uri="{FF2B5EF4-FFF2-40B4-BE49-F238E27FC236}">
                <a16:creationId xmlns:a16="http://schemas.microsoft.com/office/drawing/2014/main" id="{65772907-81AC-5A1F-3C5F-52C580A2B93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55840" y="2420888"/>
            <a:ext cx="3177851" cy="3177851"/>
          </a:xfrm>
          <a:prstGeom prst="rect">
            <a:avLst/>
          </a:prstGeom>
        </p:spPr>
      </p:pic>
    </p:spTree>
    <p:extLst>
      <p:ext uri="{BB962C8B-B14F-4D97-AF65-F5344CB8AC3E}">
        <p14:creationId xmlns:p14="http://schemas.microsoft.com/office/powerpoint/2010/main" val="4291497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F03DEA-7D15-414D-957C-E4A38BA86082}"/>
              </a:ext>
            </a:extLst>
          </p:cNvPr>
          <p:cNvSpPr>
            <a:spLocks noGrp="1"/>
          </p:cNvSpPr>
          <p:nvPr>
            <p:ph type="title"/>
          </p:nvPr>
        </p:nvSpPr>
        <p:spPr/>
        <p:txBody>
          <a:bodyPr/>
          <a:lstStyle/>
          <a:p>
            <a:r>
              <a:rPr lang="en-US" b="1" dirty="0"/>
              <a:t>Cross-Site Scripting (XSS)</a:t>
            </a:r>
            <a:endParaRPr lang="en-US" dirty="0"/>
          </a:p>
        </p:txBody>
      </p:sp>
    </p:spTree>
    <p:extLst>
      <p:ext uri="{BB962C8B-B14F-4D97-AF65-F5344CB8AC3E}">
        <p14:creationId xmlns:p14="http://schemas.microsoft.com/office/powerpoint/2010/main" val="322263270"/>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4A49C67-D553-46C3-A5D9-0D1354EDABD1}"/>
              </a:ext>
            </a:extLst>
          </p:cNvPr>
          <p:cNvSpPr>
            <a:spLocks noGrp="1"/>
          </p:cNvSpPr>
          <p:nvPr>
            <p:ph type="title"/>
          </p:nvPr>
        </p:nvSpPr>
        <p:spPr/>
        <p:txBody>
          <a:bodyPr/>
          <a:lstStyle/>
          <a:p>
            <a:r>
              <a:rPr lang="en-US" dirty="0"/>
              <a:t>Cross-Site Scripting (XSS)</a:t>
            </a:r>
          </a:p>
        </p:txBody>
      </p:sp>
      <p:sp>
        <p:nvSpPr>
          <p:cNvPr id="4" name="Content Placeholder 3">
            <a:extLst>
              <a:ext uri="{FF2B5EF4-FFF2-40B4-BE49-F238E27FC236}">
                <a16:creationId xmlns:a16="http://schemas.microsoft.com/office/drawing/2014/main" id="{C90DEB60-EAFF-48E5-85CE-BCCC8C1C024F}"/>
              </a:ext>
            </a:extLst>
          </p:cNvPr>
          <p:cNvSpPr>
            <a:spLocks noGrp="1"/>
          </p:cNvSpPr>
          <p:nvPr>
            <p:ph idx="1"/>
          </p:nvPr>
        </p:nvSpPr>
        <p:spPr/>
        <p:txBody>
          <a:bodyPr/>
          <a:lstStyle/>
          <a:p>
            <a:pPr marL="342900" indent="-342900" algn="just">
              <a:buFont typeface="Wingdings" panose="05000000000000000000" pitchFamily="2" charset="2"/>
              <a:buChar char="§"/>
            </a:pPr>
            <a:r>
              <a:rPr lang="en-US" dirty="0"/>
              <a:t>Cross-Site Scripting (XSS) is a security vulnerability which enables an attacker to place client-side scripts (usually JavaScript) into web pages. When other users load affected pages the attackers scripts will run, enabling the attacker to steal cookies and session tokens, change the contents of the web page through DOM manipulation or redirect the browser to another page. </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XSS vulnerabilities generally occur when an application takes user input and outputs it in a page without validating, encoding or escaping it.</a:t>
            </a:r>
          </a:p>
          <a:p>
            <a:pPr marL="342900" indent="-342900" algn="just">
              <a:buFont typeface="Wingdings" panose="05000000000000000000" pitchFamily="2" charset="2"/>
              <a:buChar char="§"/>
            </a:pPr>
            <a:endParaRPr lang="en-US" dirty="0"/>
          </a:p>
          <a:p>
            <a:pPr marL="342900" indent="-342900" algn="just">
              <a:buFont typeface="Wingdings" panose="05000000000000000000" pitchFamily="2" charset="2"/>
              <a:buChar char="§"/>
            </a:pPr>
            <a:r>
              <a:rPr lang="en-US" dirty="0"/>
              <a:t>Further reading: </a:t>
            </a:r>
            <a:r>
              <a:rPr lang="en-US" dirty="0">
                <a:hlinkClick r:id="rId3"/>
              </a:rPr>
              <a:t>https://docs.microsoft.com/en-us/aspnet/core/security/cross-site-scripting</a:t>
            </a:r>
            <a:endParaRPr lang="en-US" dirty="0"/>
          </a:p>
        </p:txBody>
      </p:sp>
    </p:spTree>
    <p:extLst>
      <p:ext uri="{BB962C8B-B14F-4D97-AF65-F5344CB8AC3E}">
        <p14:creationId xmlns:p14="http://schemas.microsoft.com/office/powerpoint/2010/main" val="14725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F13F41-CB66-4BD9-B351-1AECB25E8EF2}"/>
              </a:ext>
            </a:extLst>
          </p:cNvPr>
          <p:cNvSpPr>
            <a:spLocks noGrp="1"/>
          </p:cNvSpPr>
          <p:nvPr>
            <p:ph type="title"/>
          </p:nvPr>
        </p:nvSpPr>
        <p:spPr/>
        <p:txBody>
          <a:bodyPr/>
          <a:lstStyle/>
          <a:p>
            <a:r>
              <a:rPr lang="en-US" dirty="0"/>
              <a:t>Security – Other recommendations</a:t>
            </a:r>
          </a:p>
        </p:txBody>
      </p:sp>
    </p:spTree>
    <p:extLst>
      <p:ext uri="{BB962C8B-B14F-4D97-AF65-F5344CB8AC3E}">
        <p14:creationId xmlns:p14="http://schemas.microsoft.com/office/powerpoint/2010/main" val="647361306"/>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814789-9DE4-780A-7B72-48752BC843C2}"/>
              </a:ext>
            </a:extLst>
          </p:cNvPr>
          <p:cNvSpPr>
            <a:spLocks noGrp="1"/>
          </p:cNvSpPr>
          <p:nvPr>
            <p:ph idx="1"/>
          </p:nvPr>
        </p:nvSpPr>
        <p:spPr/>
        <p:txBody>
          <a:bodyPr anchor="ctr"/>
          <a:lstStyle/>
          <a:p>
            <a:r>
              <a:rPr lang="en-US" dirty="0"/>
              <a:t>Don’t store secrets:</a:t>
            </a:r>
          </a:p>
          <a:p>
            <a:pPr marL="597150" lvl="1" indent="-342900">
              <a:buFont typeface="Wingdings" panose="05000000000000000000" pitchFamily="2" charset="2"/>
              <a:buChar char="§"/>
            </a:pPr>
            <a:r>
              <a:rPr lang="en-US" dirty="0"/>
              <a:t>In the application source code (it can be easily decompiled);</a:t>
            </a:r>
          </a:p>
          <a:p>
            <a:pPr marL="597150" lvl="1" indent="-342900">
              <a:buFont typeface="Wingdings" panose="05000000000000000000" pitchFamily="2" charset="2"/>
              <a:buChar char="§"/>
            </a:pPr>
            <a:r>
              <a:rPr lang="en-US" dirty="0"/>
              <a:t>In “</a:t>
            </a:r>
            <a:r>
              <a:rPr lang="en-US" dirty="0" err="1"/>
              <a:t>appsettings.json</a:t>
            </a:r>
            <a:r>
              <a:rPr lang="en-US" dirty="0"/>
              <a:t>”;</a:t>
            </a:r>
          </a:p>
          <a:p>
            <a:pPr marL="597150" lvl="1" indent="-342900">
              <a:buFont typeface="Wingdings" panose="05000000000000000000" pitchFamily="2" charset="2"/>
              <a:buChar char="§"/>
            </a:pPr>
            <a:endParaRPr lang="en-US" dirty="0"/>
          </a:p>
          <a:p>
            <a:r>
              <a:rPr lang="en-US" dirty="0"/>
              <a:t>How to store secrets:</a:t>
            </a:r>
          </a:p>
          <a:p>
            <a:pPr marL="597150" lvl="1" indent="-342900">
              <a:buFont typeface="Wingdings" panose="05000000000000000000" pitchFamily="2" charset="2"/>
              <a:buChar char="§"/>
            </a:pPr>
            <a:r>
              <a:rPr lang="ro-RO" dirty="0"/>
              <a:t>https://learn.microsoft.com/en-us/aspnet/core/security/key-vault-configuration</a:t>
            </a:r>
          </a:p>
        </p:txBody>
      </p:sp>
      <p:sp>
        <p:nvSpPr>
          <p:cNvPr id="3" name="Title 2">
            <a:extLst>
              <a:ext uri="{FF2B5EF4-FFF2-40B4-BE49-F238E27FC236}">
                <a16:creationId xmlns:a16="http://schemas.microsoft.com/office/drawing/2014/main" id="{8A29587E-BF89-6E84-2693-335CDAB7FB0C}"/>
              </a:ext>
            </a:extLst>
          </p:cNvPr>
          <p:cNvSpPr>
            <a:spLocks noGrp="1"/>
          </p:cNvSpPr>
          <p:nvPr>
            <p:ph type="title"/>
          </p:nvPr>
        </p:nvSpPr>
        <p:spPr/>
        <p:txBody>
          <a:bodyPr/>
          <a:lstStyle/>
          <a:p>
            <a:r>
              <a:rPr lang="en-US" dirty="0"/>
              <a:t>Secrets storage</a:t>
            </a:r>
            <a:endParaRPr lang="ro-RO" dirty="0"/>
          </a:p>
        </p:txBody>
      </p:sp>
    </p:spTree>
    <p:extLst>
      <p:ext uri="{BB962C8B-B14F-4D97-AF65-F5344CB8AC3E}">
        <p14:creationId xmlns:p14="http://schemas.microsoft.com/office/powerpoint/2010/main" val="1156671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recommendations</a:t>
            </a:r>
            <a:endParaRPr lang="ro-RO" dirty="0"/>
          </a:p>
        </p:txBody>
      </p:sp>
      <p:sp>
        <p:nvSpPr>
          <p:cNvPr id="3" name="Content Placeholder 2"/>
          <p:cNvSpPr>
            <a:spLocks noGrp="1"/>
          </p:cNvSpPr>
          <p:nvPr>
            <p:ph idx="1"/>
          </p:nvPr>
        </p:nvSpPr>
        <p:spPr/>
        <p:txBody>
          <a:bodyPr/>
          <a:lstStyle/>
          <a:p>
            <a:pPr>
              <a:buFont typeface="Wingdings" pitchFamily="2" charset="2"/>
              <a:buChar char="§"/>
            </a:pPr>
            <a:r>
              <a:rPr lang="en-US" dirty="0"/>
              <a:t>Only </a:t>
            </a:r>
            <a:r>
              <a:rPr lang="en-US" b="1" dirty="0"/>
              <a:t>Action</a:t>
            </a:r>
            <a:r>
              <a:rPr lang="en-US" dirty="0"/>
              <a:t> methods should be </a:t>
            </a:r>
            <a:r>
              <a:rPr lang="en-US" b="1" dirty="0"/>
              <a:t>public</a:t>
            </a:r>
            <a:r>
              <a:rPr lang="en-US" dirty="0"/>
              <a:t> in </a:t>
            </a:r>
            <a:r>
              <a:rPr lang="en-US" b="1" dirty="0"/>
              <a:t>controller</a:t>
            </a:r>
            <a:r>
              <a:rPr lang="en-US" dirty="0"/>
              <a:t> classes. The </a:t>
            </a:r>
            <a:r>
              <a:rPr lang="en-US" b="1" dirty="0"/>
              <a:t>[</a:t>
            </a:r>
            <a:r>
              <a:rPr lang="en-US" b="1" dirty="0" err="1"/>
              <a:t>NonAction</a:t>
            </a:r>
            <a:r>
              <a:rPr lang="en-US" b="1" dirty="0"/>
              <a:t>] </a:t>
            </a:r>
            <a:r>
              <a:rPr lang="en-US" dirty="0"/>
              <a:t>attribute can also be used to hide public methods.</a:t>
            </a:r>
          </a:p>
          <a:p>
            <a:pPr>
              <a:buFont typeface="Wingdings" pitchFamily="2" charset="2"/>
              <a:buChar char="§"/>
            </a:pPr>
            <a:endParaRPr lang="en-US" dirty="0"/>
          </a:p>
          <a:p>
            <a:pPr>
              <a:buFont typeface="Wingdings" pitchFamily="2" charset="2"/>
              <a:buChar char="§"/>
            </a:pPr>
            <a:r>
              <a:rPr lang="en-US" dirty="0"/>
              <a:t>Implicit </a:t>
            </a:r>
            <a:r>
              <a:rPr lang="en-US" b="1" dirty="0"/>
              <a:t>model binding </a:t>
            </a:r>
            <a:r>
              <a:rPr lang="en-US" dirty="0"/>
              <a:t>can be used by attackers to modify unintended data.</a:t>
            </a:r>
            <a:endParaRPr lang="ro-RO" dirty="0"/>
          </a:p>
        </p:txBody>
      </p:sp>
    </p:spTree>
    <p:extLst>
      <p:ext uri="{BB962C8B-B14F-4D97-AF65-F5344CB8AC3E}">
        <p14:creationId xmlns:p14="http://schemas.microsoft.com/office/powerpoint/2010/main" val="1891420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66EDE7-C397-D54C-A3A4-7B3EC41C8F13}"/>
              </a:ext>
            </a:extLst>
          </p:cNvPr>
          <p:cNvSpPr>
            <a:spLocks noGrp="1"/>
          </p:cNvSpPr>
          <p:nvPr>
            <p:ph idx="1"/>
          </p:nvPr>
        </p:nvSpPr>
        <p:spPr/>
        <p:txBody>
          <a:bodyPr/>
          <a:lstStyle/>
          <a:p>
            <a:r>
              <a:rPr lang="ro-RO" dirty="0"/>
              <a:t>https://learn.microsoft.com/en-us/aspnet/core/security/</a:t>
            </a:r>
            <a:endParaRPr lang="en-US" dirty="0"/>
          </a:p>
          <a:p>
            <a:endParaRPr lang="en-US" dirty="0"/>
          </a:p>
          <a:p>
            <a:endParaRPr lang="en-US" dirty="0"/>
          </a:p>
          <a:p>
            <a:endParaRPr lang="en-US" dirty="0"/>
          </a:p>
          <a:p>
            <a:r>
              <a:rPr lang="ro-RO" dirty="0"/>
              <a:t>https://owasp.org/www-project-top-ten/</a:t>
            </a:r>
          </a:p>
        </p:txBody>
      </p:sp>
      <p:sp>
        <p:nvSpPr>
          <p:cNvPr id="3" name="Title 2">
            <a:extLst>
              <a:ext uri="{FF2B5EF4-FFF2-40B4-BE49-F238E27FC236}">
                <a16:creationId xmlns:a16="http://schemas.microsoft.com/office/drawing/2014/main" id="{9D5520BD-A415-4576-F99F-711CECDA66A5}"/>
              </a:ext>
            </a:extLst>
          </p:cNvPr>
          <p:cNvSpPr>
            <a:spLocks noGrp="1"/>
          </p:cNvSpPr>
          <p:nvPr>
            <p:ph type="title"/>
          </p:nvPr>
        </p:nvSpPr>
        <p:spPr/>
        <p:txBody>
          <a:bodyPr/>
          <a:lstStyle/>
          <a:p>
            <a:r>
              <a:rPr lang="en-US" dirty="0"/>
              <a:t>Other recommendations</a:t>
            </a:r>
            <a:endParaRPr lang="ro-RO" dirty="0"/>
          </a:p>
        </p:txBody>
      </p:sp>
    </p:spTree>
    <p:extLst>
      <p:ext uri="{BB962C8B-B14F-4D97-AF65-F5344CB8AC3E}">
        <p14:creationId xmlns:p14="http://schemas.microsoft.com/office/powerpoint/2010/main" val="2834329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3366205155"/>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5D70FC5-F690-4B66-9977-B84B72A216C7}"/>
              </a:ext>
            </a:extLst>
          </p:cNvPr>
          <p:cNvSpPr>
            <a:spLocks noGrp="1"/>
          </p:cNvSpPr>
          <p:nvPr>
            <p:ph type="title"/>
          </p:nvPr>
        </p:nvSpPr>
        <p:spPr/>
        <p:txBody>
          <a:bodyPr/>
          <a:lstStyle/>
          <a:p>
            <a:r>
              <a:rPr lang="en-US" dirty="0"/>
              <a:t>Open redirect attacks</a:t>
            </a:r>
          </a:p>
        </p:txBody>
      </p:sp>
    </p:spTree>
    <p:extLst>
      <p:ext uri="{BB962C8B-B14F-4D97-AF65-F5344CB8AC3E}">
        <p14:creationId xmlns:p14="http://schemas.microsoft.com/office/powerpoint/2010/main" val="3168977456"/>
      </p:ext>
    </p:extLst>
  </p:cSld>
  <p:clrMapOvr>
    <a:masterClrMapping/>
  </p:clrMapOvr>
  <mc:AlternateContent xmlns:mc="http://schemas.openxmlformats.org/markup-compatibility/2006" xmlns:p14="http://schemas.microsoft.com/office/powerpoint/2010/main">
    <mc:Choice Requires="p14">
      <p:transition spd="med" p14:dur="700" advClick="0" advTm="1500">
        <p:fade/>
      </p:transition>
    </mc:Choice>
    <mc:Fallback xmlns="">
      <p:transition spd="med" advClick="0" advTm="1500">
        <p:fade/>
      </p:transition>
    </mc:Fallback>
  </mc:AlternateContent>
</p:sld>
</file>

<file path=ppt/theme/theme1.xml><?xml version="1.0" encoding="utf-8"?>
<a:theme xmlns:a="http://schemas.openxmlformats.org/drawingml/2006/main" name="Office Theme">
  <a:themeElements>
    <a:clrScheme name="Custom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Win8_Light.potx" id="{E5387C1A-5699-47F6-8577-B65503109946}" vid="{4F6B1FA0-6BD9-4D6D-9FDC-BCD363D75F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24564</TotalTime>
  <Words>2203</Words>
  <Application>Microsoft Office PowerPoint</Application>
  <PresentationFormat>Widescreen</PresentationFormat>
  <Paragraphs>235</Paragraphs>
  <Slides>34</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Calibri</vt:lpstr>
      <vt:lpstr>Consolas</vt:lpstr>
      <vt:lpstr>Courier New</vt:lpstr>
      <vt:lpstr>Segoe UI</vt:lpstr>
      <vt:lpstr>Segoe UI Light</vt:lpstr>
      <vt:lpstr>Segoe WP</vt:lpstr>
      <vt:lpstr>Wingdings</vt:lpstr>
      <vt:lpstr>Office Theme</vt:lpstr>
      <vt:lpstr>Web and Cloud Security</vt:lpstr>
      <vt:lpstr>ASP.NET MVC Core, C# Language</vt:lpstr>
      <vt:lpstr>About me</vt:lpstr>
      <vt:lpstr>Administrative issues</vt:lpstr>
      <vt:lpstr>Administrative issues</vt:lpstr>
      <vt:lpstr>Administrative issues</vt:lpstr>
      <vt:lpstr>Administrative issues</vt:lpstr>
      <vt:lpstr>Contents</vt:lpstr>
      <vt:lpstr>Security in ASP.NET Core</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Cross-Site Request Forgery (XSRF/CSRF) </vt:lpstr>
      <vt:lpstr>Cross-Origin Requests (CORS)</vt:lpstr>
      <vt:lpstr>Cross-Origin Requests (CORS)</vt:lpstr>
      <vt:lpstr>Cross-Origin Requests (CORS)</vt:lpstr>
      <vt:lpstr>Cross-Site Scripting (XSS)</vt:lpstr>
      <vt:lpstr>Cross-Site Scripting (XSS)</vt:lpstr>
      <vt:lpstr>Security – Other recommendations</vt:lpstr>
      <vt:lpstr>Secrets storage</vt:lpstr>
      <vt:lpstr>General recommendations</vt:lpstr>
      <vt:lpstr>Other recommendations</vt:lpstr>
      <vt:lpstr>Thank you!</vt:lpstr>
      <vt:lpstr>Open redirect attacks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dc:title>
  <dc:creator>Liviu-Adrian Cotfas</dc:creator>
  <cp:lastModifiedBy>Liviu-Adrian Cotfas</cp:lastModifiedBy>
  <cp:revision>1649</cp:revision>
  <cp:lastPrinted>2017-02-28T05:34:43Z</cp:lastPrinted>
  <dcterms:created xsi:type="dcterms:W3CDTF">2012-12-11T23:13:23Z</dcterms:created>
  <dcterms:modified xsi:type="dcterms:W3CDTF">2026-02-20T23:40:49Z</dcterms:modified>
</cp:coreProperties>
</file>